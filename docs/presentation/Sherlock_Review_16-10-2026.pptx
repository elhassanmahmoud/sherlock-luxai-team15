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88597de8b214953" /><Relationship Type="http://schemas.openxmlformats.org/officeDocument/2006/relationships/extended-properties" Target="/docProps/app.xml" Id="Rbfb54d9a7eb34117" /><Relationship Type="http://schemas.openxmlformats.org/officeDocument/2006/relationships/officeDocument" Target="/ppt/presentation.xml" Id="R8f10c3f039cc4215" /></Relationships>
</file>

<file path=ppt/presentation.xml><?xml version="1.0" encoding="utf-8"?>
<p:presentation xmlns:p="http://schemas.openxmlformats.org/presentationml/2006/main">
  <p:sldMasterIdLst>
    <p:sldMasterId xmlns:r="http://schemas.openxmlformats.org/officeDocument/2006/relationships" id="2147483648" r:id="Rd53c6d305e6d4d2c"/>
  </p:sldMasterIdLst>
  <p:notesMasterIdLst>
    <p:notesMasterId xmlns:r="http://schemas.openxmlformats.org/officeDocument/2006/relationships" r:id="R037e31a0b2814472"/>
  </p:notesMasterIdLst>
  <p:sldIdLst>
    <p:sldId xmlns:r="http://schemas.openxmlformats.org/officeDocument/2006/relationships" id="256" r:id="Rdfe272e66ea8428c"/>
    <p:sldId xmlns:r="http://schemas.openxmlformats.org/officeDocument/2006/relationships" id="257" r:id="R866c04c225d34bad"/>
    <p:sldId xmlns:r="http://schemas.openxmlformats.org/officeDocument/2006/relationships" id="258" r:id="Rbe5b31d8e6704758"/>
    <p:sldId xmlns:r="http://schemas.openxmlformats.org/officeDocument/2006/relationships" id="259" r:id="R3cbb029642a2410a"/>
    <p:sldId xmlns:r="http://schemas.openxmlformats.org/officeDocument/2006/relationships" id="260" r:id="R83d06ea26f714a1e"/>
    <p:sldId xmlns:r="http://schemas.openxmlformats.org/officeDocument/2006/relationships" id="261" r:id="R0a7ba96cb70543df"/>
    <p:sldId xmlns:r="http://schemas.openxmlformats.org/officeDocument/2006/relationships" id="262" r:id="Reece4f0d48964c47"/>
    <p:sldId xmlns:r="http://schemas.openxmlformats.org/officeDocument/2006/relationships" id="263" r:id="Rf2e3dfae2c4c46f6"/>
    <p:sldId xmlns:r="http://schemas.openxmlformats.org/officeDocument/2006/relationships" id="264" r:id="R60833eb504304b20"/>
    <p:sldId xmlns:r="http://schemas.openxmlformats.org/officeDocument/2006/relationships" id="265" r:id="Rded6d969fc204e7b"/>
    <p:sldId xmlns:r="http://schemas.openxmlformats.org/officeDocument/2006/relationships" id="266" r:id="R14fd2b0f78a1438d"/>
    <p:sldId xmlns:r="http://schemas.openxmlformats.org/officeDocument/2006/relationships" id="267" r:id="Rb6dbdcbeed01465d"/>
    <p:sldId xmlns:r="http://schemas.openxmlformats.org/officeDocument/2006/relationships" id="268" r:id="Rd16c706467ac45d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a2ef6a44104fbc" /><Relationship Type="http://schemas.openxmlformats.org/officeDocument/2006/relationships/slideMaster" Target="/ppt/slideMasters/slideMaster1.xml" Id="Rd53c6d305e6d4d2c" /><Relationship Type="http://schemas.openxmlformats.org/officeDocument/2006/relationships/notesMaster" Target="/ppt/notesMasters/notesMaster1.xml" Id="R037e31a0b2814472" /><Relationship Type="http://schemas.openxmlformats.org/officeDocument/2006/relationships/presProps" Target="/ppt/presProps.xml" Id="R3aa6213fb1944323" /><Relationship Type="http://schemas.openxmlformats.org/officeDocument/2006/relationships/tableStyles" Target="/ppt/tableStyles.xml" Id="Rbd898802a16f4a26" /><Relationship Type="http://schemas.openxmlformats.org/officeDocument/2006/relationships/slide" Target="/ppt/slides/slide1.xml" Id="Rdfe272e66ea8428c" /><Relationship Type="http://schemas.openxmlformats.org/officeDocument/2006/relationships/slide" Target="/ppt/slides/slide2.xml" Id="R866c04c225d34bad" /><Relationship Type="http://schemas.openxmlformats.org/officeDocument/2006/relationships/slide" Target="/ppt/slides/slide3.xml" Id="Rbe5b31d8e6704758" /><Relationship Type="http://schemas.openxmlformats.org/officeDocument/2006/relationships/slide" Target="/ppt/slides/slide4.xml" Id="R3cbb029642a2410a" /><Relationship Type="http://schemas.openxmlformats.org/officeDocument/2006/relationships/slide" Target="/ppt/slides/slide5.xml" Id="R83d06ea26f714a1e" /><Relationship Type="http://schemas.openxmlformats.org/officeDocument/2006/relationships/slide" Target="/ppt/slides/slide6.xml" Id="R0a7ba96cb70543df" /><Relationship Type="http://schemas.openxmlformats.org/officeDocument/2006/relationships/slide" Target="/ppt/slides/slide7.xml" Id="Reece4f0d48964c47" /><Relationship Type="http://schemas.openxmlformats.org/officeDocument/2006/relationships/slide" Target="/ppt/slides/slide8.xml" Id="Rf2e3dfae2c4c46f6" /><Relationship Type="http://schemas.openxmlformats.org/officeDocument/2006/relationships/slide" Target="/ppt/slides/slide9.xml" Id="R60833eb504304b20" /><Relationship Type="http://schemas.openxmlformats.org/officeDocument/2006/relationships/slide" Target="/ppt/slides/slide10.xml" Id="Rded6d969fc204e7b" /><Relationship Type="http://schemas.openxmlformats.org/officeDocument/2006/relationships/slide" Target="/ppt/slides/slide11.xml" Id="R14fd2b0f78a1438d" /><Relationship Type="http://schemas.openxmlformats.org/officeDocument/2006/relationships/slide" Target="/ppt/slides/slide12.xml" Id="Rb6dbdcbeed01465d" /><Relationship Type="http://schemas.openxmlformats.org/officeDocument/2006/relationships/slide" Target="/ppt/slides/slide13.xml" Id="Rd16c706467ac45d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e162c2cf1849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26c8887f97e4208" /><Relationship Type="http://schemas.openxmlformats.org/officeDocument/2006/relationships/notesMaster" Target="/ppt/notesMasters/notesMaster1.xml" Id="Re52bab0537a64e45" /></Relationships>
</file>

<file path=ppt/notesSlides/_rels/notesSlide2.xml.rels>&#65279;<?xml version="1.0" encoding="utf-8"?><Relationships xmlns="http://schemas.openxmlformats.org/package/2006/relationships"><Relationship Type="http://schemas.openxmlformats.org/officeDocument/2006/relationships/slide" Target="/ppt/slides/slide2.xml" Id="R7384cd001fa64694" /><Relationship Type="http://schemas.openxmlformats.org/officeDocument/2006/relationships/notesMaster" Target="/ppt/notesMasters/notesMaster1.xml" Id="R6360937fea6b435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0eeabb678bb41df" /><Relationship Type="http://schemas.openxmlformats.org/officeDocument/2006/relationships/notesMaster" Target="/ppt/notesMasters/notesMaster1.xml" Id="Rfdb4fde70c6a4e3c" /></Relationships>
</file>

<file path=ppt/notesSlides/_rels/notesSlide4.xml.rels>&#65279;<?xml version="1.0" encoding="utf-8"?><Relationships xmlns="http://schemas.openxmlformats.org/package/2006/relationships"><Relationship Type="http://schemas.openxmlformats.org/officeDocument/2006/relationships/slide" Target="/ppt/slides/slide4.xml" Id="R35c247f594c8437c" /><Relationship Type="http://schemas.openxmlformats.org/officeDocument/2006/relationships/notesMaster" Target="/ppt/notesMasters/notesMaster1.xml" Id="R539dec01121c49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73880a44e2184fa7" /><Relationship Type="http://schemas.openxmlformats.org/officeDocument/2006/relationships/notesMaster" Target="/ppt/notesMasters/notesMaster1.xml" Id="R66b3e5a55d744c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441864a35a412a" /><Relationship Type="http://schemas.openxmlformats.org/officeDocument/2006/relationships/notesMaster" Target="/ppt/notesMasters/notesMaster1.xml" Id="R2a4c8d4b774a4e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93ff94d99343d3" /><Relationship Type="http://schemas.openxmlformats.org/officeDocument/2006/relationships/notesMaster" Target="/ppt/notesMasters/notesMaster1.xml" Id="R096679c2211842c2"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ffb78eebe84c77" /><Relationship Type="http://schemas.openxmlformats.org/officeDocument/2006/relationships/notesMaster" Target="/ppt/notesMasters/notesMaster1.xml" Id="R119d3a4b345b4969"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0132aa2fdc4521" /><Relationship Type="http://schemas.openxmlformats.org/officeDocument/2006/relationships/notesMaster" Target="/ppt/notesMasters/notesMaster1.xml" Id="R667f019913b841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b96c3d9212e477a" /><Relationship Type="http://schemas.openxmlformats.org/officeDocument/2006/relationships/notesMaster" Target="/ppt/notesMasters/notesMaster1.xml" Id="Ra3e69de76b17497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5ee6fde01444dbf" /><Relationship Type="http://schemas.openxmlformats.org/officeDocument/2006/relationships/notesMaster" Target="/ppt/notesMasters/notesMaster1.xml" Id="R1cb44dbe89094fd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54ac1e4beb64167" /><Relationship Type="http://schemas.openxmlformats.org/officeDocument/2006/relationships/notesMaster" Target="/ppt/notesMasters/notesMaster1.xml" Id="Rfe98a0ddb59c475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4cbb78241b2403d" /><Relationship Type="http://schemas.openxmlformats.org/officeDocument/2006/relationships/notesMaster" Target="/ppt/notesMasters/notesMaster1.xml" Id="Rd85b07bd13eb4a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30 Sekunden</a:t>
            </a:r>
          </a:p>
          <a:p xmlns:a="http://schemas.openxmlformats.org/drawingml/2006/main">
            <a:r>
              <a:t/>
            </a:r>
          </a:p>
          <a:p xmlns:a="http://schemas.openxmlformats.org/drawingml/2006/main">
            <a:r>
              <a:t>Wir sind Mahmoud und Moayed, Team 15. Unser Agent heißt Sherlock. Er spielt Lux AI Season 3 und verbindet gelerntes Verhalten mit einem Gedächtnis für die Karte. Wir zeigen zuerst die Spielidee und den Ablauf, dann das Training und zum Schluss Ergebnisse und ein Beispiel. Unser Stand ist das Sechser-Ensemble old3_sym3.</a:t>
            </a:r>
          </a:p>
          <a:p xmlns:a="http://schemas.openxmlformats.org/drawingml/2006/main">
            <a:r>
              <a:t/>
            </a:r>
          </a:p>
          <a:p xmlns:a="http://schemas.openxmlformats.org/drawingml/2006/main">
            <a:r>
              <a:t>Quellen / Nachweise (Repository, Stand 14.10.2026):</a:t>
            </a:r>
          </a:p>
          <a:p xmlns:a="http://schemas.openxmlformats.org/drawingml/2006/main">
            <a:r>
              <a:t>README.md</a:t>
            </a:r>
          </a:p>
          <a:p xmlns:a="http://schemas.openxmlformats.org/drawingml/2006/main">
            <a:r>
              <a:t>CLAUDE.md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60 Sekunden</a:t>
            </a:r>
          </a:p>
          <a:p xmlns:a="http://schemas.openxmlformats.org/drawingml/2006/main">
            <a:r>
              <a:t/>
            </a:r>
          </a:p>
          <a:p xmlns:a="http://schemas.openxmlformats.org/drawingml/2006/main">
            <a:r>
              <a:t>Lux AI ist ein Strategiespiel auf einer Karte mit 24 mal 24 Feldern. Zwei Teams steuern jeweils bis zu 16 Einheiten. Im Kurs besteht ein Spiel aus drei Matches. Wer mehr Matches gewinnt, gewinnt das Spiel. Die Herausforderung ist, dass der Agent nicht die ganze Karte sieht und die Punktefelder zunächst unbekannt sind. Er muss erkunden, Energie sinnvoll einsetzen und geeignete Felder besetzen. Auf dem Bild ist Sherlock blau und der Gegner rot. Die gelben Markierungen gehören zu Relics und Punktefeldern. Wichtig: Das ist die vollständige Replay-Ansicht für uns Zuschauer. Der Agent bekommt diese vollständige Information nicht.</a:t>
            </a:r>
          </a:p>
          <a:p xmlns:a="http://schemas.openxmlformats.org/drawingml/2006/main">
            <a:r>
              <a:t/>
            </a:r>
          </a:p>
          <a:p xmlns:a="http://schemas.openxmlformats.org/drawingml/2006/main">
            <a:r>
              <a:t>Quellen / Nachweise (Repository, Stand 14.10.2026):</a:t>
            </a:r>
          </a:p>
          <a:p xmlns:a="http://schemas.openxmlformats.org/drawingml/2006/main">
            <a:r>
              <a:t>lux/specs.md</a:t>
            </a:r>
          </a:p>
          <a:p xmlns:a="http://schemas.openxmlformats.org/drawingml/2006/main">
            <a:r>
              <a:t>lux/Instructions.md</a:t>
            </a:r>
          </a:p>
          <a:p xmlns:a="http://schemas.openxmlformats.org/drawingml/2006/main">
            <a:r>
              <a:t>CLAUDE.md</a:t>
            </a:r>
          </a:p>
          <a:p xmlns:a="http://schemas.openxmlformats.org/drawingml/2006/main">
            <a:r>
              <a:t>docs/presentation/replays/sherlock_sieg_vs_default.json · Frame 61</a:t>
            </a:r>
          </a:p>
          <a:p xmlns:a="http://schemas.openxmlformats.org/drawingml/2006/main">
            <a:r>
              <a:t>Screenshot: https://s3vis.lux-ai.org/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55 Sekunden</a:t>
            </a:r>
          </a:p>
          <a:p xmlns:a="http://schemas.openxmlformats.org/drawingml/2006/main">
            <a:r>
              <a:t/>
            </a:r>
          </a:p>
          <a:p xmlns:a="http://schemas.openxmlformats.org/drawingml/2006/main">
            <a:r>
              <a:t>Die Grundidee lässt sich in drei Schritten erklären. Zuerst merkt Sherlock sich, was er schon gesehen hat. Dieses Gedächtnis nennen wir Belief. Danach erhält jede Einheit eine kompakte Beschreibung ihrer Situation. Sechs trainierte Netze bewerten die möglichen Aktionen. Schließlich wählen wir aus den erlaubten Aktionen die mit dem höchsten gemittelten Wert aus. Das Gedächtnis lernt nicht durch ein neuronales Netz: Es folgt programmierten Regeln und nutzt Beobachtungen. Die Bewertung der Aktionen wird dagegen im Training gelernt. Während der Auswertung wird nicht weitergelernt. Mahmoud erklärt jetzt, welche Informationen in die Netze eingehen und wie das Training funktioniert.</a:t>
            </a:r>
          </a:p>
          <a:p xmlns:a="http://schemas.openxmlformats.org/drawingml/2006/main">
            <a:r>
              <a:t/>
            </a:r>
          </a:p>
          <a:p xmlns:a="http://schemas.openxmlformats.org/drawingml/2006/main">
            <a:r>
              <a:t>Quellen / Nachweise (Repository, Stand 14.10.2026):</a:t>
            </a:r>
          </a:p>
          <a:p xmlns:a="http://schemas.openxmlformats.org/drawingml/2006/main">
            <a:r>
              <a:t>agents/sherlock/main.py</a:t>
            </a:r>
          </a:p>
          <a:p xmlns:a="http://schemas.openxmlformats.org/drawingml/2006/main">
            <a:r>
              <a:t>agents/sherlock/belief.py</a:t>
            </a:r>
          </a:p>
          <a:p xmlns:a="http://schemas.openxmlformats.org/drawingml/2006/main">
            <a:r>
              <a:t>agents/sherlock/model.py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Wir verwenden ein MLP mit 79 numerischen Merkmalen pro Einheit, keine vollständige Bildkarte. Die Merkmale beschreiben zum Beispiel Energie und Position, Umgebung, Ziele und Gegner. Das Belief speichert bekannte Relics, erkundete Bereiche und erschlossene Punktefelder. Vereinfachtes Beispiel: Eine einzige eigene Einheit steht auf einem noch unbekannten Kandidatenfeld und der Punktestand steigt um eins. Unter diesen Voraussetzungen lässt sich das Feld als Punktefeld erkennen. Bei mehreren Kandidaten braucht man weitere Beobachtungen. Außerdem verwenden wir die Kartensymmetrie. Davon zu unterscheiden sind kanonische Koordinaten: Beide Spielseiten werden aus vergleichbarer Perspektive beschrieben. Diese Regeln liefern Informationen an die gelernte Aktionsbewertung; sie ersetzen sie nicht.</a:t>
            </a:r>
          </a:p>
          <a:p xmlns:a="http://schemas.openxmlformats.org/drawingml/2006/main">
            <a:r>
              <a:t/>
            </a:r>
          </a:p>
          <a:p xmlns:a="http://schemas.openxmlformats.org/drawingml/2006/main">
            <a:r>
              <a:t>Quellen / Nachweise (Repository, Stand 14.10.2026):</a:t>
            </a:r>
          </a:p>
          <a:p xmlns:a="http://schemas.openxmlformats.org/drawingml/2006/main">
            <a:r>
              <a:t>agents/sherlock/features.py</a:t>
            </a:r>
          </a:p>
          <a:p xmlns:a="http://schemas.openxmlformats.org/drawingml/2006/main">
            <a:r>
              <a:t>agents/sherlock/belief.py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Jedes Mitglied des Ensembles ist ein Dueling-Netz. Es bekommt 79 Merkmale. Der gemeinsame Teil besteht aus zwei voll verbundenen Schichten mit jeweils 256 Neuronen und ReLU. Danach gibt es einen Kopf für den Zustandswert und einen Kopf für die Vorteile der sechs Aktionen; beide haben eine Zwischenschicht mit 128 Neuronen. Daraus entstehen sechs Q-Werte. Beim Spielen mitteln wir die Q-Werte der sechs trainierten Netze und wählen dann die beste erlaubte Aktion. Die sechs Aktionen sind Stehenbleiben, vier Bewegungsrichtungen und Sap. Das konkrete Sap-Ziel wird heuristisch gewählt. Double DQN bezeichnet unser Lernverfahren, Dueling die Netzarchitektur und Ensemble die Kombination mehrerer trainierter Netze.</a:t>
            </a:r>
          </a:p>
          <a:p xmlns:a="http://schemas.openxmlformats.org/drawingml/2006/main">
            <a:r>
              <a:t/>
            </a:r>
          </a:p>
          <a:p xmlns:a="http://schemas.openxmlformats.org/drawingml/2006/main">
            <a:r>
              <a:t>Quellen / Nachweise (Repository, Stand 14.10.2026):</a:t>
            </a:r>
          </a:p>
          <a:p xmlns:a="http://schemas.openxmlformats.org/drawingml/2006/main">
            <a:r>
              <a:t>agents/sherlock/model.py</a:t>
            </a:r>
          </a:p>
          <a:p xmlns:a="http://schemas.openxmlformats.org/drawingml/2006/main">
            <a:r>
              <a:t>agents/sherlock/main.py</a:t>
            </a:r>
          </a:p>
          <a:p xmlns:a="http://schemas.openxmlformats.org/drawingml/2006/main">
            <a:r>
              <a:t>agents/sherlock/weights/agent_p0.pth · gespeicherte cfg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75 Sekunden</a:t>
            </a:r>
          </a:p>
          <a:p xmlns:a="http://schemas.openxmlformats.org/drawingml/2006/main">
            <a:r>
              <a:t/>
            </a:r>
          </a:p>
          <a:p xmlns:a="http://schemas.openxmlformats.org/drawingml/2006/main">
            <a:r>
              <a:t>Im Training sammeln wir Erfahrungen pro Einheit: Situation, Aktion, Belohnung und Folgesituation. Zufällige Mini-Batches aus dem Replay Buffer verringern die direkte Abhängigkeit aufeinanderfolgender Erfahrungen. Double DQN trennt die Wahl der nächsten Aktion von ihrer Bewertung: Das aktuelle Online-Netz wählt die beste erlaubte Folgeaktion, das verzögert aktualisierte Target-Netz bewertet genau diese Aktion. Aus Belohnung und diskontiertem Folgewert entsteht das Lernziel. Am Ende eines Übergangs entfällt der Folgewert. Das Online-Netz wird an dieses Ziel angepasst; das Target-Netz wird alle 500 Lernupdates kopiert. Im Training probiert der Agent mit abnehmender Wahrscheinlichkeit Aktionen aus. Zusätzlich zu Punkten und Matchsiegen gibt es Shaping-Signale, etwa für Annäherung, Erkundung und Energie. Deren Gestaltung ist eine Modellierungsentscheidung mit eigenen Grenzen.</a:t>
            </a:r>
          </a:p>
          <a:p xmlns:a="http://schemas.openxmlformats.org/drawingml/2006/main">
            <a:r>
              <a:t/>
            </a:r>
          </a:p>
          <a:p xmlns:a="http://schemas.openxmlformats.org/drawingml/2006/main">
            <a:r>
              <a:t>Quellen / Nachweise (Repository, Stand 14.10.2026):</a:t>
            </a:r>
          </a:p>
          <a:p xmlns:a="http://schemas.openxmlformats.org/drawingml/2006/main">
            <a:r>
              <a:t>agents/sherlock/main.py · _learn und epsilon</a:t>
            </a:r>
          </a:p>
          <a:p xmlns:a="http://schemas.openxmlformats.org/drawingml/2006/main">
            <a:r>
              <a:t>agents/sherlock/replay_buffer.py</a:t>
            </a:r>
          </a:p>
          <a:p xmlns:a="http://schemas.openxmlformats.org/drawingml/2006/main">
            <a:r>
              <a:t>agents/sherlock/reward.py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Die sechs Basisläufe des aktuellen Ensembles hatten jeweils ein Budget von 3.000 Spielen. Das sind zusammen 18.000 Trainingsspiele über diese Läufe. Die ausgewählten Checkpoints können früher im Lauf liegen. Andere Varianten und Validierungsspiele sind hier nicht mitgezählt. In den ersten 25 Prozent wird gegen default trainiert, anschließend abwechselnd gegen default und Solution_92. Die Spielseite wechselt. Wir prüfen regelmäßig auf getrennten Validierungskarten und wählen dort Checkpoints aus. Wichtige Einstellungen sind Gamma 0,99, Lernrate 0,0003, Batchgröße 256 und ein Buffer mit 300.000 Übergängen. Epsilon fällt in 60.000 Umgebungsschritten von 1 auf 0,05. Für die Ergebnisfolie gilt dagegen Epsilon null: Die Gewichte sind fest, es wird nicht gelernt.</a:t>
            </a:r>
          </a:p>
          <a:p xmlns:a="http://schemas.openxmlformats.org/drawingml/2006/main">
            <a:r>
              <a:t/>
            </a:r>
          </a:p>
          <a:p xmlns:a="http://schemas.openxmlformats.org/drawingml/2006/main">
            <a:r>
              <a:t>Quellen / Nachweise (Repository, Stand 14.10.2026):</a:t>
            </a:r>
          </a:p>
          <a:p xmlns:a="http://schemas.openxmlformats.org/drawingml/2006/main">
            <a:r>
              <a:t>experiments/runs/20261010_full_s{0,1,2}/manifest.json</a:t>
            </a:r>
          </a:p>
          <a:p xmlns:a="http://schemas.openxmlformats.org/drawingml/2006/main">
            <a:r>
              <a:t>experiments/runs/20261011_full_sym_s{0,1,2}/manifest.json</a:t>
            </a:r>
          </a:p>
          <a:p xmlns:a="http://schemas.openxmlformats.org/drawingml/2006/main">
            <a:r>
              <a:t>scripts/protocol.py</a:t>
            </a:r>
          </a:p>
          <a:p xmlns:a="http://schemas.openxmlformats.org/drawingml/2006/main">
            <a:r>
              <a:t>agents/sherlock/weights/agent_p0.pth · cfg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65 Sekunden</a:t>
            </a:r>
          </a:p>
          <a:p xmlns:a="http://schemas.openxmlformats.org/drawingml/2006/main">
            <a:r>
              <a:t/>
            </a:r>
          </a:p>
          <a:p xmlns:a="http://schemas.openxmlformats.org/drawingml/2006/main">
            <a:r>
              <a:t>Hier sehen wir die Ergebnisse des aktuellen Agenten. Gegen default gewinnt Sherlock 60 von 60 Spielen. Gegen den stärkeren regelbasierten Gegner Solution_92 sind es 28 von 60, also ungefähr 47 Prozent. Pro Gegner wurden 30 Karten auf beiden Spielseiten gespielt. Damit sind es 60 Spiele, aber nicht 60 unabhängige Karten. Diese Zahlen wurden mit den unveränderten Gewichten erneut bestätigt. Wir sollten daraus nicht ableiten, dass Sherlock immer gegen default gewinnt: Das Ergebnis gilt für diese Stichprobe. Außerdem wurden die Karten im Projekt bereits mehrfach ausgewertet. Für eine unabhängige Schlussbewertung brauchen wir später neue, zurückgehaltene Karten. Insgesamt funktioniert unser Ansatz, aber gegen den stärkeren Gegner gibt es noch deutliches Verbesserungspotenzial.</a:t>
            </a:r>
          </a:p>
          <a:p xmlns:a="http://schemas.openxmlformats.org/drawingml/2006/main">
            <a:r>
              <a:t/>
            </a:r>
          </a:p>
          <a:p xmlns:a="http://schemas.openxmlformats.org/drawingml/2006/main">
            <a:r>
              <a:t>Quellen / Nachweise (Repository, Stand 14.10.2026):</a:t>
            </a:r>
          </a:p>
          <a:p xmlns:a="http://schemas.openxmlformats.org/drawingml/2006/main">
            <a:r>
              <a:t>experiments/compare/TEST_old3_sym3_points_v2.csv</a:t>
            </a:r>
          </a:p>
          <a:p xmlns:a="http://schemas.openxmlformats.org/drawingml/2006/main">
            <a:r>
              <a:t>experiments/compare/TEST_old3_sym3_points_v2.json</a:t>
            </a:r>
          </a:p>
          <a:p xmlns:a="http://schemas.openxmlformats.org/drawingml/2006/main">
            <a:r>
              <a:t>docs/STATISTIK_20261014.md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80 Sekunden</a:t>
            </a:r>
          </a:p>
          <a:p xmlns:a="http://schemas.openxmlformats.org/drawingml/2006/main">
            <a:r>
              <a:t/>
            </a:r>
          </a:p>
          <a:p xmlns:a="http://schemas.openxmlformats.org/drawingml/2006/main">
            <a:r>
              <a:t>Das sind zwei echte Bilder aus demselben Spiel gegen default. Sherlock ist blau, der Gegner rot. Links, bei Schritt 23, sind unsere Einheiten noch über die Karte verteilt und beide Teams haben null Punkte. Rechts, bei Schritt 90 im ersten Match, stehen viele blaue Einheiten im Bereich der gelb markierten Punktefelder. Der Zwischenstand ist 374 zu 11. Man sieht: Bewegung allein ist nicht das Ziel. Sobald geeignete Punktefelder bekannt sind, kann Stehenbleiben sinnvoll sein, weil ein besetztes Feld wiederholt Punkte bringt. Das Gedächtnis hilft dabei, einmal gewonnene Informationen weiterzuverwenden. Die Bilder zeigen die vollständige Zuschaueransicht, nicht den Wissensstand des Agenten. Dieses Spiel veranschaulicht einen gelungenen Ablauf; es beweist nicht, dass Sherlock in jedem Spiel so handelt. Die Niederlagen gegen Solution_92 gehören ebenfalls zu unserer Auswertung.</a:t>
            </a:r>
          </a:p>
          <a:p xmlns:a="http://schemas.openxmlformats.org/drawingml/2006/main">
            <a:r>
              <a:t/>
            </a:r>
          </a:p>
          <a:p xmlns:a="http://schemas.openxmlformats.org/drawingml/2006/main">
            <a:r>
              <a:t>Quellen / Nachweise (Repository, Stand 14.10.2026):</a:t>
            </a:r>
          </a:p>
          <a:p xmlns:a="http://schemas.openxmlformats.org/drawingml/2006/main">
            <a:r>
              <a:t>docs/presentation/replays/sherlock_sieg_vs_default.json · Frames 23 und 90</a:t>
            </a:r>
          </a:p>
          <a:p xmlns:a="http://schemas.openxmlformats.org/drawingml/2006/main">
            <a:r>
              <a:t>Screenshot: https://s3vis.lux-ai.org/ · Seed 900011, Sherlock player_0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55 Sekunden</a:t>
            </a:r>
          </a:p>
          <a:p xmlns:a="http://schemas.openxmlformats.org/drawingml/2006/main">
            <a:r>
              <a:t/>
            </a:r>
          </a:p>
          <a:p xmlns:a="http://schemas.openxmlformats.org/drawingml/2006/main">
            <a:r>
              <a:t>Unser Agent kombiniert gelernte Entscheidungen mit explizitem Wissen über das Spiel. Die bisherigen Versuche sprechen dafür, Gedächtnis und mehrere Netzbewertungen zu kombinieren. Weitertraining und Self-Play haben in den getesteten Varianten keinen klaren zusätzlichen Gewinn gebracht; das ist keine allgemeine Aussage gegen diese Verfahren. Eine Arbeitshypothese ist, dass bessere frühe Erkundung und frühere Inferenz im ersten Match helfen. Der Kandidat m1_early ist untersucht, aber noch nicht in der Abgabe aktiviert. Vor weiterem Training prüfen wir außerdem Reward und Einheitenübergänge. Für die nächste belastbare Bewertung wollen wir neue Testkarten zurückhalten. Der Präsentationsstand und seine Gewichte bleiben dabei fest.</a:t>
            </a:r>
          </a:p>
          <a:p xmlns:a="http://schemas.openxmlformats.org/drawingml/2006/main">
            <a:r>
              <a:t/>
            </a:r>
          </a:p>
          <a:p xmlns:a="http://schemas.openxmlformats.org/drawingml/2006/main">
            <a:r>
              <a:t>Quellen / Nachweise (Repository, Stand 14.10.2026):</a:t>
            </a:r>
          </a:p>
          <a:p xmlns:a="http://schemas.openxmlformats.org/drawingml/2006/main">
            <a:r>
              <a:t>docs/EXPERIMENT_PROTOKOLL.md</a:t>
            </a:r>
          </a:p>
          <a:p xmlns:a="http://schemas.openxmlformats.org/drawingml/2006/main">
            <a:r>
              <a:t>docs/ARBEITSSTAND.md</a:t>
            </a:r>
          </a:p>
          <a:p xmlns:a="http://schemas.openxmlformats.org/drawingml/2006/main">
            <a:r>
              <a:t>docs/STATISTIK_20261014.md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Moayed · 25 Sekunden</a:t>
            </a:r>
          </a:p>
          <a:p>
            <a:r>
              <a:t/>
            </a:r>
          </a:p>
          <a:p>
            <a:r>
              <a:t>Sherlock verbindet ein Gedächtnis für die Karte mit sechs trainierten Netzen. Auf unserem Benchmark gewinnen wir alle 60 Spiele gegen default und 28 von 60 gegen Solution_92. Gegen den stärkeren Gegner bleibt also Verbesserungspotenzial. Als Nächstes wollen wir die frühe Erkundung verbessern und auf neuen Karten prüfen. Vielen Dank – welche Fragen habt ihr?</a:t>
            </a:r>
          </a:p>
          <a:p>
            <a:r>
              <a:t/>
            </a:r>
          </a:p>
          <a:p>
            <a:r>
              <a:t>Quellen / Nachweise (Repository, Stand 14.10.2026):</a:t>
            </a:r>
          </a:p>
          <a:p>
            <a:r>
              <a:t>README.md</a:t>
            </a:r>
          </a:p>
          <a:p>
            <a:r>
              <a:t>docs/EXPERIMENT_PROTOKOLL.md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nur bei Rückfragen</a:t>
            </a:r>
          </a:p>
          <a:p xmlns:a="http://schemas.openxmlformats.org/drawingml/2006/main">
            <a:r>
              <a:t/>
            </a:r>
          </a:p>
          <a:p xmlns:a="http://schemas.openxmlformats.org/drawingml/2006/main">
            <a:r>
              <a:t>Reservefolie, nicht Teil des geplanten Vortrags. Diese Werte sind in der Konfiguration des aktuellen Ensemble-Checkpoints und in den sechs Laufmanifesten hinterlegt. 5.000 beim Lernbeginn bezeichnet Einheitenübergänge im Buffer, keine Spiele und keine Umgebungsschritte. Ein Update alle zwei Umgebungsschritte, sobald genügend Übergänge vorliegen. Target-Kopie nach 500 Lernupdates. Die sechs Läufe werden jeweils 3.000 Spiele trainiert; die aus der Validierung ausgewählten Gewichte können von einem früheren Checkpoint stammen.</a:t>
            </a:r>
          </a:p>
          <a:p xmlns:a="http://schemas.openxmlformats.org/drawingml/2006/main">
            <a:r>
              <a:t/>
            </a:r>
          </a:p>
          <a:p xmlns:a="http://schemas.openxmlformats.org/drawingml/2006/main">
            <a:r>
              <a:t>Quellen / Nachweise (Repository, Stand 14.10.2026):</a:t>
            </a:r>
          </a:p>
          <a:p xmlns:a="http://schemas.openxmlformats.org/drawingml/2006/main">
            <a:r>
              <a:t>agents/sherlock/weights/agent_p0.pth · cfg</a:t>
            </a:r>
          </a:p>
          <a:p xmlns:a="http://schemas.openxmlformats.org/drawingml/2006/main">
            <a:r>
              <a:t>agents/sherlock/main.py</a:t>
            </a:r>
          </a:p>
          <a:p xmlns:a="http://schemas.openxmlformats.org/drawingml/2006/main">
            <a:r>
              <a:t>experiments/runs/*full*/manifest.json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nur bei Rückfragen</a:t>
            </a:r>
          </a:p>
          <a:p xmlns:a="http://schemas.openxmlformats.org/drawingml/2006/main">
            <a:r>
              <a:t/>
            </a:r>
          </a:p>
          <a:p xmlns:a="http://schemas.openxmlformats.org/drawingml/2006/main">
            <a:r>
              <a:t>Reservefolie. Q bezeichnet eine geschätzte zukünftige Belohnung für eine Aktion. Dueling: Q(s,a)=V(s)+A(s,a)−Mittelwert_a A(s,a). Double DQN trennt Auswahl und Bewertung beim Lernziel. Belief ist eine regelbasierte Zustandsrekonstruktion, kein Zugriff auf versteckte Engine-Daten. Die Punktezählung außerhalb des Agenten nutzt für die Auswertung zusätzliche Endzustandsinformationen; diese dürfen nicht als Agentenwissen dargestellt werden. Die Mess- und Statistikkorrekturen verbessern die Bewertung, nicht die Spielstärke.</a:t>
            </a:r>
          </a:p>
          <a:p xmlns:a="http://schemas.openxmlformats.org/drawingml/2006/main">
            <a:r>
              <a:t/>
            </a:r>
          </a:p>
          <a:p xmlns:a="http://schemas.openxmlformats.org/drawingml/2006/main">
            <a:r>
              <a:t>Quellen / Nachweise (Repository, Stand 14.10.2026):</a:t>
            </a:r>
          </a:p>
          <a:p xmlns:a="http://schemas.openxmlformats.org/drawingml/2006/main">
            <a:r>
              <a:t>agents/sherlock/model.py</a:t>
            </a:r>
          </a:p>
          <a:p xmlns:a="http://schemas.openxmlformats.org/drawingml/2006/main">
            <a:r>
              <a:t>agents/sherlock/belief.py</a:t>
            </a:r>
          </a:p>
          <a:p xmlns:a="http://schemas.openxmlformats.org/drawingml/2006/main">
            <a:r>
              <a:t>agents/sherlock/main.py</a:t>
            </a:r>
          </a:p>
          <a:p xmlns:a="http://schemas.openxmlformats.org/drawingml/2006/main">
            <a:r>
              <a:t>scripts/scoring.py</a:t>
            </a:r>
          </a:p>
          <a:p xmlns:a="http://schemas.openxmlformats.org/drawingml/2006/main">
            <a:r>
              <a:t>docs/ARBEITSSTAND.md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8695de834ea4c6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9f9390f9e65420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3c8b74a0ff2449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d723d75ae74fb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57724438b9e4e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feacb49b9de4cc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448DD10-AA67-4A32-9866-9CC6FB01D51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6E2D3A5-7EF1-4DB0-B420-9AD299DDA96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AE5DC03-CAEE-48AB-B043-30A655D2080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CF7064-840E-46BB-9479-9F86D4DF52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B2123A1-11C0-4253-8B3E-4BCE1273E9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BC3F73A-4FA6-4321-AE78-68D98269A09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B3749C-CF16-426F-86B9-87803603666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64BDEF0-225F-4DF4-A5AE-E02BF7DD2EE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563297-5404-4949-A58D-4995C36B350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6DC87D-E215-429E-AB8F-47B9420361D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7efccaf4384ba1" /><Relationship Type="http://schemas.openxmlformats.org/officeDocument/2006/relationships/slideLayout" Target="/ppt/slideLayouts/slideLayout1.xml" Id="Rcaad67143e894af8" /><Relationship Type="http://schemas.openxmlformats.org/officeDocument/2006/relationships/slideLayout" Target="/ppt/slideLayouts/slideLayout2.xml" Id="R6255941941d24076" /><Relationship Type="http://schemas.openxmlformats.org/officeDocument/2006/relationships/slideLayout" Target="/ppt/slideLayouts/slideLayout3.xml" Id="R40a0de0888ff45b0" /><Relationship Type="http://schemas.openxmlformats.org/officeDocument/2006/relationships/slideLayout" Target="/ppt/slideLayouts/slideLayout4.xml" Id="R4df33b8f505d46eb" /><Relationship Type="http://schemas.openxmlformats.org/officeDocument/2006/relationships/slideLayout" Target="/ppt/slideLayouts/slideLayout5.xml" Id="R8d15538b7c224fea" /><Relationship Type="http://schemas.openxmlformats.org/officeDocument/2006/relationships/slideLayout" Target="/ppt/slideLayouts/slideLayout6.xml" Id="R63b25995d550422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ad67143e894af8"/>
    <p:sldLayoutId xmlns:r="http://schemas.openxmlformats.org/officeDocument/2006/relationships" id="2147483650" r:id="R6255941941d24076"/>
    <p:sldLayoutId xmlns:r="http://schemas.openxmlformats.org/officeDocument/2006/relationships" id="2147483651" r:id="R40a0de0888ff45b0"/>
    <p:sldLayoutId xmlns:r="http://schemas.openxmlformats.org/officeDocument/2006/relationships" id="2147483652" r:id="R4df33b8f505d46eb"/>
    <p:sldLayoutId xmlns:r="http://schemas.openxmlformats.org/officeDocument/2006/relationships" id="2147483653" r:id="R8d15538b7c224fea"/>
    <p:sldLayoutId xmlns:r="http://schemas.openxmlformats.org/officeDocument/2006/relationships" id="2147483654" r:id="R63b25995d550422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8f7a30a52554a54" /><Relationship Type="http://schemas.openxmlformats.org/officeDocument/2006/relationships/notesSlide" Target="/ppt/notesSlides/notesSlide1.xml" Id="Rb89ed8dfb95540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ba449adcbc54912" /><Relationship Type="http://schemas.openxmlformats.org/officeDocument/2006/relationships/image" Target="/ppt/media/image.jpeg" Id="R05965ca62d664334" /><Relationship Type="http://schemas.openxmlformats.org/officeDocument/2006/relationships/notesSlide" Target="/ppt/notesSlides/notesSlide2.xml" Id="R7b8137189ca54ab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9427d34a42b4980" /><Relationship Type="http://schemas.openxmlformats.org/officeDocument/2006/relationships/notesSlide" Target="/ppt/notesSlides/notesSlide3.xml" Id="R679f0b19d8f14a6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5abf5c94d9c49ea" /><Relationship Type="http://schemas.openxmlformats.org/officeDocument/2006/relationships/notesSlide" Target="/ppt/notesSlides/notesSlide4.xml" Id="R3d6c86f53e2d40e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12109faced8492c" /><Relationship Type="http://schemas.openxmlformats.org/officeDocument/2006/relationships/notesSlide" Target="/ppt/notesSlides/notesSlide5.xml" Id="Rdf20c7be024444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992919a23b948ba" /><Relationship Type="http://schemas.openxmlformats.org/officeDocument/2006/relationships/notesSlide" Target="/ppt/notesSlides/notesSlide6.xml" Id="R662d6f0ac04049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85854c462784ba0" /><Relationship Type="http://schemas.openxmlformats.org/officeDocument/2006/relationships/notesSlide" Target="/ppt/notesSlides/notesSlide7.xml" Id="R7f789faf62fd4e0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e8bbdc213e44b5a" /><Relationship Type="http://schemas.openxmlformats.org/officeDocument/2006/relationships/chart" Target="/ppt/slides/charts/chart1.xml" Id="Rc37e7090310d4e88" /><Relationship Type="http://schemas.openxmlformats.org/officeDocument/2006/relationships/notesSlide" Target="/ppt/notesSlides/notesSlide8.xml" Id="R4e1493f15cc14b5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f203f0f4e8d4521" /><Relationship Type="http://schemas.openxmlformats.org/officeDocument/2006/relationships/image" Target="/ppt/media/image2.jpeg" Id="Re2337e6fc3c2434d" /><Relationship Type="http://schemas.openxmlformats.org/officeDocument/2006/relationships/image" Target="/ppt/media/image3.jpeg" Id="R4c0eb88b0e674139" /><Relationship Type="http://schemas.openxmlformats.org/officeDocument/2006/relationships/notesSlide" Target="/ppt/notesSlides/notesSlide9.xml" Id="Rdda7bab43f614b7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6f3b5b0382043c7" /><Relationship Type="http://schemas.openxmlformats.org/officeDocument/2006/relationships/notesSlide" Target="/ppt/notesSlides/notesSlide10.xml" Id="R9fc80f2778664fb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a0a6c13e2114d47" /><Relationship Type="http://schemas.openxmlformats.org/officeDocument/2006/relationships/notesSlide" Target="/ppt/notesSlides/notesSlide11.xml" Id="Ra7d880b3c4b14fa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fbbe7d3a6a84d92" /><Relationship Type="http://schemas.openxmlformats.org/officeDocument/2006/relationships/notesSlide" Target="/ppt/notesSlides/notesSlide12.xml" Id="R6784dc4c57b24bf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6ae5d1a8deb45ca" /><Relationship Type="http://schemas.openxmlformats.org/officeDocument/2006/relationships/notesSlide" Target="/ppt/notesSlides/notesSlide13.xml" Id="Rf218b24133b84f1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Siegquote</c:v>
          </c:tx>
          <c:spPr>
            <a:solidFill xmlns:a="http://schemas.openxmlformats.org/drawingml/2006/main">
              <a:srgbClr val="007D7B"/>
            </a:solidFill>
          </c:spPr>
          <c:invertIfNegative val="0"/>
          <c:cat>
            <c:strRef>
              <c:f>'Chart Data'!$A$2:$A$3</c:f>
              <c:strCache>
                <c:ptCount val="2"/>
                <c:pt idx="0">
                  <c:v>default</c:v>
                </c:pt>
                <c:pt idx="1">
                  <c:v>Solution_92</c:v>
                </c:pt>
              </c:strCache>
            </c:strRef>
          </c:cat>
          <c:val>
            <c:numRef>
              <c:f>'Chart Data'!$B$2:$B$3</c:f>
              <c:numCache>
                <c:formatCode>0%</c:formatCode>
                <c:ptCount val="2"/>
                <c:pt idx="0">
                  <c:v>1</c:v>
                </c:pt>
                <c:pt idx="1">
                  <c:v>0.467</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00" b="1">
                  <a:solidFill>
                    <a:srgbClr val="102D35"/>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15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02D35"/>
                </a:solidFill>
                <a:latin typeface="Helvetica Neue"/>
                <a:ea typeface="Helvetica Neue"/>
                <a:cs typeface="Helvetica Neue"/>
              </a:defRPr>
            </a:pPr>
          </a:p>
        </c:txPr>
        <c:crossAx val="48672768"/>
      </c:catAx>
      <c:valAx>
        <c:axId val="48672768"/>
        <c:scaling>
          <c:orientation val="minMax"/>
          <c:max val="1.15"/>
          <c:min val="0"/>
        </c:scaling>
        <c:delete val="0"/>
        <c:axPos val="l"/>
        <c:majorGridlines>
          <c:spPr>
            <a:ln xmlns:a="http://schemas.openxmlformats.org/drawingml/2006/main" w="9525">
              <a:solidFill>
                <a:srgbClr val="CFDBD7"/>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26B70"/>
                </a:solidFill>
                <a:latin typeface="Helvetica Neue"/>
                <a:ea typeface="Helvetica Neue"/>
                <a:cs typeface="Helvetica Neue"/>
              </a:defRPr>
            </a:pPr>
          </a:p>
        </c:txPr>
        <c:crossAx val="48650112"/>
        <c:crossBetween val="between"/>
        <c:majorUnit val="0.25"/>
      </c:valAx>
      <c:spPr>
        <a:solidFill xmlns:a="http://schemas.openxmlformats.org/drawingml/2006/main">
          <a:srgbClr val="F7F7F0"/>
        </a:solidFill>
      </c:spPr>
    </c:plotArea>
    <c:plotVisOnly val="1"/>
  </c:chart>
  <c:spPr>
    <a:solidFill xmlns:a="http://schemas.openxmlformats.org/drawingml/2006/main">
      <a:srgbClr val="F7F7F0"/>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D35"/>
        </a:solidFill>
      </p:bgPr>
    </p:bg>
    <p:spTree>
      <p:nvGrpSpPr>
        <p:cNvPr id="1" name=""/>
        <p:cNvGrpSpPr/>
        <p:nvPr/>
      </p:nvGrpSpPr>
      <p:grpSpPr>
        <a:xfrm xmlns:a="http://schemas.openxmlformats.org/drawingml/2006/main"/>
      </p:grpSpPr>
      <p:sp>
        <p:nvSpPr>
          <p:cNvPr id="8" name="SHERLOCK / REVIEW 01">
            <a:extLst xmlns:a="http://schemas.openxmlformats.org/drawingml/2006/main">
              <a:ext uri="{FF2B5EF4-FFF2-40B4-BE49-F238E27FC236}">
                <a16:creationId xmlns:a16="http://schemas.microsoft.com/office/drawing/2014/main" id="{C063771D-A37F-4BDF-BB81-15739067C00B}"/>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A4C9C4"/>
                </a:solidFill>
                <a:latin typeface="Helvetica Neue"/>
                <a:ea typeface="Helvetica Neue"/>
                <a:cs typeface="Helvetica Neue"/>
              </a:defRPr>
            </a:defPPr>
          </a:lstStyle>
          <a:p xmlns:a="http://schemas.openxmlformats.org/drawingml/2006/main">
            <a:pPr>
              <a:defRPr sz="1350" b="1">
                <a:solidFill>
                  <a:srgbClr val="A4C9C4"/>
                </a:solidFill>
                <a:latin typeface="Helvetica Neue"/>
                <a:ea typeface="Helvetica Neue"/>
                <a:cs typeface="Helvetica Neue"/>
              </a:defRPr>
            </a:pPr>
            <a:r>
              <a:rPr sz="1350" b="1">
                <a:solidFill>
                  <a:srgbClr val="A4C9C4"/>
                </a:solidFill>
                <a:latin typeface="Helvetica Neue"/>
                <a:ea typeface="Helvetica Neue"/>
                <a:cs typeface="Helvetica Neue"/>
              </a:rPr>
              <a:t>SHERLOCK / REVIEW 01</a:t>
            </a:r>
          </a:p>
        </p:txBody>
      </p:sp>
      <p:sp>
        <p:nvSpPr>
          <p:cNvPr id="2" name="Team 15 · Mahmoud El-Hassan &amp; Moayed Shawesh">
            <a:extLst xmlns:a="http://schemas.openxmlformats.org/drawingml/2006/main">
              <a:ext uri="{FF2B5EF4-FFF2-40B4-BE49-F238E27FC236}">
                <a16:creationId xmlns:a16="http://schemas.microsoft.com/office/drawing/2014/main" id="{371612F8-DE08-48AA-BDD8-895AB4C9B03F}"/>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Team 15 · Mahmoud El-Hassan &amp; Moayed Shawesh</a:t>
            </a:r>
          </a:p>
        </p:txBody>
      </p:sp>
      <p:sp>
        <p:nvSpPr>
          <p:cNvPr id="3" name="01">
            <a:extLst xmlns:a="http://schemas.openxmlformats.org/drawingml/2006/main">
              <a:ext uri="{FF2B5EF4-FFF2-40B4-BE49-F238E27FC236}">
                <a16:creationId xmlns:a16="http://schemas.microsoft.com/office/drawing/2014/main" id="{28A5B735-40EF-4D11-951E-12446A0AB5EE}"/>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01</a:t>
            </a:r>
          </a:p>
        </p:txBody>
      </p:sp>
      <p:sp>
        <p:nvSpPr>
          <p:cNvPr id="4" name="Sherlock">
            <a:extLst xmlns:a="http://schemas.openxmlformats.org/drawingml/2006/main">
              <a:ext uri="{FF2B5EF4-FFF2-40B4-BE49-F238E27FC236}">
                <a16:creationId xmlns:a16="http://schemas.microsoft.com/office/drawing/2014/main" id="{8C5CFDB2-F9A2-4E46-92C9-BB0E1B10DE47}"/>
              </a:ext>
            </a:extLst>
          </p:cNvPr>
          <p:cNvSpPr>
            <a:spLocks xmlns:a="http://schemas.openxmlformats.org/drawingml/2006/main" noGrp="1"/>
          </p:cNvSpPr>
          <p:nvPr/>
        </p:nvSpPr>
        <p:spPr>
          <a:xfrm xmlns:a="http://schemas.openxmlformats.org/drawingml/2006/main">
            <a:off x="609600" y="18097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900" b="1">
                <a:solidFill>
                  <a:srgbClr val="FFFFFF"/>
                </a:solidFill>
                <a:latin typeface="Helvetica Neue"/>
                <a:ea typeface="Helvetica Neue"/>
                <a:cs typeface="Helvetica Neue"/>
              </a:defRPr>
            </a:defPPr>
          </a:lstStyle>
          <a:p xmlns:a="http://schemas.openxmlformats.org/drawingml/2006/main">
            <a:pPr>
              <a:defRPr sz="6900" b="1">
                <a:solidFill>
                  <a:srgbClr val="FFFFFF"/>
                </a:solidFill>
                <a:latin typeface="Helvetica Neue"/>
                <a:ea typeface="Helvetica Neue"/>
                <a:cs typeface="Helvetica Neue"/>
              </a:defRPr>
            </a:pPr>
            <a:r>
              <a:rPr sz="6900" b="1">
                <a:solidFill>
                  <a:srgbClr val="FFFFFF"/>
                </a:solidFill>
                <a:latin typeface="Helvetica Neue"/>
                <a:ea typeface="Helvetica Neue"/>
                <a:cs typeface="Helvetica Neue"/>
              </a:rPr>
              <a:t>Sherlock</a:t>
            </a:r>
          </a:p>
        </p:txBody>
      </p:sp>
      <p:sp>
        <p:nvSpPr>
          <p:cNvPr id="5" name="Lernen mit Gedächtnis">
            <a:extLst xmlns:a="http://schemas.openxmlformats.org/drawingml/2006/main">
              <a:ext uri="{FF2B5EF4-FFF2-40B4-BE49-F238E27FC236}">
                <a16:creationId xmlns:a16="http://schemas.microsoft.com/office/drawing/2014/main" id="{85CE8C2C-8C62-4A6E-800A-DBE6044E58BC}"/>
              </a:ext>
            </a:extLst>
          </p:cNvPr>
          <p:cNvSpPr>
            <a:spLocks xmlns:a="http://schemas.openxmlformats.org/drawingml/2006/main" noGrp="1"/>
          </p:cNvSpPr>
          <p:nvPr/>
        </p:nvSpPr>
        <p:spPr>
          <a:xfrm xmlns:a="http://schemas.openxmlformats.org/drawingml/2006/main">
            <a:off x="647700" y="30003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B7D8D0"/>
                </a:solidFill>
                <a:latin typeface="Helvetica Neue"/>
                <a:ea typeface="Helvetica Neue"/>
                <a:cs typeface="Helvetica Neue"/>
              </a:defRPr>
            </a:defPPr>
          </a:lstStyle>
          <a:p xmlns:a="http://schemas.openxmlformats.org/drawingml/2006/main">
            <a:pPr>
              <a:defRPr sz="3300" b="0">
                <a:solidFill>
                  <a:srgbClr val="B7D8D0"/>
                </a:solidFill>
                <a:latin typeface="Helvetica Neue"/>
                <a:ea typeface="Helvetica Neue"/>
                <a:cs typeface="Helvetica Neue"/>
              </a:defRPr>
            </a:pPr>
            <a:r>
              <a:rPr sz="3300" b="0">
                <a:solidFill>
                  <a:srgbClr val="B7D8D0"/>
                </a:solidFill>
                <a:latin typeface="Helvetica Neue"/>
                <a:ea typeface="Helvetica Neue"/>
                <a:cs typeface="Helvetica Neue"/>
              </a:rPr>
              <a:t>Lernen mit Gedächtnis</a:t>
            </a:r>
          </a:p>
        </p:txBody>
      </p:sp>
      <p:sp>
        <p:nvSpPr>
          <p:cNvPr id="6" name="Ein Double-DQN-Agent für Lux AI Season 3">
            <a:extLst xmlns:a="http://schemas.openxmlformats.org/drawingml/2006/main">
              <a:ext uri="{FF2B5EF4-FFF2-40B4-BE49-F238E27FC236}">
                <a16:creationId xmlns:a16="http://schemas.microsoft.com/office/drawing/2014/main" id="{231A6E25-2363-4FD8-A90A-9174F119CA3F}"/>
              </a:ext>
            </a:extLst>
          </p:cNvPr>
          <p:cNvSpPr>
            <a:spLocks xmlns:a="http://schemas.openxmlformats.org/drawingml/2006/main" noGrp="1"/>
          </p:cNvSpPr>
          <p:nvPr/>
        </p:nvSpPr>
        <p:spPr>
          <a:xfrm xmlns:a="http://schemas.openxmlformats.org/drawingml/2006/main">
            <a:off x="647700" y="40481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FFFFF"/>
                </a:solidFill>
                <a:latin typeface="Helvetica Neue"/>
                <a:ea typeface="Helvetica Neue"/>
                <a:cs typeface="Helvetica Neue"/>
              </a:defRPr>
            </a:defPPr>
          </a:lstStyle>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Ein Double-DQN-Agent für Lux AI Season 3</a:t>
            </a:r>
          </a:p>
        </p:txBody>
      </p:sp>
      <p:sp>
        <p:nvSpPr>
          <p:cNvPr id="7" name="Mahmoud El-Hassan · Moayed Shawesh&#10;HTW Berlin">
            <a:extLst xmlns:a="http://schemas.openxmlformats.org/drawingml/2006/main">
              <a:ext uri="{FF2B5EF4-FFF2-40B4-BE49-F238E27FC236}">
                <a16:creationId xmlns:a16="http://schemas.microsoft.com/office/drawing/2014/main" id="{095FCB90-F9A4-4A3C-8334-FDD46BBFE246}"/>
              </a:ext>
            </a:extLst>
          </p:cNvPr>
          <p:cNvSpPr>
            <a:spLocks xmlns:a="http://schemas.openxmlformats.org/drawingml/2006/main" noGrp="1"/>
          </p:cNvSpPr>
          <p:nvPr/>
        </p:nvSpPr>
        <p:spPr>
          <a:xfrm xmlns:a="http://schemas.openxmlformats.org/drawingml/2006/main">
            <a:off x="647700" y="5191125"/>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B7D8D0"/>
                </a:solidFill>
                <a:latin typeface="Helvetica Neue"/>
                <a:ea typeface="Helvetica Neue"/>
                <a:cs typeface="Helvetica Neue"/>
              </a:defRPr>
            </a:defPPr>
          </a:lstStyle>
          <a:p xmlns:a="http://schemas.openxmlformats.org/drawingml/2006/main">
            <a:pPr>
              <a:defRPr sz="1875" b="0">
                <a:solidFill>
                  <a:srgbClr val="B7D8D0"/>
                </a:solidFill>
                <a:latin typeface="Helvetica Neue"/>
                <a:ea typeface="Helvetica Neue"/>
                <a:cs typeface="Helvetica Neue"/>
              </a:defRPr>
            </a:pPr>
            <a:r>
              <a:rPr sz="1875" b="0">
                <a:solidFill>
                  <a:srgbClr val="B7D8D0"/>
                </a:solidFill>
                <a:latin typeface="Helvetica Neue"/>
                <a:ea typeface="Helvetica Neue"/>
                <a:cs typeface="Helvetica Neue"/>
              </a:rPr>
              <a:t>Mahmoud El-Hassan · Moayed Shawesh</a:t>
            </a:r>
          </a:p>
          <a:p xmlns:a="http://schemas.openxmlformats.org/drawingml/2006/main">
            <a:pPr>
              <a:defRPr sz="1875" b="0">
                <a:solidFill>
                  <a:srgbClr val="B7D8D0"/>
                </a:solidFill>
                <a:latin typeface="Helvetica Neue"/>
                <a:ea typeface="Helvetica Neue"/>
                <a:cs typeface="Helvetica Neue"/>
              </a:defRPr>
            </a:pPr>
            <a:r>
              <a:rPr sz="1875" b="0">
                <a:solidFill>
                  <a:srgbClr val="B7D8D0"/>
                </a:solidFill>
                <a:latin typeface="Helvetica Neue"/>
                <a:ea typeface="Helvetica Neue"/>
                <a:cs typeface="Helvetica Neue"/>
              </a:rPr>
              <a:t>HTW Berlin · Anwendungen der KI · 16.10.2026</a:t>
            </a:r>
          </a:p>
        </p:txBody>
      </p:sp>
    </p:spTree>
    <p:extLst>
      <p:ext uri="{BB962C8B-B14F-4D97-AF65-F5344CB8AC3E}">
        <p14:creationId xmlns:p14="http://schemas.microsoft.com/office/powerpoint/2010/main" val="1687376503"/>
      </p:ext>
    </p:extLst>
  </p:cSld>
</p:sld>
</file>

<file path=ppt/slides/slide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9" name="SHERLOCK / REVIEW 01">
            <a:extLst>
              <a:ext uri="{FF2B5EF4-FFF2-40B4-BE49-F238E27FC236}">
                <ns2:creationId id="{8A821AD7-827B-4464-A2B0-4A5953C9B460}"/>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Punkte finden, Felder halten, Matches gewinne">
            <a:extLst>
              <a:ext uri="{FF2B5EF4-FFF2-40B4-BE49-F238E27FC236}">
                <ns2:creationId id="{03D0DC90-6ADE-4ACA-8683-2F7B48C0FB8C}"/>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Spielidee und Ziel</a:t>
            </a:r>
          </a:p>
        </p:txBody>
      </p:sp>
      <p:sp>
        <p:nvSpPr>
          <p:cNvPr id="3" name="Team 15 · Mahmoud El-Hassan &amp; Moayed Shawesh">
            <a:extLst>
              <a:ext uri="{FF2B5EF4-FFF2-40B4-BE49-F238E27FC236}">
                <ns2:creationId id="{ADB466FC-58DE-4DE7-A6C1-340A4063D7D0}"/>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2">
            <a:extLst>
              <a:ext uri="{FF2B5EF4-FFF2-40B4-BE49-F238E27FC236}">
                <ns2:creationId id="{DC094024-AC17-483A-ACC5-4D03D652C3C6}"/>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02</a:t>
            </a:r>
          </a:p>
        </p:txBody>
      </p:sp>
      <p:sp>
        <p:nvSpPr>
          <p:cNvPr id="5" name="24 × 24 Felder&#10;Bis zu 16 Einheiten pro Team">
            <a:extLst>
              <a:ext uri="{FF2B5EF4-FFF2-40B4-BE49-F238E27FC236}">
                <ns2:creationId id="{7BFD6114-6810-4C2B-A8DD-E65FEBD8431A}"/>
              </a:ext>
            </a:extLst>
          </p:cNvPr>
          <p:cNvSpPr>
            <a:spLocks noGrp="1"/>
          </p:cNvSpPr>
          <p:nvPr/>
        </p:nvSpPr>
        <p:spPr>
          <a:xfrm>
            <a:off x="609600" y="2076450"/>
            <a:ext cx="5810250" cy="97155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330200" indent="-254000" algn="l">
              <a:spcAft>
                <a:spcPts val="80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24 × 24 Felder</a:t>
            </a:r>
          </a:p>
          <a:p>
            <a:pPr marL="330200" indent="-254000" algn="l">
              <a:spcAft>
                <a:spcPts val="80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Bis zu 16 Einheiten pro Team</a:t>
            </a:r>
          </a:p>
        </p:txBody>
      </p:sp>
      <p:sp>
        <p:nvSpPr>
          <p:cNvPr id="6" name="Erkunden: Informationen fehlen.&#10;Planen: Energ">
            <a:extLst>
              <a:ext uri="{FF2B5EF4-FFF2-40B4-BE49-F238E27FC236}">
                <ns2:creationId id="{8759D40C-53CB-4992-8AD5-7DF6D0167C58}"/>
              </a:ext>
            </a:extLst>
          </p:cNvPr>
          <p:cNvSpPr>
            <a:spLocks noGrp="1"/>
          </p:cNvSpPr>
          <p:nvPr/>
        </p:nvSpPr>
        <p:spPr>
          <a:xfrm>
            <a:off x="609600" y="3438525"/>
            <a:ext cx="5810250" cy="1524000"/>
          </a:xfrm>
          <a:prstGeom prst="rect">
            <a:avLst/>
          </a:prstGeom>
          <a:noFill/>
          <a:ln w="0">
            <a:noFill/>
          </a:ln>
        </p:spPr>
        <p:txBody>
          <a:bodyPr>
            <a:noAutofit/>
          </a:bodyPr>
          <a:lstStyle>
            <a:defPPr algn="l">
              <a:defRPr sz="2175" b="0">
                <a:solidFill>
                  <a:srgbClr val="526B70"/>
                </a:solidFill>
                <a:latin typeface="Helvetica Neue"/>
                <a:ea typeface="Helvetica Neue"/>
                <a:cs typeface="Helvetica Neue"/>
              </a:defRPr>
            </a:defPPr>
          </a:lstStyle>
          <a:p>
            <a:pPr marL="330200" indent="-254000" algn="l">
              <a:spcAft>
                <a:spcPts val="800"/>
              </a:spcAft>
              <a:buFont typeface="Helvetica Neue"/>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Erkunden: Informationen fehlen</a:t>
            </a:r>
          </a:p>
          <a:p>
            <a:pPr marL="330200" indent="-254000" algn="l">
              <a:spcAft>
                <a:spcPts val="800"/>
              </a:spcAft>
              <a:buFont typeface="Helvetica Neue"/>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Planen: Energie ist begrenzt</a:t>
            </a:r>
          </a:p>
          <a:p>
            <a:pPr marL="330200" indent="-254000" algn="l">
              <a:spcAft>
                <a:spcPts val="800"/>
              </a:spcAft>
              <a:buFont typeface="Helvetica Neue"/>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Punkten: geeignete Felder besetzen</a:t>
            </a:r>
          </a:p>
        </p:txBody>
      </p:sp>
      <p:sp>
        <p:nvSpPr>
          <p:cNvPr id="7" name="Kurs: 3 Matches je Spiel">
            <a:extLst>
              <a:ext uri="{FF2B5EF4-FFF2-40B4-BE49-F238E27FC236}">
                <ns2:creationId id="{A806DAF2-CC4A-4B2D-A449-2ABA2F23DD88}"/>
              </a:ext>
            </a:extLst>
          </p:cNvPr>
          <p:cNvSpPr>
            <a:spLocks noGrp="1"/>
          </p:cNvSpPr>
          <p:nvPr/>
        </p:nvSpPr>
        <p:spPr>
          <a:xfrm>
            <a:off x="609600" y="5276850"/>
            <a:ext cx="5810250" cy="457200"/>
          </a:xfrm>
          <a:prstGeom prst="rect">
            <a:avLst/>
          </a:prstGeom>
          <a:noFill/>
          <a:ln w="0">
            <a:noFill/>
          </a:ln>
        </p:spPr>
        <p:txBody>
          <a:bodyPr>
            <a:noAutofit/>
          </a:bodyPr>
          <a:lstStyle>
            <a:defPPr algn="l">
              <a:defRPr sz="2175" b="1">
                <a:solidFill>
                  <a:srgbClr val="007D7B"/>
                </a:solidFill>
                <a:latin typeface="Helvetica Neue"/>
                <a:ea typeface="Helvetica Neue"/>
                <a:cs typeface="Helvetica Neue"/>
              </a:defRPr>
            </a:defPPr>
          </a:lstStyle>
          <a:p>
            <a:pPr marL="330200" indent="-254000" algn="l">
              <a:spcAft>
                <a:spcPts val="0"/>
              </a:spcAft>
              <a:buFont typeface="Helvetica Neue"/>
              <a:buChar cha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Kurs: 3 Matches je Spiel</a:t>
            </a:r>
          </a:p>
        </p:txBody>
      </p:sp>
      <p:pic>
        <p:nvPicPr>
          <p:cNvPr id="8" name="">
            <a:extLst>
              <a:ext uri="{FF2B5EF4-FFF2-40B4-BE49-F238E27FC236}">
                <ns2:creationId id="{B54AF145-BFA5-4066-9854-2BCB2A830553}"/>
              </a:ext>
            </a:extLst>
          </p:cNvPr>
          <p:cNvPicPr>
            <a:picLocks noChangeAspect="1"/>
          </p:cNvPicPr>
          <p:nvPr/>
        </p:nvPicPr>
        <p:blipFill>
          <a:blip r:embed="R05965ca62d664334"/>
          <a:stretch/>
        </p:blipFill>
        <p:spPr>
          <a:xfrm>
            <a:off x="7086600" y="1847850"/>
            <a:ext cx="4191000" cy="4191000"/>
          </a:xfrm>
          <a:prstGeom prst="rect">
            <a:avLst/>
          </a:prstGeom>
        </p:spPr>
      </p:pic>
    </p:spTree>
    <p:extLst>
      <p:ext uri="{BB962C8B-B14F-4D97-AF65-F5344CB8AC3E}">
        <ns4:creationId val="1129645486"/>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14" name="SHERLOCK / REVIEW 01">
            <a:extLst>
              <a:ext uri="{FF2B5EF4-FFF2-40B4-BE49-F238E27FC236}">
                <ns2:creationId id="{7338FA58-0222-4FB1-B19B-6C5C3D747C21}"/>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herlock verbindet Gedächtnis und Lernen">
            <a:extLst>
              <a:ext uri="{FF2B5EF4-FFF2-40B4-BE49-F238E27FC236}">
                <ns2:creationId id="{B8EE9733-97A3-4D50-BFFA-377A4F9585F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Unser Agent</a:t>
            </a:r>
          </a:p>
        </p:txBody>
      </p:sp>
      <p:sp>
        <p:nvSpPr>
          <p:cNvPr id="3" name="Team 15 · Mahmoud El-Hassan &amp; Moayed Shawesh">
            <a:extLst>
              <a:ext uri="{FF2B5EF4-FFF2-40B4-BE49-F238E27FC236}">
                <ns2:creationId id="{DB01F9D5-F2AB-421A-8A6C-8DA739EDABFF}"/>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3">
            <a:extLst>
              <a:ext uri="{FF2B5EF4-FFF2-40B4-BE49-F238E27FC236}">
                <ns2:creationId id="{9D05B7E7-02E6-4E14-8C60-297CE22B98E9}"/>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03</a:t>
            </a:r>
          </a:p>
        </p:txBody>
      </p:sp>
      <p:sp>
        <p:nvSpPr>
          <p:cNvPr id="5" name="01">
            <a:extLst>
              <a:ext uri="{FF2B5EF4-FFF2-40B4-BE49-F238E27FC236}">
                <ns2:creationId id="{ED7862FB-44B4-470F-B98E-E69C219DB3FA}"/>
              </a:ext>
            </a:extLst>
          </p:cNvPr>
          <p:cNvSpPr>
            <a:spLocks noGrp="1"/>
          </p:cNvSpPr>
          <p:nvPr/>
        </p:nvSpPr>
        <p:spPr>
          <a:xfrm>
            <a:off x="609600" y="200025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01</a:t>
            </a:r>
          </a:p>
        </p:txBody>
      </p:sp>
      <p:sp>
        <p:nvSpPr>
          <p:cNvPr id="6" name="Merken">
            <a:extLst>
              <a:ext uri="{FF2B5EF4-FFF2-40B4-BE49-F238E27FC236}">
                <ns2:creationId id="{2F64C5E2-D580-4106-A6D9-1A59256FFC05}"/>
              </a:ext>
            </a:extLst>
          </p:cNvPr>
          <p:cNvSpPr>
            <a:spLocks noGrp="1"/>
          </p:cNvSpPr>
          <p:nvPr/>
        </p:nvSpPr>
        <p:spPr>
          <a:xfrm>
            <a:off x="1524000" y="200025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Merken</a:t>
            </a:r>
          </a:p>
        </p:txBody>
      </p:sp>
      <p:sp>
        <p:nvSpPr>
          <p:cNvPr id="7" name="Beobachtungen sammeln und Punktefelder erschl">
            <a:extLst>
              <a:ext uri="{FF2B5EF4-FFF2-40B4-BE49-F238E27FC236}">
                <ns2:creationId id="{E1CA507A-5374-4805-820C-574C75A805AC}"/>
              </a:ext>
            </a:extLst>
          </p:cNvPr>
          <p:cNvSpPr>
            <a:spLocks noGrp="1"/>
          </p:cNvSpPr>
          <p:nvPr/>
        </p:nvSpPr>
        <p:spPr>
          <a:xfrm>
            <a:off x="1524000" y="246697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Beobachtungen sammeln und Punktefelder erschließen.</a:t>
            </a:r>
          </a:p>
        </p:txBody>
      </p:sp>
      <p:sp>
        <p:nvSpPr>
          <p:cNvPr id="8" name="02">
            <a:extLst>
              <a:ext uri="{FF2B5EF4-FFF2-40B4-BE49-F238E27FC236}">
                <ns2:creationId id="{40D0CE8F-6C2B-46ED-AF8F-D2EC8A148249}"/>
              </a:ext>
            </a:extLst>
          </p:cNvPr>
          <p:cNvSpPr>
            <a:spLocks noGrp="1"/>
          </p:cNvSpPr>
          <p:nvPr/>
        </p:nvSpPr>
        <p:spPr>
          <a:xfrm>
            <a:off x="609600" y="333375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02</a:t>
            </a:r>
          </a:p>
        </p:txBody>
      </p:sp>
      <p:sp>
        <p:nvSpPr>
          <p:cNvPr id="9" name="Bewerten">
            <a:extLst>
              <a:ext uri="{FF2B5EF4-FFF2-40B4-BE49-F238E27FC236}">
                <ns2:creationId id="{D065DFD0-DA3A-47B0-8E64-1F6A94A14B98}"/>
              </a:ext>
            </a:extLst>
          </p:cNvPr>
          <p:cNvSpPr>
            <a:spLocks noGrp="1"/>
          </p:cNvSpPr>
          <p:nvPr/>
        </p:nvSpPr>
        <p:spPr>
          <a:xfrm>
            <a:off x="1524000" y="333375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Bewerten</a:t>
            </a:r>
          </a:p>
        </p:txBody>
      </p:sp>
      <p:sp>
        <p:nvSpPr>
          <p:cNvPr id="10" name="Sechs trainierte Netze schätzen den Nutzen de">
            <a:extLst>
              <a:ext uri="{FF2B5EF4-FFF2-40B4-BE49-F238E27FC236}">
                <ns2:creationId id="{788A43DC-A97D-47B4-82E7-1C018E5B7B83}"/>
              </a:ext>
            </a:extLst>
          </p:cNvPr>
          <p:cNvSpPr>
            <a:spLocks noGrp="1"/>
          </p:cNvSpPr>
          <p:nvPr/>
        </p:nvSpPr>
        <p:spPr>
          <a:xfrm>
            <a:off x="1524000" y="380047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Sechs trainierte Netze schätzen den Nutzen der Aktionen.</a:t>
            </a:r>
          </a:p>
        </p:txBody>
      </p:sp>
      <p:sp>
        <p:nvSpPr>
          <p:cNvPr id="11" name="03">
            <a:extLst>
              <a:ext uri="{FF2B5EF4-FFF2-40B4-BE49-F238E27FC236}">
                <ns2:creationId id="{8710FC37-FDCB-44DD-A652-80F6D6866F8B}"/>
              </a:ext>
            </a:extLst>
          </p:cNvPr>
          <p:cNvSpPr>
            <a:spLocks noGrp="1"/>
          </p:cNvSpPr>
          <p:nvPr/>
        </p:nvSpPr>
        <p:spPr>
          <a:xfrm>
            <a:off x="609600" y="466725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03</a:t>
            </a:r>
          </a:p>
        </p:txBody>
      </p:sp>
      <p:sp>
        <p:nvSpPr>
          <p:cNvPr id="12" name="Handeln">
            <a:extLst>
              <a:ext uri="{FF2B5EF4-FFF2-40B4-BE49-F238E27FC236}">
                <ns2:creationId id="{9735AB79-6EE4-4E1A-BCA5-2D98EB711E5E}"/>
              </a:ext>
            </a:extLst>
          </p:cNvPr>
          <p:cNvSpPr>
            <a:spLocks noGrp="1"/>
          </p:cNvSpPr>
          <p:nvPr/>
        </p:nvSpPr>
        <p:spPr>
          <a:xfrm>
            <a:off x="1524000" y="466725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Handeln</a:t>
            </a:r>
          </a:p>
        </p:txBody>
      </p:sp>
      <p:sp>
        <p:nvSpPr>
          <p:cNvPr id="13" name="Q-Werte mitteln; die beste erlaubte Aktion au">
            <a:extLst>
              <a:ext uri="{FF2B5EF4-FFF2-40B4-BE49-F238E27FC236}">
                <ns2:creationId id="{F22B44A2-A65A-4B4D-BC32-93BBE55B3289}"/>
              </a:ext>
            </a:extLst>
          </p:cNvPr>
          <p:cNvSpPr>
            <a:spLocks noGrp="1"/>
          </p:cNvSpPr>
          <p:nvPr/>
        </p:nvSpPr>
        <p:spPr>
          <a:xfrm>
            <a:off x="1524000" y="513397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Q-Werte mitteln; die beste erlaubte Aktion auswählen.</a:t>
            </a:r>
          </a:p>
        </p:txBody>
      </p:sp>
    </p:spTree>
    <p:extLst>
      <p:ext uri="{BB962C8B-B14F-4D97-AF65-F5344CB8AC3E}">
        <ns3:creationId val="1915235498"/>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7" name="SHERLOCK / REVIEW 01">
            <a:extLst>
              <a:ext uri="{FF2B5EF4-FFF2-40B4-BE49-F238E27FC236}">
                <ns2:creationId id="{8E5AC5FE-F045-4507-B73A-1BDDDD053F17}"/>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79 Merkmale machen die Situation greifbar">
            <a:extLst>
              <a:ext uri="{FF2B5EF4-FFF2-40B4-BE49-F238E27FC236}">
                <ns2:creationId id="{1819B007-30CB-4B63-AB73-B65AD1F9EEDA}"/>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Merkmale und Gedächtnis</a:t>
            </a:r>
          </a:p>
        </p:txBody>
      </p:sp>
      <p:sp>
        <p:nvSpPr>
          <p:cNvPr id="3" name="Team 15 · Mahmoud El-Hassan &amp; Moayed Shawesh">
            <a:extLst>
              <a:ext uri="{FF2B5EF4-FFF2-40B4-BE49-F238E27FC236}">
                <ns2:creationId id="{8F742ABC-40ED-4485-B98B-FC878F16D2B4}"/>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4">
            <a:extLst>
              <a:ext uri="{FF2B5EF4-FFF2-40B4-BE49-F238E27FC236}">
                <ns2:creationId id="{93EB07D1-FB9B-4036-871A-868E95D9A8DE}"/>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04</a:t>
            </a:r>
          </a:p>
        </p:txBody>
      </p:sp>
      <p:graphicFrame>
        <p:nvGraphicFramePr>
          <p:cNvPr id="5" name="">
            <a:extLst>
              <a:ext uri="{FF2B5EF4-FFF2-40B4-BE49-F238E27FC236}">
                <ns2:creationId id="{599CFDB5-6633-4A71-9E92-826BE0FD5F46}"/>
              </a:ext>
            </a:extLst>
          </p:cNvPr>
          <p:cNvGraphicFramePr/>
          <p:nvPr/>
        </p:nvGraphicFramePr>
        <p:xfrm>
          <a:off x="609600" y="1924050"/>
          <a:ext cx="10972800" cy="3124200"/>
        </p:xfrm>
        <a:graphic>
          <a:graphicData uri="http://schemas.openxmlformats.org/drawingml/2006/table">
            <a:tbl>
              <a:tblPr/>
              <a:tblGrid>
                <a:gridCol w="3429000"/>
                <a:gridCol w="7543800"/>
              </a:tblGrid>
              <a:tr h="624840">
                <a:tc>
                  <a:txBody>
                    <a:bodyPr/>
                    <a:lstStyle/>
                    <a:p>
                      <a:r>
                        <a:rPr sz="2025" b="1">
                          <a:solidFill>
                            <a:srgbClr val="FFFFFF"/>
                          </a:solidFill>
                          <a:latin typeface="Helvetica Neue"/>
                          <a:ea typeface="Helvetica Neue"/>
                          <a:cs typeface="Helvetica Neue"/>
                        </a:rPr>
                        <a:t>Merkmalsgruppe</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Beispiele</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24840">
                <a:tc>
                  <a:txBody>
                    <a:bodyPr/>
                    <a:lstStyle/>
                    <a:p>
                      <a:r>
                        <a:rPr sz="2025" b="0">
                          <a:solidFill>
                            <a:srgbClr val="102D35"/>
                          </a:solidFill>
                          <a:latin typeface="Helvetica Neue"/>
                          <a:ea typeface="Helvetica Neue"/>
                          <a:cs typeface="Helvetica Neue"/>
                        </a:rPr>
                        <a:t>Eigene Einheit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Position, Energie, mögliche Bewegung</a:t>
                      </a:r>
                    </a:p>
                  </a:txBody>
                  <a:tcPr marL="91440" marR="91440" marT="45720" marB="45720">
                    <a:lnR w="9525">
                      <a:solidFill>
                        <a:srgbClr val="CFDBD7"/>
                      </a:solidFill>
                      <a:prstDash val="solid"/>
                    </a:lnR>
                    <a:lnB w="9525">
                      <a:solidFill>
                        <a:srgbClr val="CFDBD7"/>
                      </a:solidFill>
                      <a:prstDash val="solid"/>
                    </a:lnB>
                    <a:solidFill>
                      <a:srgbClr val="FFFFFF"/>
                    </a:solidFill>
                  </a:tcPr>
                </a:tc>
              </a:tr>
              <a:tr h="624840">
                <a:tc>
                  <a:txBody>
                    <a:bodyPr/>
                    <a:lstStyle/>
                    <a:p>
                      <a:r>
                        <a:rPr sz="2025" b="0">
                          <a:solidFill>
                            <a:srgbClr val="102D35"/>
                          </a:solidFill>
                          <a:latin typeface="Helvetica Neue"/>
                          <a:ea typeface="Helvetica Neue"/>
                          <a:cs typeface="Helvetica Neue"/>
                        </a:rPr>
                        <a:t>Umgebung und Gedächtnis</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Gelände, Relics, bekannte Punktefelder</a:t>
                      </a:r>
                    </a:p>
                  </a:txBody>
                  <a:tcPr marL="91440" marR="91440" marT="45720" marB="45720">
                    <a:lnR w="9525">
                      <a:solidFill>
                        <a:srgbClr val="CFDBD7"/>
                      </a:solidFill>
                      <a:prstDash val="solid"/>
                    </a:lnR>
                    <a:lnB w="9525">
                      <a:solidFill>
                        <a:srgbClr val="CFDBD7"/>
                      </a:solidFill>
                      <a:prstDash val="solid"/>
                    </a:lnB>
                    <a:solidFill>
                      <a:srgbClr val="EDF2ED"/>
                    </a:solidFill>
                  </a:tcPr>
                </a:tc>
              </a:tr>
              <a:tr h="624840">
                <a:tc>
                  <a:txBody>
                    <a:bodyPr/>
                    <a:lstStyle/>
                    <a:p>
                      <a:r>
                        <a:rPr sz="2025" b="0">
                          <a:solidFill>
                            <a:srgbClr val="102D35"/>
                          </a:solidFill>
                          <a:latin typeface="Helvetica Neue"/>
                          <a:ea typeface="Helvetica Neue"/>
                          <a:cs typeface="Helvetica Neue"/>
                        </a:rPr>
                        <a:t>Ziele und Gegner</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Zielrichtung, Belegung, Sap-Möglichkeiten</a:t>
                      </a:r>
                    </a:p>
                  </a:txBody>
                  <a:tcPr marL="91440" marR="91440" marT="45720" marB="45720">
                    <a:lnR w="9525">
                      <a:solidFill>
                        <a:srgbClr val="CFDBD7"/>
                      </a:solidFill>
                      <a:prstDash val="solid"/>
                    </a:lnR>
                    <a:lnB w="9525">
                      <a:solidFill>
                        <a:srgbClr val="CFDBD7"/>
                      </a:solidFill>
                      <a:prstDash val="solid"/>
                    </a:lnB>
                    <a:solidFill>
                      <a:srgbClr val="FFFFFF"/>
                    </a:solidFill>
                  </a:tcPr>
                </a:tc>
              </a:tr>
              <a:tr h="624840">
                <a:tc>
                  <a:txBody>
                    <a:bodyPr/>
                    <a:lstStyle/>
                    <a:p>
                      <a:r>
                        <a:rPr sz="2025" b="0">
                          <a:solidFill>
                            <a:srgbClr val="102D35"/>
                          </a:solidFill>
                          <a:latin typeface="Helvetica Neue"/>
                          <a:ea typeface="Helvetica Neue"/>
                          <a:cs typeface="Helvetica Neue"/>
                        </a:rPr>
                        <a:t>Spielkontext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Matchfortschritt und Teamzustand</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6" name="Belief: aus Beobachtungen Wissen über die Kar">
            <a:extLst>
              <a:ext uri="{FF2B5EF4-FFF2-40B4-BE49-F238E27FC236}">
                <ns2:creationId id="{7BB15468-0F41-4F95-B835-1637FFF8AD61}"/>
              </a:ext>
            </a:extLst>
          </p:cNvPr>
          <p:cNvSpPr>
            <a:spLocks noGrp="1"/>
          </p:cNvSpPr>
          <p:nvPr/>
        </p:nvSpPr>
        <p:spPr>
          <a:xfrm>
            <a:off x="609600" y="5334000"/>
            <a:ext cx="10972800" cy="762000"/>
          </a:xfrm>
          <a:prstGeom prst="rect">
            <a:avLst/>
          </a:prstGeom>
          <a:noFill/>
          <a:ln w="0">
            <a:noFill/>
          </a:ln>
        </p:spPr>
        <p:txBody>
          <a:bodyPr/>
          <a:lstStyle>
            <a:defPPr>
              <a:defRPr sz="2250" b="1">
                <a:solidFill>
                  <a:srgbClr val="007D7B"/>
                </a:solidFill>
                <a:latin typeface="Helvetica Neue"/>
                <a:ea typeface="Helvetica Neue"/>
                <a:cs typeface="Helvetica Neue"/>
              </a:defRPr>
            </a:defPPr>
          </a:lstStyle>
          <a:p>
            <a:pPr>
              <a:defRPr sz="2250" b="1">
                <a:solidFill>
                  <a:srgbClr val="007D7B"/>
                </a:solidFill>
                <a:latin typeface="Helvetica Neue"/>
                <a:ea typeface="Helvetica Neue"/>
                <a:cs typeface="Helvetica Neue"/>
              </a:defRPr>
            </a:pPr>
            <a:r>
              <a:rPr sz="2250" b="1">
                <a:solidFill>
                  <a:srgbClr val="007D7B"/>
                </a:solidFill>
                <a:latin typeface="Helvetica Neue"/>
                <a:ea typeface="Helvetica Neue"/>
                <a:cs typeface="Helvetica Neue"/>
              </a:rPr>
              <a:t>Belief: aus Beobachtungen Wissen über die Karte ableiten.</a:t>
            </a:r>
          </a:p>
        </p:txBody>
      </p:sp>
    </p:spTree>
    <p:extLst>
      <p:ext uri="{BB962C8B-B14F-4D97-AF65-F5344CB8AC3E}">
        <ns3:creationId val="1757940146"/>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9" name="SHERLOCK / REVIEW 01">
            <a:extLst>
              <a:ext uri="{FF2B5EF4-FFF2-40B4-BE49-F238E27FC236}">
                <ns2:creationId id="{F559B7CA-7D14-4786-B366-D9E113D666BB}"/>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echs Netze bewerten dieselben sechs Aktionen">
            <a:extLst>
              <a:ext uri="{FF2B5EF4-FFF2-40B4-BE49-F238E27FC236}">
                <ns2:creationId id="{3B0BDC30-043E-41FB-9ECF-90F1793EA5E4}"/>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Netzarchitektur und Ensemble</a:t>
            </a:r>
          </a:p>
        </p:txBody>
      </p:sp>
      <p:sp>
        <p:nvSpPr>
          <p:cNvPr id="3" name="Team 15 · Mahmoud El-Hassan &amp; Moayed Shawesh">
            <a:extLst>
              <a:ext uri="{FF2B5EF4-FFF2-40B4-BE49-F238E27FC236}">
                <ns2:creationId id="{2989CE1B-2CFF-483B-97DA-4D05EFE33DC6}"/>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5">
            <a:extLst>
              <a:ext uri="{FF2B5EF4-FFF2-40B4-BE49-F238E27FC236}">
                <ns2:creationId id="{4E0CCA43-757B-4329-934D-ADFC8CF66D17}"/>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05</a:t>
            </a:r>
          </a:p>
        </p:txBody>
      </p:sp>
      <p:sp>
        <p:nvSpPr>
          <p:cNvPr id="5" name="79  →  256  →  256">
            <a:extLst>
              <a:ext uri="{FF2B5EF4-FFF2-40B4-BE49-F238E27FC236}">
                <ns2:creationId id="{D383602B-C859-45D7-A75D-0F0BD984A959}"/>
              </a:ext>
            </a:extLst>
          </p:cNvPr>
          <p:cNvSpPr>
            <a:spLocks noGrp="1"/>
          </p:cNvSpPr>
          <p:nvPr/>
        </p:nvSpPr>
        <p:spPr>
          <a:xfrm>
            <a:off x="609600" y="1952625"/>
            <a:ext cx="10972800" cy="704850"/>
          </a:xfrm>
          <a:prstGeom prst="rect">
            <a:avLst/>
          </a:prstGeom>
          <a:noFill/>
          <a:ln w="0">
            <a:noFill/>
          </a:ln>
        </p:spPr>
        <p:txBody>
          <a:bodyPr/>
          <a:lstStyle>
            <a:defPPr>
              <a:defRPr sz="4050" b="1">
                <a:solidFill>
                  <a:srgbClr val="007D7B"/>
                </a:solidFill>
                <a:latin typeface="Helvetica Neue"/>
                <a:ea typeface="Helvetica Neue"/>
                <a:cs typeface="Helvetica Neue"/>
              </a:defRPr>
            </a:defPPr>
          </a:lstStyle>
          <a:p>
            <a:pPr>
              <a:defRPr sz="4050" b="1">
                <a:solidFill>
                  <a:srgbClr val="007D7B"/>
                </a:solidFill>
                <a:latin typeface="Helvetica Neue"/>
                <a:ea typeface="Helvetica Neue"/>
                <a:cs typeface="Helvetica Neue"/>
              </a:defRPr>
            </a:pPr>
            <a:r>
              <a:rPr sz="4050" b="1">
                <a:solidFill>
                  <a:srgbClr val="007D7B"/>
                </a:solidFill>
                <a:latin typeface="Helvetica Neue"/>
                <a:ea typeface="Helvetica Neue"/>
                <a:cs typeface="Helvetica Neue"/>
              </a:rPr>
              <a:t>79  →  256  →  256</a:t>
            </a:r>
          </a:p>
        </p:txBody>
      </p:sp>
      <p:sp>
        <p:nvSpPr>
          <p:cNvPr id="6" name="Pro Einheit · gemeinsame MLP-Schichten mit Re">
            <a:extLst>
              <a:ext uri="{FF2B5EF4-FFF2-40B4-BE49-F238E27FC236}">
                <ns2:creationId id="{609808A7-CA9B-4752-BC9B-7750F1810D23}"/>
              </a:ext>
            </a:extLst>
          </p:cNvPr>
          <p:cNvSpPr>
            <a:spLocks noGrp="1"/>
          </p:cNvSpPr>
          <p:nvPr/>
        </p:nvSpPr>
        <p:spPr>
          <a:xfrm>
            <a:off x="609600" y="2705100"/>
            <a:ext cx="10972800" cy="457200"/>
          </a:xfrm>
          <a:prstGeom prst="rect">
            <a:avLst/>
          </a:prstGeom>
          <a:noFill/>
          <a:ln w="0">
            <a:noFill/>
          </a:ln>
        </p:spPr>
        <p:txBody>
          <a:bodyPr/>
          <a:lstStyle>
            <a:defPPr>
              <a:defRPr sz="2025" b="0">
                <a:solidFill>
                  <a:srgbClr val="526B70"/>
                </a:solidFill>
                <a:latin typeface="Helvetica Neue"/>
                <a:ea typeface="Helvetica Neue"/>
                <a:cs typeface="Helvetica Neue"/>
              </a:defRPr>
            </a:defPPr>
          </a:lstStyle>
          <a:p>
            <a:pPr>
              <a:defRPr sz="2025" b="0">
                <a:solidFill>
                  <a:srgbClr val="526B70"/>
                </a:solidFill>
                <a:latin typeface="Helvetica Neue"/>
                <a:ea typeface="Helvetica Neue"/>
                <a:cs typeface="Helvetica Neue"/>
              </a:defRPr>
            </a:pPr>
            <a:r>
              <a:rPr sz="2025" b="0">
                <a:solidFill>
                  <a:srgbClr val="526B70"/>
                </a:solidFill>
                <a:latin typeface="Helvetica Neue"/>
                <a:ea typeface="Helvetica Neue"/>
                <a:cs typeface="Helvetica Neue"/>
              </a:rPr>
              <a:t>Pro Einheit · gemeinsame MLP-Schichten mit ReLU</a:t>
            </a:r>
          </a:p>
        </p:txBody>
      </p:sp>
      <p:graphicFrame>
        <p:nvGraphicFramePr>
          <p:cNvPr id="7" name="">
            <a:extLst>
              <a:ext uri="{FF2B5EF4-FFF2-40B4-BE49-F238E27FC236}">
                <ns2:creationId id="{1E859834-6787-4F2C-9FBC-54104F0DA635}"/>
              </a:ext>
            </a:extLst>
          </p:cNvPr>
          <p:cNvGraphicFramePr/>
          <p:nvPr/>
        </p:nvGraphicFramePr>
        <p:xfrm>
          <a:off x="609600" y="3390900"/>
          <a:ext cx="10972800" cy="1924050"/>
        </p:xfrm>
        <a:graphic>
          <a:graphicData uri="http://schemas.openxmlformats.org/drawingml/2006/table">
            <a:tbl>
              <a:tblPr/>
              <a:tblGrid>
                <a:gridCol w="3048000"/>
                <a:gridCol w="3143250"/>
                <a:gridCol w="4781550"/>
              </a:tblGrid>
              <a:tr h="641350">
                <a:tc>
                  <a:txBody>
                    <a:bodyPr/>
                    <a:lstStyle/>
                    <a:p>
                      <a:r>
                        <a:rPr sz="2025" b="1">
                          <a:solidFill>
                            <a:srgbClr val="FFFFFF"/>
                          </a:solidFill>
                          <a:latin typeface="Helvetica Neue"/>
                          <a:ea typeface="Helvetica Neue"/>
                          <a:cs typeface="Helvetica Neue"/>
                        </a:rPr>
                        <a:t>Dueling-Kopf</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Schichten</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Ausgabe</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41350">
                <a:tc>
                  <a:txBody>
                    <a:bodyPr/>
                    <a:lstStyle/>
                    <a:p>
                      <a:r>
                        <a:rPr sz="2025" b="0">
                          <a:solidFill>
                            <a:srgbClr val="102D35"/>
                          </a:solidFill>
                          <a:latin typeface="Helvetica Neue"/>
                          <a:ea typeface="Helvetica Neue"/>
                          <a:cs typeface="Helvetica Neue"/>
                        </a:rPr>
                        <a:t>Zustandswert V</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256 → 128 → 1</a:t>
                      </a:r>
                    </a:p>
                  </a:txBody>
                  <a:tcPr marL="91440" marR="91440" marT="45720" marB="45720">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Ein Wert für die Situation</a:t>
                      </a:r>
                    </a:p>
                  </a:txBody>
                  <a:tcPr marL="91440" marR="91440" marT="45720" marB="45720">
                    <a:lnR w="9525">
                      <a:solidFill>
                        <a:srgbClr val="CFDBD7"/>
                      </a:solidFill>
                      <a:prstDash val="solid"/>
                    </a:lnR>
                    <a:lnB w="9525">
                      <a:solidFill>
                        <a:srgbClr val="CFDBD7"/>
                      </a:solidFill>
                      <a:prstDash val="solid"/>
                    </a:lnB>
                    <a:solidFill>
                      <a:srgbClr val="FFFFFF"/>
                    </a:solidFill>
                  </a:tcPr>
                </a:tc>
              </a:tr>
              <a:tr h="641350">
                <a:tc>
                  <a:txBody>
                    <a:bodyPr/>
                    <a:lstStyle/>
                    <a:p>
                      <a:r>
                        <a:rPr sz="2025" b="0">
                          <a:solidFill>
                            <a:srgbClr val="102D35"/>
                          </a:solidFill>
                          <a:latin typeface="Helvetica Neue"/>
                          <a:ea typeface="Helvetica Neue"/>
                          <a:cs typeface="Helvetica Neue"/>
                        </a:rPr>
                        <a:t>Aktionsvorteil A</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256 → 128 → 6</a:t>
                      </a:r>
                    </a:p>
                  </a:txBody>
                  <a:tcPr marL="91440" marR="91440" marT="45720" marB="45720">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Ein Wert pro Aktion</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8" name="Ensemble: 3 × full + 3 × full_sym → Q-Mittelw">
            <a:extLst>
              <a:ext uri="{FF2B5EF4-FFF2-40B4-BE49-F238E27FC236}">
                <ns2:creationId id="{DD4376FB-0FF7-4608-9C9E-293F0DA546E3}"/>
              </a:ext>
            </a:extLst>
          </p:cNvPr>
          <p:cNvSpPr>
            <a:spLocks noGrp="1"/>
          </p:cNvSpPr>
          <p:nvPr/>
        </p:nvSpPr>
        <p:spPr>
          <a:xfrm>
            <a:off x="609600" y="5610225"/>
            <a:ext cx="10972800" cy="571500"/>
          </a:xfrm>
          <a:prstGeom prst="rect">
            <a:avLst/>
          </a:prstGeom>
          <a:noFill/>
          <a:ln w="0">
            <a:noFill/>
          </a:ln>
        </p:spPr>
        <p:txBody>
          <a:bodyPr/>
          <a:lstStyle>
            <a:defPPr>
              <a:defRPr sz="2025" b="1">
                <a:solidFill>
                  <a:srgbClr val="007D7B"/>
                </a:solidFill>
                <a:latin typeface="Helvetica Neue"/>
                <a:ea typeface="Helvetica Neue"/>
                <a:cs typeface="Helvetica Neue"/>
              </a:defRPr>
            </a:defPPr>
          </a:lstStyle>
          <a:p>
            <a:pP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Ensemble: 3 × full + 3 × full_sym → Q-Mittelwert → Aktionsmaske</a:t>
            </a:r>
          </a:p>
        </p:txBody>
      </p:sp>
    </p:spTree>
    <p:extLst>
      <p:ext uri="{BB962C8B-B14F-4D97-AF65-F5344CB8AC3E}">
        <ns3:creationId val="663061882"/>
      </p:ext>
    </p:extLst>
  </p:cSld>
</p:sld>
</file>

<file path=ppt/slides/slide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8" name="SHERLOCK / REVIEW 01">
            <a:extLst>
              <a:ext uri="{FF2B5EF4-FFF2-40B4-BE49-F238E27FC236}">
                <ns2:creationId id="{CD87C596-8699-4590-B5AB-F23DB5AE8DF8}"/>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Double DQN: auswählen und bewerten trennen">
            <a:extLst>
              <a:ext uri="{FF2B5EF4-FFF2-40B4-BE49-F238E27FC236}">
                <ns2:creationId id="{FA2650E1-09AD-42F1-9051-9E2260AADF41}"/>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Double DQN</a:t>
            </a:r>
          </a:p>
        </p:txBody>
      </p:sp>
      <p:sp>
        <p:nvSpPr>
          <p:cNvPr id="3" name="Team 15 · Mahmoud El-Hassan &amp; Moayed Shawesh">
            <a:extLst>
              <a:ext uri="{FF2B5EF4-FFF2-40B4-BE49-F238E27FC236}">
                <ns2:creationId id="{C36A35F7-6738-4156-A017-68EA16095B23}"/>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6">
            <a:extLst>
              <a:ext uri="{FF2B5EF4-FFF2-40B4-BE49-F238E27FC236}">
                <ns2:creationId id="{35D71D06-A7EF-44E5-84DF-B2F1AEC6847C}"/>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06</a:t>
            </a:r>
          </a:p>
        </p:txBody>
      </p:sp>
      <p:sp>
        <p:nvSpPr>
          <p:cNvPr id="5" name="Vereinfachter Trainingsschritt">
            <a:extLst>
              <a:ext uri="{FF2B5EF4-FFF2-40B4-BE49-F238E27FC236}">
                <ns2:creationId id="{B829BE7C-C0A7-4CFF-A291-1084E281D8CE}"/>
              </a:ext>
            </a:extLst>
          </p:cNvPr>
          <p:cNvSpPr>
            <a:spLocks noGrp="1"/>
          </p:cNvSpPr>
          <p:nvPr/>
        </p:nvSpPr>
        <p:spPr>
          <a:xfrm>
            <a:off x="609600" y="1885950"/>
            <a:ext cx="10972800" cy="476250"/>
          </a:xfrm>
          <a:prstGeom prst="rect">
            <a:avLst/>
          </a:prstGeom>
          <a:noFill/>
          <a:ln w="0">
            <a:noFill/>
          </a:ln>
        </p:spPr>
        <p:txBody>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Vereinfachter Trainingsschritt</a:t>
            </a:r>
          </a:p>
        </p:txBody>
      </p:sp>
      <p:sp>
        <p:nvSpPr>
          <p:cNvPr id="6" name="1   Ziehe Übergänge (s, a, r, s′, Ende) aus d">
            <a:extLst>
              <a:ext uri="{FF2B5EF4-FFF2-40B4-BE49-F238E27FC236}">
                <ns2:creationId id="{CDCF703F-9844-4F00-B13C-2643C05DCE0B}"/>
              </a:ext>
            </a:extLst>
          </p:cNvPr>
          <p:cNvSpPr>
            <a:spLocks noGrp="1"/>
          </p:cNvSpPr>
          <p:nvPr/>
        </p:nvSpPr>
        <p:spPr>
          <a:xfrm>
            <a:off x="609600" y="2543175"/>
            <a:ext cx="10972800" cy="2590800"/>
          </a:xfrm>
          <a:prstGeom prst="rect">
            <a:avLst/>
          </a:prstGeom>
          <a:noFill/>
          <a:ln w="0">
            <a:noFill/>
          </a:ln>
        </p:spPr>
        <p:txBody>
          <a:bodyPr/>
          <a:lstStyle>
            <a:defPPr>
              <a:defRPr sz="2175" b="0">
                <a:solidFill>
                  <a:srgbClr val="102D35"/>
                </a:solidFill>
                <a:latin typeface="Helvetica Neue"/>
                <a:ea typeface="Helvetica Neue"/>
                <a:cs typeface="Helvetica Neue"/>
              </a:defRPr>
            </a:defPPr>
          </a:lstStyle>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1   Ziehe Übergänge (s, a, r, s′, Ende) aus dem Buffer.</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2   a* = beste erlaubte Folgeaktion laut Online-Netz</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3   Ziel = r + γ · Q_Target(s′, a*)  [ohne Folgewert bei Ende]</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4   Passe Q_Online(s, a) an das Ziel an.</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5   Kopiere das Online-Netz periodisch ins Target-Netz.</a:t>
            </a:r>
          </a:p>
        </p:txBody>
      </p:sp>
      <p:sp>
        <p:nvSpPr>
          <p:cNvPr id="7" name="Belohnung: Punkte + Matchsieg + zusätzliche S">
            <a:extLst>
              <a:ext uri="{FF2B5EF4-FFF2-40B4-BE49-F238E27FC236}">
                <ns2:creationId id="{FE5B8263-3A52-4F38-9DE1-4A65083C9701}"/>
              </a:ext>
            </a:extLst>
          </p:cNvPr>
          <p:cNvSpPr>
            <a:spLocks noGrp="1"/>
          </p:cNvSpPr>
          <p:nvPr/>
        </p:nvSpPr>
        <p:spPr>
          <a:xfrm>
            <a:off x="609600" y="5495925"/>
            <a:ext cx="10972800" cy="619125"/>
          </a:xfrm>
          <a:prstGeom prst="rect">
            <a:avLst/>
          </a:prstGeom>
          <a:noFill/>
          <a:ln w="0">
            <a:noFill/>
          </a:ln>
        </p:spPr>
        <p:txBody>
          <a:bodyPr/>
          <a:lstStyle>
            <a:defPPr>
              <a:defRPr sz="2100" b="1">
                <a:solidFill>
                  <a:srgbClr val="007D7B"/>
                </a:solidFill>
                <a:latin typeface="Helvetica Neue"/>
                <a:ea typeface="Helvetica Neue"/>
                <a:cs typeface="Helvetica Neue"/>
              </a:defRPr>
            </a:defPPr>
          </a:lstStyle>
          <a:p>
            <a:pPr>
              <a:defRPr sz="2100" b="1">
                <a:solidFill>
                  <a:srgbClr val="007D7B"/>
                </a:solidFill>
                <a:latin typeface="Helvetica Neue"/>
                <a:ea typeface="Helvetica Neue"/>
                <a:cs typeface="Helvetica Neue"/>
              </a:defRPr>
            </a:pPr>
            <a:r>
              <a:rPr sz="2100" b="1">
                <a:solidFill>
                  <a:srgbClr val="007D7B"/>
                </a:solidFill>
                <a:latin typeface="Helvetica Neue"/>
                <a:ea typeface="Helvetica Neue"/>
                <a:cs typeface="Helvetica Neue"/>
              </a:rPr>
              <a:t>Belohnung: Punkte + Matchsieg + zusätzliche Shaping-Signale</a:t>
            </a:r>
          </a:p>
        </p:txBody>
      </p:sp>
    </p:spTree>
    <p:extLst>
      <p:ext uri="{BB962C8B-B14F-4D97-AF65-F5344CB8AC3E}">
        <ns3:creationId val="2012567408"/>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8" name="SHERLOCK / REVIEW 01">
            <a:extLst>
              <a:ext uri="{FF2B5EF4-FFF2-40B4-BE49-F238E27FC236}">
                <ns2:creationId id="{61090A13-2EF2-43A2-A7D8-5A7BFE45E879}"/>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echs Trainingsläufe, danach feste Gewichte">
            <a:extLst>
              <a:ext uri="{FF2B5EF4-FFF2-40B4-BE49-F238E27FC236}">
                <ns2:creationId id="{68147D5A-06E0-4685-B507-E509E026E141}"/>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Training und Auswertung</a:t>
            </a:r>
          </a:p>
        </p:txBody>
      </p:sp>
      <p:sp>
        <p:nvSpPr>
          <p:cNvPr id="3" name="Team 15 · Mahmoud El-Hassan &amp; Moayed Shawesh">
            <a:extLst>
              <a:ext uri="{FF2B5EF4-FFF2-40B4-BE49-F238E27FC236}">
                <ns2:creationId id="{4DD744E3-9890-407C-B701-A0F0238D5D43}"/>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7">
            <a:extLst>
              <a:ext uri="{FF2B5EF4-FFF2-40B4-BE49-F238E27FC236}">
                <ns2:creationId id="{FFCC985A-7711-4D44-B812-A9455C15353B}"/>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07</a:t>
            </a:r>
          </a:p>
        </p:txBody>
      </p:sp>
      <p:sp>
        <p:nvSpPr>
          <p:cNvPr id="5" name="6 × 3.000 = 18.000">
            <a:extLst>
              <a:ext uri="{FF2B5EF4-FFF2-40B4-BE49-F238E27FC236}">
                <ns2:creationId id="{88F18B35-47A4-46DF-AC96-36E0F5FA6277}"/>
              </a:ext>
            </a:extLst>
          </p:cNvPr>
          <p:cNvSpPr>
            <a:spLocks noGrp="1"/>
          </p:cNvSpPr>
          <p:nvPr/>
        </p:nvSpPr>
        <p:spPr>
          <a:xfrm>
            <a:off x="609600" y="1952625"/>
            <a:ext cx="10972800" cy="838200"/>
          </a:xfrm>
          <a:prstGeom prst="rect">
            <a:avLst/>
          </a:prstGeom>
          <a:noFill/>
          <a:ln w="0">
            <a:noFill/>
          </a:ln>
        </p:spPr>
        <p:txBody>
          <a:bodyPr/>
          <a:lstStyle>
            <a:defPPr>
              <a:defRPr sz="4500" b="1">
                <a:solidFill>
                  <a:srgbClr val="007D7B"/>
                </a:solidFill>
                <a:latin typeface="Helvetica Neue"/>
                <a:ea typeface="Helvetica Neue"/>
                <a:cs typeface="Helvetica Neue"/>
              </a:defRPr>
            </a:defPPr>
          </a:lstStyle>
          <a:p>
            <a:pPr>
              <a:defRPr sz="4500" b="1">
                <a:solidFill>
                  <a:srgbClr val="007D7B"/>
                </a:solidFill>
                <a:latin typeface="Helvetica Neue"/>
                <a:ea typeface="Helvetica Neue"/>
                <a:cs typeface="Helvetica Neue"/>
              </a:defRPr>
            </a:pPr>
            <a:r>
              <a:rPr sz="4500" b="1">
                <a:solidFill>
                  <a:srgbClr val="007D7B"/>
                </a:solidFill>
                <a:latin typeface="Helvetica Neue"/>
                <a:ea typeface="Helvetica Neue"/>
                <a:cs typeface="Helvetica Neue"/>
              </a:rPr>
              <a:t>6 × 3.000 = 18.000</a:t>
            </a:r>
          </a:p>
        </p:txBody>
      </p:sp>
      <p:sp>
        <p:nvSpPr>
          <p:cNvPr id="6" name="Trainingsspiele der sechs Basisläufe des aktu">
            <a:extLst>
              <a:ext uri="{FF2B5EF4-FFF2-40B4-BE49-F238E27FC236}">
                <ns2:creationId id="{61F13189-35EF-45D8-9B6A-42E9F3DDB008}"/>
              </a:ext>
            </a:extLst>
          </p:cNvPr>
          <p:cNvSpPr>
            <a:spLocks noGrp="1"/>
          </p:cNvSpPr>
          <p:nvPr/>
        </p:nvSpPr>
        <p:spPr>
          <a:xfrm>
            <a:off x="609600" y="2847975"/>
            <a:ext cx="10972800" cy="571500"/>
          </a:xfrm>
          <a:prstGeom prst="rect">
            <a:avLst/>
          </a:prstGeom>
          <a:noFill/>
          <a:ln w="0">
            <a:noFill/>
          </a:ln>
        </p:spPr>
        <p:txBody>
          <a:bodyPr/>
          <a:lstStyle>
            <a:defPPr>
              <a:defRPr sz="2100" b="0">
                <a:solidFill>
                  <a:srgbClr val="526B70"/>
                </a:solidFill>
                <a:latin typeface="Helvetica Neue"/>
                <a:ea typeface="Helvetica Neue"/>
                <a:cs typeface="Helvetica Neue"/>
              </a:defRPr>
            </a:defPPr>
          </a:lstStyle>
          <a:p>
            <a:pPr>
              <a:defRPr sz="2100" b="0">
                <a:solidFill>
                  <a:srgbClr val="526B70"/>
                </a:solidFill>
                <a:latin typeface="Helvetica Neue"/>
                <a:ea typeface="Helvetica Neue"/>
                <a:cs typeface="Helvetica Neue"/>
              </a:defRPr>
            </a:pPr>
            <a:r>
              <a:rPr sz="2100" b="0">
                <a:solidFill>
                  <a:srgbClr val="526B70"/>
                </a:solidFill>
                <a:latin typeface="Helvetica Neue"/>
                <a:ea typeface="Helvetica Neue"/>
                <a:cs typeface="Helvetica Neue"/>
              </a:rPr>
              <a:t>Trainingsspiele der sechs Basisläufe des aktuellen Ensembles</a:t>
            </a:r>
          </a:p>
        </p:txBody>
      </p:sp>
      <p:graphicFrame>
        <p:nvGraphicFramePr>
          <p:cNvPr id="7" name="">
            <a:extLst>
              <a:ext uri="{FF2B5EF4-FFF2-40B4-BE49-F238E27FC236}">
                <ns2:creationId id="{B4EC1B60-74EF-4AA6-A8CA-DD9126A3E20F}"/>
              </a:ext>
            </a:extLst>
          </p:cNvPr>
          <p:cNvGraphicFramePr/>
          <p:nvPr/>
        </p:nvGraphicFramePr>
        <p:xfrm>
          <a:off x="609600" y="3648075"/>
          <a:ext cx="10972800" cy="2152650"/>
        </p:xfrm>
        <a:graphic>
          <a:graphicData uri="http://schemas.openxmlformats.org/drawingml/2006/table">
            <a:tbl>
              <a:tblPr/>
              <a:tblGrid>
                <a:gridCol w="2857500"/>
                <a:gridCol w="8115300"/>
              </a:tblGrid>
              <a:tr h="538163">
                <a:tc>
                  <a:txBody>
                    <a:bodyPr/>
                    <a:lstStyle/>
                    <a:p>
                      <a:r>
                        <a:rPr sz="2100" b="1">
                          <a:solidFill>
                            <a:srgbClr val="FFFFFF"/>
                          </a:solidFill>
                          <a:latin typeface="Helvetica Neue"/>
                          <a:ea typeface="Helvetica Neue"/>
                          <a:cs typeface="Helvetica Neue"/>
                        </a:rPr>
                        <a:t>Phase</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100" b="1">
                          <a:solidFill>
                            <a:srgbClr val="FFFFFF"/>
                          </a:solidFill>
                          <a:latin typeface="Helvetica Neue"/>
                          <a:ea typeface="Helvetica Neue"/>
                          <a:cs typeface="Helvetica Neue"/>
                        </a:rPr>
                        <a:t>Vorgehen</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538163">
                <a:tc>
                  <a:txBody>
                    <a:bodyPr/>
                    <a:lstStyle/>
                    <a:p>
                      <a:r>
                        <a:rPr sz="2100" b="0">
                          <a:solidFill>
                            <a:srgbClr val="102D35"/>
                          </a:solidFill>
                          <a:latin typeface="Helvetica Neue"/>
                          <a:ea typeface="Helvetica Neue"/>
                          <a:cs typeface="Helvetica Neue"/>
                        </a:rPr>
                        <a:t>Training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Zuerst default; danach default und Solution_92</a:t>
                      </a:r>
                    </a:p>
                  </a:txBody>
                  <a:tcPr marL="91440" marR="91440" marT="45720" marB="45720">
                    <a:lnR w="9525">
                      <a:solidFill>
                        <a:srgbClr val="CFDBD7"/>
                      </a:solidFill>
                      <a:prstDash val="solid"/>
                    </a:lnR>
                    <a:lnB w="9525">
                      <a:solidFill>
                        <a:srgbClr val="CFDBD7"/>
                      </a:solidFill>
                      <a:prstDash val="solid"/>
                    </a:lnB>
                    <a:solidFill>
                      <a:srgbClr val="FFFFFF"/>
                    </a:solidFill>
                  </a:tcPr>
                </a:tc>
              </a:tr>
              <a:tr h="538163">
                <a:tc>
                  <a:txBody>
                    <a:bodyPr/>
                    <a:lstStyle/>
                    <a:p>
                      <a:r>
                        <a:rPr sz="2100" b="0">
                          <a:solidFill>
                            <a:srgbClr val="102D35"/>
                          </a:solidFill>
                          <a:latin typeface="Helvetica Neue"/>
                          <a:ea typeface="Helvetica Neue"/>
                          <a:cs typeface="Helvetica Neue"/>
                        </a:rPr>
                        <a:t>Validierung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Getrennte Karten; Checkpoints vergleichen</a:t>
                      </a:r>
                    </a:p>
                  </a:txBody>
                  <a:tcPr marL="91440" marR="91440" marT="45720" marB="45720">
                    <a:lnR w="9525">
                      <a:solidFill>
                        <a:srgbClr val="CFDBD7"/>
                      </a:solidFill>
                      <a:prstDash val="solid"/>
                    </a:lnR>
                    <a:lnB w="9525">
                      <a:solidFill>
                        <a:srgbClr val="CFDBD7"/>
                      </a:solidFill>
                      <a:prstDash val="solid"/>
                    </a:lnB>
                    <a:solidFill>
                      <a:srgbClr val="EDF2ED"/>
                    </a:solidFill>
                  </a:tcPr>
                </a:tc>
              </a:tr>
              <a:tr h="538163">
                <a:tc>
                  <a:txBody>
                    <a:bodyPr/>
                    <a:lstStyle/>
                    <a:p>
                      <a:r>
                        <a:rPr sz="2100" b="0">
                          <a:solidFill>
                            <a:srgbClr val="102D35"/>
                          </a:solidFill>
                          <a:latin typeface="Helvetica Neue"/>
                          <a:ea typeface="Helvetica Neue"/>
                          <a:cs typeface="Helvetica Neue"/>
                        </a:rPr>
                        <a:t>Auswertung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Beide Seiten; ε = 0; kein weiteres Lernen</a:t>
                      </a:r>
                    </a:p>
                  </a:txBody>
                  <a:tcPr marL="91440" marR="91440" marT="45720" marB="45720">
                    <a:lnR w="9525">
                      <a:solidFill>
                        <a:srgbClr val="CFDBD7"/>
                      </a:solidFill>
                      <a:prstDash val="solid"/>
                    </a:lnR>
                    <a:lnB w="9525">
                      <a:solidFill>
                        <a:srgbClr val="CFDBD7"/>
                      </a:solidFill>
                      <a:prstDash val="solid"/>
                    </a:lnB>
                    <a:solidFill>
                      <a:srgbClr val="FFFFFF"/>
                    </a:solidFill>
                  </a:tcPr>
                </a:tc>
              </a:tr>
            </a:tbl>
          </a:graphicData>
        </a:graphic>
      </p:graphicFrame>
    </p:spTree>
    <p:extLst>
      <p:ext uri="{BB962C8B-B14F-4D97-AF65-F5344CB8AC3E}">
        <ns3:creationId val="2029611600"/>
      </p:ext>
    </p:extLst>
  </p:cSld>
</p:sld>
</file>

<file path=ppt/slides/slide8.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9" name="SHERLOCK / REVIEW 01">
            <a:extLst>
              <a:ext uri="{FF2B5EF4-FFF2-40B4-BE49-F238E27FC236}">
                <ns2:creationId id="{9DE6700D-25C4-4074-A736-65C0F47086D5}"/>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tark gegen default – der stärkere Gegner ble">
            <a:extLst>
              <a:ext uri="{FF2B5EF4-FFF2-40B4-BE49-F238E27FC236}">
                <ns2:creationId id="{4E667264-4180-43DA-A8C3-B96A6374C6E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Benchmark-Ergebnisse</a:t>
            </a:r>
          </a:p>
        </p:txBody>
      </p:sp>
      <p:sp>
        <p:nvSpPr>
          <p:cNvPr id="3" name="Team 15 · Mahmoud El-Hassan &amp; Moayed Shawesh">
            <a:extLst>
              <a:ext uri="{FF2B5EF4-FFF2-40B4-BE49-F238E27FC236}">
                <ns2:creationId id="{21F1CF2C-D3C7-49C8-95C8-379845550E68}"/>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8">
            <a:extLst>
              <a:ext uri="{FF2B5EF4-FFF2-40B4-BE49-F238E27FC236}">
                <ns2:creationId id="{6A2ADC49-233E-4D8F-B365-5BFC6D99D1EB}"/>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08</a:t>
            </a:r>
          </a:p>
        </p:txBody>
      </p:sp>
      <p:graphicFrame>
        <p:nvGraphicFramePr>
          <p:cNvPr id="5" name="Chart">
            <a:extLst>
              <a:ext uri="{FF2B5EF4-FFF2-40B4-BE49-F238E27FC236}">
                <ns2:creationId id="{2E4EBE12-064B-4B26-9814-B5EF2CFA5AD1}"/>
              </a:ext>
            </a:extLst>
          </p:cNvPr>
          <p:cNvGraphicFramePr/>
          <p:nvPr/>
        </p:nvGraphicFramePr>
        <p:xfrm>
          <a:off x="609600" y="2047875"/>
          <a:ext cx="7000875" cy="3629025"/>
        </p:xfrm>
        <a:graphic>
          <a:graphicData uri="http://schemas.openxmlformats.org/drawingml/2006/chart">
            <ns3:chart r:id="Rc37e7090310d4e88"/>
          </a:graphicData>
        </a:graphic>
      </p:graphicFrame>
      <p:sp>
        <p:nvSpPr>
          <p:cNvPr id="6" name="60 / 60 Siege&#10;gegen default">
            <a:extLst>
              <a:ext uri="{FF2B5EF4-FFF2-40B4-BE49-F238E27FC236}">
                <ns2:creationId id="{2C1D552B-F705-4702-A832-9394DD8D9160}"/>
              </a:ext>
            </a:extLst>
          </p:cNvPr>
          <p:cNvSpPr>
            <a:spLocks noGrp="1"/>
          </p:cNvSpPr>
          <p:nvPr/>
        </p:nvSpPr>
        <p:spPr>
          <a:xfrm>
            <a:off x="8172450" y="2314575"/>
            <a:ext cx="3333750" cy="95250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330200" indent="-254000" algn="l">
              <a:spcAft>
                <a:spcPts val="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60 / 60 Siege gegen default</a:t>
            </a:r>
          </a:p>
        </p:txBody>
      </p:sp>
      <p:sp>
        <p:nvSpPr>
          <p:cNvPr id="7" name="28 / 60 Siege&#10;gegen Solution_92">
            <a:extLst>
              <a:ext uri="{FF2B5EF4-FFF2-40B4-BE49-F238E27FC236}">
                <ns2:creationId id="{350C1384-13C6-43A8-B6D2-8377F740B5F6}"/>
              </a:ext>
            </a:extLst>
          </p:cNvPr>
          <p:cNvSpPr>
            <a:spLocks noGrp="1"/>
          </p:cNvSpPr>
          <p:nvPr/>
        </p:nvSpPr>
        <p:spPr>
          <a:xfrm>
            <a:off x="8172450" y="3714750"/>
            <a:ext cx="3333750" cy="95250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330200" indent="-254000" algn="l">
              <a:spcAft>
                <a:spcPts val="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28 / 60 Siege gegen Solution_92</a:t>
            </a:r>
          </a:p>
        </p:txBody>
      </p:sp>
      <p:sp>
        <p:nvSpPr>
          <p:cNvPr id="8" name="Je Gegner: 30 Karten × 2 Seiten · bereits meh">
            <a:extLst>
              <a:ext uri="{FF2B5EF4-FFF2-40B4-BE49-F238E27FC236}">
                <ns2:creationId id="{F753D58F-8255-4ACC-B617-783246C3F5F7}"/>
              </a:ext>
            </a:extLst>
          </p:cNvPr>
          <p:cNvSpPr>
            <a:spLocks noGrp="1"/>
          </p:cNvSpPr>
          <p:nvPr/>
        </p:nvSpPr>
        <p:spPr>
          <a:xfrm>
            <a:off x="609600" y="5829300"/>
            <a:ext cx="10972800" cy="476250"/>
          </a:xfrm>
          <a:prstGeom prst="rect">
            <a:avLst/>
          </a:prstGeom>
          <a:noFill/>
          <a:ln w="0">
            <a:noFill/>
          </a:ln>
        </p:spPr>
        <p:txBody>
          <a:bodyPr>
            <a:noAutofit/>
          </a:bodyPr>
          <a:lstStyle>
            <a:defPPr algn="l">
              <a:defRPr sz="1800" b="0">
                <a:solidFill>
                  <a:srgbClr val="526B70"/>
                </a:solidFill>
                <a:latin typeface="Helvetica Neue"/>
                <a:ea typeface="Helvetica Neue"/>
                <a:cs typeface="Helvetica Neue"/>
              </a:defRPr>
            </a:defPPr>
          </a:lstStyle>
          <a:p>
            <a:pPr marL="0" indent="0" algn="l">
              <a:spcBef>
                <a:spcPts val="0"/>
              </a:spcBef>
              <a:spcAft>
                <a:spcPts val="0"/>
              </a:spcAft>
              <a:buNone/>
              <a:defRPr sz="1800" b="0">
                <a:solidFill>
                  <a:srgbClr val="526B70"/>
                </a:solidFill>
                <a:latin typeface="Helvetica Neue"/>
                <a:ea typeface="Helvetica Neue"/>
                <a:cs typeface="Helvetica Neue"/>
              </a:defRPr>
            </a:pPr>
            <a:r>
              <a:rPr sz="1800">
                <a:solidFill>
                  <a:srgbClr val="526B70"/>
                </a:solidFill>
                <a:latin typeface="Helvetica Neue"/>
                <a:ea typeface="Helvetica Neue"/>
                <a:cs typeface="Helvetica Neue"/>
              </a:rPr>
              <a:t>Je Gegner: 30 Karten × 2 Seiten · bereits mehrfach genutzter Benchmark</a:t>
            </a:r>
          </a:p>
        </p:txBody>
      </p:sp>
    </p:spTree>
    <p:extLst>
      <p:ext uri="{BB962C8B-B14F-4D97-AF65-F5344CB8AC3E}">
        <ns5:creationId val="1247860106"/>
      </p:ext>
    </p:extLst>
  </p:cSld>
</p:sld>
</file>

<file path=ppt/slides/slide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12" name="SHERLOCK / REVIEW 01">
            <a:extLst>
              <a:ext uri="{FF2B5EF4-FFF2-40B4-BE49-F238E27FC236}">
                <ns2:creationId id="{D649A959-7497-4988-9EFE-00D58627A301}"/>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Ein Spiel: erst verteilen, dann Punktefelder ">
            <a:extLst>
              <a:ext uri="{FF2B5EF4-FFF2-40B4-BE49-F238E27FC236}">
                <ns2:creationId id="{57BEE2ED-FC67-4D2F-B7FA-21C62FDCD0D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Spielbeispiel</a:t>
            </a:r>
          </a:p>
        </p:txBody>
      </p:sp>
      <p:sp>
        <p:nvSpPr>
          <p:cNvPr id="3" name="Team 15 · Mahmoud El-Hassan &amp; Moayed Shawesh">
            <a:extLst>
              <a:ext uri="{FF2B5EF4-FFF2-40B4-BE49-F238E27FC236}">
                <ns2:creationId id="{8A6E3A1D-ACC3-4871-9E94-ADE9E4C15B2C}"/>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9">
            <a:extLst>
              <a:ext uri="{FF2B5EF4-FFF2-40B4-BE49-F238E27FC236}">
                <ns2:creationId id="{21F839A6-5B12-48CE-9DBD-C3A10D4AA9A9}"/>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09</a:t>
            </a:r>
          </a:p>
        </p:txBody>
      </p:sp>
      <p:pic>
        <p:nvPicPr>
          <p:cNvPr id="5" name="">
            <a:extLst>
              <a:ext uri="{FF2B5EF4-FFF2-40B4-BE49-F238E27FC236}">
                <ns2:creationId id="{5B4A15C1-179F-4AF5-A36A-DE63BEBC5540}"/>
              </a:ext>
            </a:extLst>
          </p:cNvPr>
          <p:cNvPicPr>
            <a:picLocks noChangeAspect="1"/>
          </p:cNvPicPr>
          <p:nvPr/>
        </p:nvPicPr>
        <p:blipFill>
          <a:blip r:embed="Re2337e6fc3c2434d"/>
          <a:stretch/>
        </p:blipFill>
        <p:spPr>
          <a:xfrm>
            <a:off x="609600" y="1924050"/>
            <a:ext cx="3733800" cy="3733800"/>
          </a:xfrm>
          <a:prstGeom prst="rect">
            <a:avLst/>
          </a:prstGeom>
        </p:spPr>
      </p:pic>
      <p:pic>
        <p:nvPicPr>
          <p:cNvPr id="6" name="">
            <a:extLst>
              <a:ext uri="{FF2B5EF4-FFF2-40B4-BE49-F238E27FC236}">
                <ns2:creationId id="{EE23A9C9-EE08-4115-868A-36B887E13C00}"/>
              </a:ext>
            </a:extLst>
          </p:cNvPr>
          <p:cNvPicPr>
            <a:picLocks noChangeAspect="1"/>
          </p:cNvPicPr>
          <p:nvPr/>
        </p:nvPicPr>
        <p:blipFill>
          <a:blip r:embed="R4c0eb88b0e674139"/>
          <a:stretch/>
        </p:blipFill>
        <p:spPr>
          <a:xfrm>
            <a:off x="4543425" y="1924050"/>
            <a:ext cx="3733800" cy="3733800"/>
          </a:xfrm>
          <a:prstGeom prst="rect">
            <a:avLst/>
          </a:prstGeom>
        </p:spPr>
      </p:pic>
      <p:sp>
        <p:nvSpPr>
          <p:cNvPr id="7" name="Schritt 23 · 0 : 0">
            <a:extLst>
              <a:ext uri="{FF2B5EF4-FFF2-40B4-BE49-F238E27FC236}">
                <ns2:creationId id="{BE563A49-DAB7-4FAC-BC14-4BBE0559632A}"/>
              </a:ext>
            </a:extLst>
          </p:cNvPr>
          <p:cNvSpPr>
            <a:spLocks noGrp="1"/>
          </p:cNvSpPr>
          <p:nvPr/>
        </p:nvSpPr>
        <p:spPr>
          <a:xfrm>
            <a:off x="609600" y="5800725"/>
            <a:ext cx="3810000" cy="409575"/>
          </a:xfrm>
          <a:prstGeom prst="rect">
            <a:avLst/>
          </a:prstGeom>
          <a:noFill/>
          <a:ln w="0">
            <a:noFill/>
          </a:ln>
        </p:spPr>
        <p:txBody>
          <a:bodyPr/>
          <a:lstStyle>
            <a:defPPr>
              <a:defRPr sz="1950" b="1">
                <a:solidFill>
                  <a:srgbClr val="102D35"/>
                </a:solidFill>
                <a:latin typeface="Helvetica Neue"/>
                <a:ea typeface="Helvetica Neue"/>
                <a:cs typeface="Helvetica Neue"/>
              </a:defRPr>
            </a:defPPr>
          </a:lstStyle>
          <a:p>
            <a:pPr>
              <a:defRPr sz="1950" b="1">
                <a:solidFill>
                  <a:srgbClr val="102D35"/>
                </a:solidFill>
                <a:latin typeface="Helvetica Neue"/>
                <a:ea typeface="Helvetica Neue"/>
                <a:cs typeface="Helvetica Neue"/>
              </a:defRPr>
            </a:pPr>
            <a:r>
              <a:rPr sz="1950" b="1">
                <a:solidFill>
                  <a:srgbClr val="102D35"/>
                </a:solidFill>
                <a:latin typeface="Helvetica Neue"/>
                <a:ea typeface="Helvetica Neue"/>
                <a:cs typeface="Helvetica Neue"/>
              </a:rPr>
              <a:t>Schritt 23 · 0 : 0</a:t>
            </a:r>
          </a:p>
        </p:txBody>
      </p:sp>
      <p:sp>
        <p:nvSpPr>
          <p:cNvPr id="8" name="Schritt 90 · 374 : 11">
            <a:extLst>
              <a:ext uri="{FF2B5EF4-FFF2-40B4-BE49-F238E27FC236}">
                <ns2:creationId id="{15EA00B8-A570-4921-B800-06AC2AB009B3}"/>
              </a:ext>
            </a:extLst>
          </p:cNvPr>
          <p:cNvSpPr>
            <a:spLocks noGrp="1"/>
          </p:cNvSpPr>
          <p:nvPr/>
        </p:nvSpPr>
        <p:spPr>
          <a:xfrm>
            <a:off x="4543425" y="5800725"/>
            <a:ext cx="3810000" cy="409575"/>
          </a:xfrm>
          <a:prstGeom prst="rect">
            <a:avLst/>
          </a:prstGeom>
          <a:noFill/>
          <a:ln w="0">
            <a:noFill/>
          </a:ln>
        </p:spPr>
        <p:txBody>
          <a:bodyPr/>
          <a:lstStyle>
            <a:defPPr>
              <a:defRPr sz="1950" b="1">
                <a:solidFill>
                  <a:srgbClr val="102D35"/>
                </a:solidFill>
                <a:latin typeface="Helvetica Neue"/>
                <a:ea typeface="Helvetica Neue"/>
                <a:cs typeface="Helvetica Neue"/>
              </a:defRPr>
            </a:defPPr>
          </a:lstStyle>
          <a:p>
            <a:pPr>
              <a:defRPr sz="1950" b="1">
                <a:solidFill>
                  <a:srgbClr val="102D35"/>
                </a:solidFill>
                <a:latin typeface="Helvetica Neue"/>
                <a:ea typeface="Helvetica Neue"/>
                <a:cs typeface="Helvetica Neue"/>
              </a:defRPr>
            </a:pPr>
            <a:r>
              <a:rPr sz="1950" b="1">
                <a:solidFill>
                  <a:srgbClr val="102D35"/>
                </a:solidFill>
                <a:latin typeface="Helvetica Neue"/>
                <a:ea typeface="Helvetica Neue"/>
                <a:cs typeface="Helvetica Neue"/>
              </a:rPr>
              <a:t>Schritt 90 · 374 : 11</a:t>
            </a:r>
          </a:p>
        </p:txBody>
      </p:sp>
      <p:sp>
        <p:nvSpPr>
          <p:cNvPr id="9" name="Sherlock: blau&#10;Gegner: rot">
            <a:extLst>
              <a:ext uri="{FF2B5EF4-FFF2-40B4-BE49-F238E27FC236}">
                <ns2:creationId id="{A4849F7E-04F9-4CDB-9887-2CE754AAE9CA}"/>
              </a:ext>
            </a:extLst>
          </p:cNvPr>
          <p:cNvSpPr>
            <a:spLocks noGrp="1"/>
          </p:cNvSpPr>
          <p:nvPr/>
        </p:nvSpPr>
        <p:spPr>
          <a:xfrm>
            <a:off x="8724900" y="2057400"/>
            <a:ext cx="2857500" cy="952500"/>
          </a:xfrm>
          <a:prstGeom prst="rect">
            <a:avLst/>
          </a:prstGeom>
          <a:noFill/>
          <a:ln w="0">
            <a:noFill/>
          </a:ln>
        </p:spPr>
        <p:txBody>
          <a:bodyPr>
            <a:noAutofit/>
          </a:bodyPr>
          <a:lstStyle>
            <a:defPPr algn="l">
              <a:defRPr sz="2025" b="1">
                <a:solidFill>
                  <a:srgbClr val="007D7B"/>
                </a:solidFill>
                <a:latin typeface="Helvetica Neue"/>
                <a:ea typeface="Helvetica Neue"/>
                <a:cs typeface="Helvetica Neue"/>
              </a:defRPr>
            </a:defPPr>
          </a:lstStyle>
          <a:p>
            <a:pPr marL="330200" indent="-254000" algn="l">
              <a:spcAft>
                <a:spcPts val="800"/>
              </a:spcAft>
              <a:buFont typeface="Helvetica Neue"/>
              <a:buChar cha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Sherlock: blau</a:t>
            </a:r>
          </a:p>
          <a:p>
            <a:pPr marL="330200" indent="-254000" algn="l">
              <a:spcAft>
                <a:spcPts val="800"/>
              </a:spcAft>
              <a:buFont typeface="Helvetica Neue"/>
              <a:buChar cha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Gegner: rot</a:t>
            </a:r>
          </a:p>
        </p:txBody>
      </p:sp>
      <p:sp>
        <p:nvSpPr>
          <p:cNvPr id="10" name="Blaue Einheiten&#10;besetzen Punktefelder.&#10;&#10;Stehe">
            <a:extLst>
              <a:ext uri="{FF2B5EF4-FFF2-40B4-BE49-F238E27FC236}">
                <ns2:creationId id="{F57BBD97-C9BE-4063-922D-45E9DF7DDCED}"/>
              </a:ext>
            </a:extLst>
          </p:cNvPr>
          <p:cNvSpPr>
            <a:spLocks noGrp="1"/>
          </p:cNvSpPr>
          <p:nvPr/>
        </p:nvSpPr>
        <p:spPr>
          <a:xfrm>
            <a:off x="8724900" y="3343275"/>
            <a:ext cx="2857500" cy="2238375"/>
          </a:xfrm>
          <a:prstGeom prst="rect">
            <a:avLst/>
          </a:prstGeom>
          <a:noFill/>
          <a:ln w="0">
            <a:noFill/>
          </a:ln>
        </p:spPr>
        <p:txBody>
          <a:bodyPr>
            <a:noAutofit/>
          </a:bodyPr>
          <a:lstStyle>
            <a:defPPr algn="l">
              <a:defRPr sz="2025" b="0">
                <a:solidFill>
                  <a:srgbClr val="102D35"/>
                </a:solidFill>
                <a:latin typeface="Helvetica Neue"/>
                <a:ea typeface="Helvetica Neue"/>
                <a:cs typeface="Helvetica Neue"/>
              </a:defRPr>
            </a:defPPr>
          </a:lstStyle>
          <a:p>
            <a:pPr marL="330200" indent="-254000" algn="l">
              <a:spcAft>
                <a:spcPts val="1200"/>
              </a:spcAft>
              <a:buFont typeface="Helvetica Neue"/>
              <a:buChar char="–"/>
              <a:defRPr sz="2025" b="0">
                <a:solidFill>
                  <a:srgbClr val="102D35"/>
                </a:solidFill>
                <a:latin typeface="Helvetica Neue"/>
                <a:ea typeface="Helvetica Neue"/>
                <a:cs typeface="Helvetica Neue"/>
              </a:defRPr>
            </a:pPr>
            <a:r>
              <a:rPr sz="2025">
                <a:solidFill>
                  <a:srgbClr val="102D35"/>
                </a:solidFill>
                <a:latin typeface="Helvetica Neue"/>
                <a:ea typeface="Helvetica Neue"/>
                <a:cs typeface="Helvetica Neue"/>
              </a:rPr>
              <a:t>Blaue Einheiten besetzen Punktefelder</a:t>
            </a:r>
          </a:p>
          <a:p>
            <a:pPr marL="330200" indent="-254000" algn="l">
              <a:spcAft>
                <a:spcPts val="1200"/>
              </a:spcAft>
              <a:buFont typeface="Helvetica Neue"/>
              <a:buChar char="–"/>
              <a:defRPr sz="2025" b="0">
                <a:solidFill>
                  <a:srgbClr val="102D35"/>
                </a:solidFill>
                <a:latin typeface="Helvetica Neue"/>
                <a:ea typeface="Helvetica Neue"/>
                <a:cs typeface="Helvetica Neue"/>
              </a:defRPr>
            </a:pPr>
            <a:r>
              <a:rPr sz="2025">
                <a:solidFill>
                  <a:srgbClr val="102D35"/>
                </a:solidFill>
                <a:latin typeface="Helvetica Neue"/>
                <a:ea typeface="Helvetica Neue"/>
                <a:cs typeface="Helvetica Neue"/>
              </a:rPr>
              <a:t>Stehenbleiben kann sinnvoll sein</a:t>
            </a:r>
          </a:p>
        </p:txBody>
      </p:sp>
      <p:sp>
        <p:nvSpPr>
          <p:cNvPr id="11" name="Seed 900011 · Match 1&#10;Vollständige Replay-Ans">
            <a:extLst>
              <a:ext uri="{FF2B5EF4-FFF2-40B4-BE49-F238E27FC236}">
                <ns2:creationId id="{0FC615EC-C06C-4482-9275-6839DD877F5F}"/>
              </a:ext>
            </a:extLst>
          </p:cNvPr>
          <p:cNvSpPr>
            <a:spLocks noGrp="1"/>
          </p:cNvSpPr>
          <p:nvPr/>
        </p:nvSpPr>
        <p:spPr>
          <a:xfrm>
            <a:off x="8724900" y="5619750"/>
            <a:ext cx="2857500" cy="619125"/>
          </a:xfrm>
          <a:prstGeom prst="rect">
            <a:avLst/>
          </a:prstGeom>
          <a:noFill/>
          <a:ln w="0">
            <a:noFill/>
          </a:ln>
        </p:spPr>
        <p:txBody>
          <a:bodyPr/>
          <a:lstStyle>
            <a:defPPr>
              <a:defRPr sz="1500" b="0">
                <a:solidFill>
                  <a:srgbClr val="526B70"/>
                </a:solidFill>
                <a:latin typeface="Helvetica Neue"/>
                <a:ea typeface="Helvetica Neue"/>
                <a:cs typeface="Helvetica Neue"/>
              </a:defRPr>
            </a:defPPr>
          </a:lstStyle>
          <a:p>
            <a:pPr>
              <a:defRPr sz="1500" b="0">
                <a:solidFill>
                  <a:srgbClr val="526B70"/>
                </a:solidFill>
                <a:latin typeface="Helvetica Neue"/>
                <a:ea typeface="Helvetica Neue"/>
                <a:cs typeface="Helvetica Neue"/>
              </a:defRPr>
            </a:pPr>
            <a:r>
              <a:rPr sz="1500" b="0">
                <a:solidFill>
                  <a:srgbClr val="526B70"/>
                </a:solidFill>
                <a:latin typeface="Helvetica Neue"/>
                <a:ea typeface="Helvetica Neue"/>
                <a:cs typeface="Helvetica Neue"/>
              </a:rPr>
              <a:t>Seed 900011 · Match 1</a:t>
            </a:r>
          </a:p>
          <a:p>
            <a:pPr>
              <a:defRPr sz="1500" b="0">
                <a:solidFill>
                  <a:srgbClr val="526B70"/>
                </a:solidFill>
                <a:latin typeface="Helvetica Neue"/>
                <a:ea typeface="Helvetica Neue"/>
                <a:cs typeface="Helvetica Neue"/>
              </a:defRPr>
            </a:pPr>
            <a:r>
              <a:rPr sz="1500" b="0">
                <a:solidFill>
                  <a:srgbClr val="526B70"/>
                </a:solidFill>
                <a:latin typeface="Helvetica Neue"/>
                <a:ea typeface="Helvetica Neue"/>
                <a:cs typeface="Helvetica Neue"/>
              </a:rPr>
              <a:t>Vollständige Replay-Ansicht</a:t>
            </a:r>
          </a:p>
        </p:txBody>
      </p:sp>
    </p:spTree>
    <p:extLst>
      <p:ext uri="{BB962C8B-B14F-4D97-AF65-F5344CB8AC3E}">
        <ns4:creationId val="1042096664"/>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14" name="SHERLOCK / REVIEW 01">
            <a:extLst>
              <a:ext uri="{FF2B5EF4-FFF2-40B4-BE49-F238E27FC236}">
                <ns2:creationId id="{768977A4-33BF-46BE-8919-C4D4AA12D4DD}"/>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Erkenntnisse und die nächsten Schritte">
            <a:extLst>
              <a:ext uri="{FF2B5EF4-FFF2-40B4-BE49-F238E27FC236}">
                <ns2:creationId id="{6ED39887-151D-4BD5-9855-DD8857DFFD8E}"/>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Erkenntnisse und Ausblick</a:t>
            </a:r>
          </a:p>
        </p:txBody>
      </p:sp>
      <p:sp>
        <p:nvSpPr>
          <p:cNvPr id="3" name="Team 15 · Mahmoud El-Hassan &amp; Moayed Shawesh">
            <a:extLst>
              <a:ext uri="{FF2B5EF4-FFF2-40B4-BE49-F238E27FC236}">
                <ns2:creationId id="{66E77D38-EF91-49EA-AB4D-5AA4B83CEB28}"/>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0">
            <a:extLst>
              <a:ext uri="{FF2B5EF4-FFF2-40B4-BE49-F238E27FC236}">
                <ns2:creationId id="{8E0273A7-4405-4CE9-B571-1064467E9E97}"/>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10</a:t>
            </a:r>
          </a:p>
        </p:txBody>
      </p:sp>
      <p:sp>
        <p:nvSpPr>
          <p:cNvPr id="5" name="01">
            <a:extLst>
              <a:ext uri="{FF2B5EF4-FFF2-40B4-BE49-F238E27FC236}">
                <ns2:creationId id="{AFC480BD-B344-41FA-8CD0-6C2E74A468D7}"/>
              </a:ext>
            </a:extLst>
          </p:cNvPr>
          <p:cNvSpPr>
            <a:spLocks noGrp="1"/>
          </p:cNvSpPr>
          <p:nvPr/>
        </p:nvSpPr>
        <p:spPr>
          <a:xfrm>
            <a:off x="609600" y="194310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01</a:t>
            </a:r>
          </a:p>
        </p:txBody>
      </p:sp>
      <p:sp>
        <p:nvSpPr>
          <p:cNvPr id="6" name="Beobachtung">
            <a:extLst>
              <a:ext uri="{FF2B5EF4-FFF2-40B4-BE49-F238E27FC236}">
                <ns2:creationId id="{1820C6B8-74D4-449F-81D3-C1BE271F8C66}"/>
              </a:ext>
            </a:extLst>
          </p:cNvPr>
          <p:cNvSpPr>
            <a:spLocks noGrp="1"/>
          </p:cNvSpPr>
          <p:nvPr/>
        </p:nvSpPr>
        <p:spPr>
          <a:xfrm>
            <a:off x="1524000" y="194310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Beobachtung</a:t>
            </a:r>
          </a:p>
        </p:txBody>
      </p:sp>
      <p:sp>
        <p:nvSpPr>
          <p:cNvPr id="7" name="Weitertraining und Self-Play: bisher kein kla">
            <a:extLst>
              <a:ext uri="{FF2B5EF4-FFF2-40B4-BE49-F238E27FC236}">
                <ns2:creationId id="{BE9A7020-621E-4955-BD51-3E87C5A2D3C0}"/>
              </a:ext>
            </a:extLst>
          </p:cNvPr>
          <p:cNvSpPr>
            <a:spLocks noGrp="1"/>
          </p:cNvSpPr>
          <p:nvPr/>
        </p:nvSpPr>
        <p:spPr>
          <a:xfrm>
            <a:off x="1524000" y="240982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Weitertraining und Self-Play: bisher kein klarer Zusatzgewinn.</a:t>
            </a:r>
          </a:p>
        </p:txBody>
      </p:sp>
      <p:sp>
        <p:nvSpPr>
          <p:cNvPr id="8" name="02">
            <a:extLst>
              <a:ext uri="{FF2B5EF4-FFF2-40B4-BE49-F238E27FC236}">
                <ns2:creationId id="{9CB94756-3BDB-47E5-80A2-C23BD1DB5456}"/>
              </a:ext>
            </a:extLst>
          </p:cNvPr>
          <p:cNvSpPr>
            <a:spLocks noGrp="1"/>
          </p:cNvSpPr>
          <p:nvPr/>
        </p:nvSpPr>
        <p:spPr>
          <a:xfrm>
            <a:off x="609600" y="3286125"/>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02</a:t>
            </a:r>
          </a:p>
        </p:txBody>
      </p:sp>
      <p:sp>
        <p:nvSpPr>
          <p:cNvPr id="9" name="Offene Hypothese">
            <a:extLst>
              <a:ext uri="{FF2B5EF4-FFF2-40B4-BE49-F238E27FC236}">
                <ns2:creationId id="{01656370-F555-4D41-A0F2-E4AC260C770C}"/>
              </a:ext>
            </a:extLst>
          </p:cNvPr>
          <p:cNvSpPr>
            <a:spLocks noGrp="1"/>
          </p:cNvSpPr>
          <p:nvPr/>
        </p:nvSpPr>
        <p:spPr>
          <a:xfrm>
            <a:off x="1524000" y="3286125"/>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Offene Hypothese</a:t>
            </a:r>
          </a:p>
        </p:txBody>
      </p:sp>
      <p:sp>
        <p:nvSpPr>
          <p:cNvPr id="10" name="Frühere Erkundung und Inferenz könnten Match ">
            <a:extLst>
              <a:ext uri="{FF2B5EF4-FFF2-40B4-BE49-F238E27FC236}">
                <ns2:creationId id="{BCF394DA-3212-4BBD-957A-66337048739E}"/>
              </a:ext>
            </a:extLst>
          </p:cNvPr>
          <p:cNvSpPr>
            <a:spLocks noGrp="1"/>
          </p:cNvSpPr>
          <p:nvPr/>
        </p:nvSpPr>
        <p:spPr>
          <a:xfrm>
            <a:off x="1524000" y="3752850"/>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Frühere Erkundung und Inferenz könnten Match 1 verbessern.</a:t>
            </a:r>
          </a:p>
        </p:txBody>
      </p:sp>
      <p:sp>
        <p:nvSpPr>
          <p:cNvPr id="11" name="03">
            <a:extLst>
              <a:ext uri="{FF2B5EF4-FFF2-40B4-BE49-F238E27FC236}">
                <ns2:creationId id="{D43F2B56-AF30-4829-ABF0-98A2A1D87295}"/>
              </a:ext>
            </a:extLst>
          </p:cNvPr>
          <p:cNvSpPr>
            <a:spLocks noGrp="1"/>
          </p:cNvSpPr>
          <p:nvPr/>
        </p:nvSpPr>
        <p:spPr>
          <a:xfrm>
            <a:off x="609600" y="462915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03</a:t>
            </a:r>
          </a:p>
        </p:txBody>
      </p:sp>
      <p:sp>
        <p:nvSpPr>
          <p:cNvPr id="12" name="Nächster Schritt">
            <a:extLst>
              <a:ext uri="{FF2B5EF4-FFF2-40B4-BE49-F238E27FC236}">
                <ns2:creationId id="{7717E4D7-7EC3-4B42-B964-0E4596618185}"/>
              </a:ext>
            </a:extLst>
          </p:cNvPr>
          <p:cNvSpPr>
            <a:spLocks noGrp="1"/>
          </p:cNvSpPr>
          <p:nvPr/>
        </p:nvSpPr>
        <p:spPr>
          <a:xfrm>
            <a:off x="1524000" y="462915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Nächster Schritt</a:t>
            </a:r>
          </a:p>
        </p:txBody>
      </p:sp>
      <p:sp>
        <p:nvSpPr>
          <p:cNvPr id="13" name="Training absichern; m1_early prüfen; neue Tes">
            <a:extLst>
              <a:ext uri="{FF2B5EF4-FFF2-40B4-BE49-F238E27FC236}">
                <ns2:creationId id="{B53B8A02-3C24-4672-BCBA-C1BBE8CB3779}"/>
              </a:ext>
            </a:extLst>
          </p:cNvPr>
          <p:cNvSpPr>
            <a:spLocks noGrp="1"/>
          </p:cNvSpPr>
          <p:nvPr/>
        </p:nvSpPr>
        <p:spPr>
          <a:xfrm>
            <a:off x="1524000" y="509587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Training absichern; m1_early prüfen; neue Testkarten zurückhalten.</a:t>
            </a:r>
          </a:p>
        </p:txBody>
      </p:sp>
    </p:spTree>
    <p:extLst>
      <p:ext uri="{BB962C8B-B14F-4D97-AF65-F5344CB8AC3E}">
        <ns3:creationId val="93612771"/>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02D35"/>
        </a:solidFill>
      </p:bgPr>
    </p:bg>
    <p:spTree>
      <p:nvGrpSpPr>
        <p:cNvPr id="1" name=""/>
        <p:cNvGrpSpPr/>
        <p:nvPr/>
      </p:nvGrpSpPr>
      <p:grpSpPr>
        <a:xfrm/>
      </p:grpSpPr>
      <p:sp>
        <p:nvSpPr>
          <p:cNvPr id="8" name="SHERLOCK / REVIEW 01">
            <a:extLst>
              <a:ext uri="{FF2B5EF4-FFF2-40B4-BE49-F238E27FC236}">
                <ns2:creationId id="{5A20ABA5-B1EF-4F5C-9C4E-4353F31E02BC}"/>
              </a:ext>
            </a:extLst>
          </p:cNvPr>
          <p:cNvSpPr>
            <a:spLocks noGrp="1"/>
          </p:cNvSpPr>
          <p:nvPr/>
        </p:nvSpPr>
        <p:spPr>
          <a:xfrm>
            <a:off x="609600" y="266700"/>
            <a:ext cx="8572500" cy="304800"/>
          </a:xfrm>
          <a:prstGeom prst="rect">
            <a:avLst/>
          </a:prstGeom>
          <a:noFill/>
          <a:ln w="0">
            <a:noFill/>
          </a:ln>
        </p:spPr>
        <p:txBody>
          <a:bodyPr/>
          <a:lstStyle>
            <a:defPPr>
              <a:defRPr sz="1350" b="1">
                <a:solidFill>
                  <a:srgbClr val="A4C9C4"/>
                </a:solidFill>
                <a:latin typeface="Helvetica Neue"/>
                <a:ea typeface="Helvetica Neue"/>
                <a:cs typeface="Helvetica Neue"/>
              </a:defRPr>
            </a:defPPr>
          </a:lstStyle>
          <a:p>
            <a:pPr>
              <a:defRPr sz="1350" b="1">
                <a:solidFill>
                  <a:srgbClr val="A4C9C4"/>
                </a:solidFill>
                <a:latin typeface="Helvetica Neue"/>
                <a:ea typeface="Helvetica Neue"/>
                <a:cs typeface="Helvetica Neue"/>
              </a:defRPr>
            </a:pPr>
            <a:r>
              <a:rPr sz="1350" b="1">
                <a:solidFill>
                  <a:srgbClr val="A4C9C4"/>
                </a:solidFill>
                <a:latin typeface="Helvetica Neue"/>
                <a:ea typeface="Helvetica Neue"/>
                <a:cs typeface="Helvetica Neue"/>
              </a:rPr>
              <a:t>SHERLOCK / REVIEW 01</a:t>
            </a:r>
          </a:p>
        </p:txBody>
      </p:sp>
      <p:sp>
        <p:nvSpPr>
          <p:cNvPr id="2" name="Sherlock hat eine tragfähige Grundlage">
            <a:extLst>
              <a:ext uri="{FF2B5EF4-FFF2-40B4-BE49-F238E27FC236}">
                <ns2:creationId id="{25B16183-704C-4208-A3B0-0869761142C1}"/>
              </a:ext>
            </a:extLst>
          </p:cNvPr>
          <p:cNvSpPr>
            <a:spLocks noGrp="1"/>
          </p:cNvSpPr>
          <p:nvPr/>
        </p:nvSpPr>
        <p:spPr>
          <a:xfrm>
            <a:off x="609600" y="781050"/>
            <a:ext cx="10972800" cy="1028700"/>
          </a:xfrm>
          <a:prstGeom prst="rect">
            <a:avLst/>
          </a:prstGeom>
          <a:noFill/>
          <a:ln w="0">
            <a:noFill/>
          </a:ln>
        </p:spPr>
        <p:txBody>
          <a:bodyPr/>
          <a:lstStyle>
            <a:defPPr>
              <a:defRPr sz="3300" b="1">
                <a:solidFill>
                  <a:srgbClr val="FFFFFF"/>
                </a:solidFill>
                <a:latin typeface="Helvetica Neue"/>
                <a:ea typeface="Helvetica Neue"/>
                <a:cs typeface="Helvetica Neue"/>
              </a:defRPr>
            </a:defPPr>
          </a:lstStyle>
          <a:p>
            <a:pPr>
              <a:buNone/>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Fazit und Fragen</a:t>
            </a:r>
          </a:p>
        </p:txBody>
      </p:sp>
      <p:sp>
        <p:nvSpPr>
          <p:cNvPr id="3" name="Team 15 · Mahmoud El-Hassan &amp; Moayed Shawesh">
            <a:extLst>
              <a:ext uri="{FF2B5EF4-FFF2-40B4-BE49-F238E27FC236}">
                <ns2:creationId id="{1CB83B49-4608-44E1-A957-6DC9D24320CB}"/>
              </a:ext>
            </a:extLst>
          </p:cNvPr>
          <p:cNvSpPr>
            <a:spLocks noGrp="1"/>
          </p:cNvSpPr>
          <p:nvPr/>
        </p:nvSpPr>
        <p:spPr>
          <a:xfrm>
            <a:off x="609600" y="6419850"/>
            <a:ext cx="9906000" cy="266700"/>
          </a:xfrm>
          <a:prstGeom prst="rect">
            <a:avLst/>
          </a:prstGeom>
          <a:noFill/>
          <a:ln w="0">
            <a:noFill/>
          </a:ln>
        </p:spPr>
        <p:txBody>
          <a:bodyPr/>
          <a:lstStyle>
            <a:defPPr>
              <a:defRPr sz="1200" b="0">
                <a:solidFill>
                  <a:srgbClr val="A4C9C4"/>
                </a:solidFill>
                <a:latin typeface="Helvetica Neue"/>
                <a:ea typeface="Helvetica Neue"/>
                <a:cs typeface="Helvetica Neue"/>
              </a:defRPr>
            </a:defPPr>
          </a:lstStyle>
          <a:p>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Team 15 · Mahmoud El-Hassan &amp; Moayed Shawesh</a:t>
            </a:r>
          </a:p>
        </p:txBody>
      </p:sp>
      <p:sp>
        <p:nvSpPr>
          <p:cNvPr id="4" name="11">
            <a:extLst>
              <a:ext uri="{FF2B5EF4-FFF2-40B4-BE49-F238E27FC236}">
                <ns2:creationId id="{8A14202B-BEED-4C86-83A9-C1910B80A040}"/>
              </a:ext>
            </a:extLst>
          </p:cNvPr>
          <p:cNvSpPr>
            <a:spLocks noGrp="1"/>
          </p:cNvSpPr>
          <p:nvPr/>
        </p:nvSpPr>
        <p:spPr>
          <a:xfrm>
            <a:off x="11049000" y="6419850"/>
            <a:ext cx="533400" cy="266700"/>
          </a:xfrm>
          <a:prstGeom prst="rect">
            <a:avLst/>
          </a:prstGeom>
          <a:noFill/>
          <a:ln w="0">
            <a:noFill/>
          </a:ln>
        </p:spPr>
        <p:txBody>
          <a:bodyPr/>
          <a:lstStyle>
            <a:defPPr>
              <a:defRPr sz="1200" b="0">
                <a:solidFill>
                  <a:srgbClr val="A4C9C4"/>
                </a:solidFill>
                <a:latin typeface="Helvetica Neue"/>
                <a:ea typeface="Helvetica Neue"/>
                <a:cs typeface="Helvetica Neue"/>
              </a:defRPr>
            </a:defPPr>
          </a:lstStyle>
          <a:p>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11</a:t>
            </a:r>
          </a:p>
        </p:txBody>
      </p:sp>
      <p:sp>
        <p:nvSpPr>
          <p:cNvPr id="5" name="Merken. Bewerten. Handeln.">
            <a:extLst>
              <a:ext uri="{FF2B5EF4-FFF2-40B4-BE49-F238E27FC236}">
                <ns2:creationId id="{C3776FEB-F865-48ED-AB96-87BA955C5284}"/>
              </a:ext>
            </a:extLst>
          </p:cNvPr>
          <p:cNvSpPr>
            <a:spLocks noGrp="1"/>
          </p:cNvSpPr>
          <p:nvPr/>
        </p:nvSpPr>
        <p:spPr>
          <a:xfrm>
            <a:off x="609600" y="2457450"/>
            <a:ext cx="10972800" cy="857250"/>
          </a:xfrm>
          <a:prstGeom prst="rect">
            <a:avLst/>
          </a:prstGeom>
          <a:noFill/>
          <a:ln w="0">
            <a:noFill/>
          </a:ln>
        </p:spPr>
        <p:txBody>
          <a:bodyPr>
            <a:noAutofit/>
          </a:bodyPr>
          <a:lstStyle>
            <a:defPPr algn="l">
              <a:defRPr sz="4275" b="1">
                <a:solidFill>
                  <a:srgbClr val="FFFFFF"/>
                </a:solidFill>
                <a:latin typeface="Helvetica Neue"/>
                <a:ea typeface="Helvetica Neue"/>
                <a:cs typeface="Helvetica Neue"/>
              </a:defRPr>
            </a:defPPr>
          </a:lstStyle>
          <a:p>
            <a:pPr marL="0" indent="0" algn="l">
              <a:spcBef>
                <a:spcPts val="0"/>
              </a:spcBef>
              <a:spcAft>
                <a:spcPts val="0"/>
              </a:spcAft>
              <a:buNone/>
              <a:defRPr sz="4275" b="1">
                <a:solidFill>
                  <a:srgbClr val="FFFFFF"/>
                </a:solidFill>
                <a:latin typeface="Helvetica Neue"/>
                <a:ea typeface="Helvetica Neue"/>
                <a:cs typeface="Helvetica Neue"/>
              </a:defRPr>
            </a:pPr>
            <a:r>
              <a:rPr sz="4275" b="1">
                <a:solidFill>
                  <a:srgbClr val="FFFFFF"/>
                </a:solidFill>
                <a:latin typeface="Helvetica Neue"/>
                <a:ea typeface="Helvetica Neue"/>
                <a:cs typeface="Helvetica Neue"/>
              </a:rPr>
              <a:t>Gedächtnis + sechs Netze</a:t>
            </a:r>
          </a:p>
        </p:txBody>
      </p:sp>
      <p:sp>
        <p:nvSpPr>
          <p:cNvPr id="6" name="Trainierter Agent · nachvollziehbare Auswertu">
            <a:extLst>
              <a:ext uri="{FF2B5EF4-FFF2-40B4-BE49-F238E27FC236}">
                <ns2:creationId id="{9EDDDC56-3694-49A0-983E-29F72EDAC7BE}"/>
              </a:ext>
            </a:extLst>
          </p:cNvPr>
          <p:cNvSpPr>
            <a:spLocks noGrp="1"/>
          </p:cNvSpPr>
          <p:nvPr/>
        </p:nvSpPr>
        <p:spPr>
          <a:xfrm>
            <a:off x="609600" y="3524250"/>
            <a:ext cx="10972800" cy="1428750"/>
          </a:xfrm>
          <a:prstGeom prst="rect">
            <a:avLst/>
          </a:prstGeom>
          <a:noFill/>
          <a:ln w="0">
            <a:noFill/>
          </a:ln>
        </p:spPr>
        <p:txBody>
          <a:bodyPr>
            <a:noAutofit/>
          </a:bodyPr>
          <a:lstStyle>
            <a:defPPr algn="l">
              <a:defRPr sz="2250" b="0">
                <a:solidFill>
                  <a:srgbClr val="B7D8D0"/>
                </a:solidFill>
                <a:latin typeface="Helvetica Neue"/>
                <a:ea typeface="Helvetica Neue"/>
                <a:cs typeface="Helvetica Neue"/>
              </a:defRPr>
            </a:defPPr>
          </a:lstStyle>
          <a:p>
            <a:pPr marL="330200" indent="-254000" algn="l">
              <a:spcAft>
                <a:spcPts val="1600"/>
              </a:spcAft>
              <a:buFont typeface="Helvetica Neue"/>
              <a:buChar char="–"/>
              <a:defRPr sz="2250" b="0">
                <a:solidFill>
                  <a:srgbClr val="B7D8D0"/>
                </a:solidFill>
                <a:latin typeface="Helvetica Neue"/>
                <a:ea typeface="Helvetica Neue"/>
                <a:cs typeface="Helvetica Neue"/>
              </a:defRPr>
            </a:pPr>
            <a:r>
              <a:rPr sz="2250">
                <a:solidFill>
                  <a:srgbClr val="B7D8D0"/>
                </a:solidFill>
                <a:latin typeface="Helvetica Neue"/>
                <a:ea typeface="Helvetica Neue"/>
                <a:cs typeface="Helvetica Neue"/>
              </a:rPr>
              <a:t>Im Benchmark: 60/60 Siege gegen default, 28/60 gegen Solution_92.</a:t>
            </a:r>
          </a:p>
          <a:p>
            <a:pPr marL="330200" indent="-254000" algn="l">
              <a:spcAft>
                <a:spcPts val="1600"/>
              </a:spcAft>
              <a:buFont typeface="Helvetica Neue"/>
              <a:buChar char="–"/>
              <a:defRPr sz="2250" b="0">
                <a:solidFill>
                  <a:srgbClr val="B7D8D0"/>
                </a:solidFill>
                <a:latin typeface="Helvetica Neue"/>
                <a:ea typeface="Helvetica Neue"/>
                <a:cs typeface="Helvetica Neue"/>
              </a:defRPr>
            </a:pPr>
            <a:r>
              <a:rPr sz="2250">
                <a:solidFill>
                  <a:srgbClr val="B7D8D0"/>
                </a:solidFill>
                <a:latin typeface="Helvetica Neue"/>
                <a:ea typeface="Helvetica Neue"/>
                <a:cs typeface="Helvetica Neue"/>
              </a:rPr>
              <a:t>Nächster Schritt: Frühe Erkundung verbessern und neue Testkarten nutzen.</a:t>
            </a:r>
          </a:p>
        </p:txBody>
      </p:sp>
      <p:sp>
        <p:nvSpPr>
          <p:cNvPr id="7" name="Fragen?">
            <a:extLst>
              <a:ext uri="{FF2B5EF4-FFF2-40B4-BE49-F238E27FC236}">
                <ns2:creationId id="{CD0D7F6A-E443-45D1-AF4A-DFD393C829C7}"/>
              </a:ext>
            </a:extLst>
          </p:cNvPr>
          <p:cNvSpPr>
            <a:spLocks noGrp="1"/>
          </p:cNvSpPr>
          <p:nvPr/>
        </p:nvSpPr>
        <p:spPr>
          <a:xfrm>
            <a:off x="609600" y="5191125"/>
            <a:ext cx="10972800" cy="666750"/>
          </a:xfrm>
          <a:prstGeom prst="rect">
            <a:avLst/>
          </a:prstGeom>
          <a:noFill/>
          <a:ln w="0">
            <a:noFill/>
          </a:ln>
        </p:spPr>
        <p:txBody>
          <a:bodyPr/>
          <a:lstStyle>
            <a:defPPr>
              <a:defRPr sz="3300" b="1">
                <a:solidFill>
                  <a:srgbClr val="FFFFFF"/>
                </a:solidFill>
                <a:latin typeface="Helvetica Neue"/>
                <a:ea typeface="Helvetica Neue"/>
                <a:cs typeface="Helvetica Neue"/>
              </a:defRPr>
            </a:defPPr>
          </a:lstStyle>
          <a:p>
            <a:pPr>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Fragen?</a:t>
            </a:r>
          </a:p>
        </p:txBody>
      </p:sp>
    </p:spTree>
    <p:extLst>
      <p:ext uri="{BB962C8B-B14F-4D97-AF65-F5344CB8AC3E}">
        <ns3:creationId val="108237947"/>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show="0">
  <p:cSld>
    <p:bg>
      <p:bgPr>
        <a:solidFill>
          <a:srgbClr val="F7F7F0"/>
        </a:solidFill>
      </p:bgPr>
    </p:bg>
    <p:spTree>
      <p:nvGrpSpPr>
        <p:cNvPr id="1" name=""/>
        <p:cNvGrpSpPr/>
        <p:nvPr/>
      </p:nvGrpSpPr>
      <p:grpSpPr>
        <a:xfrm/>
      </p:grpSpPr>
      <p:sp>
        <p:nvSpPr>
          <p:cNvPr id="6" name="ANHANG · NUR FÜR RÜCKFRAGEN">
            <a:extLst>
              <a:ext uri="{FF2B5EF4-FFF2-40B4-BE49-F238E27FC236}">
                <ns2:creationId id="{F177653E-E536-403B-B9B3-C246EA5FE864}"/>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ANHANG · NUR FÜR RÜCKFRAGEN</a:t>
            </a:r>
          </a:p>
        </p:txBody>
      </p:sp>
      <p:sp>
        <p:nvSpPr>
          <p:cNvPr id="2" name="Trainingsparameter zum Nachschlagen">
            <a:extLst>
              <a:ext uri="{FF2B5EF4-FFF2-40B4-BE49-F238E27FC236}">
                <ns2:creationId id="{7E4A7D21-E808-4EC1-B186-666944E737D4}"/>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Trainingsparameter</a:t>
            </a:r>
          </a:p>
        </p:txBody>
      </p:sp>
      <p:sp>
        <p:nvSpPr>
          <p:cNvPr id="3" name="Team 15 · Mahmoud El-Hassan &amp; Moayed Shawesh">
            <a:extLst>
              <a:ext uri="{FF2B5EF4-FFF2-40B4-BE49-F238E27FC236}">
                <ns2:creationId id="{09E1306A-8FE0-488E-B1B6-8FED6F7ADC46}"/>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2">
            <a:extLst>
              <a:ext uri="{FF2B5EF4-FFF2-40B4-BE49-F238E27FC236}">
                <ns2:creationId id="{E53BAB6E-C455-4BF4-BBEB-5EB155758CB2}"/>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12</a:t>
            </a:r>
          </a:p>
        </p:txBody>
      </p:sp>
      <p:graphicFrame>
        <p:nvGraphicFramePr>
          <p:cNvPr id="5" name="">
            <a:extLst>
              <a:ext uri="{FF2B5EF4-FFF2-40B4-BE49-F238E27FC236}">
                <ns2:creationId id="{FB9AE093-4AA4-49FB-AE7F-7ACD76F4FB98}"/>
              </a:ext>
            </a:extLst>
          </p:cNvPr>
          <p:cNvGraphicFramePr/>
          <p:nvPr/>
        </p:nvGraphicFramePr>
        <p:xfrm>
          <a:off x="609600" y="1943100"/>
          <a:ext cx="10972800" cy="3943350"/>
        </p:xfrm>
        <a:graphic>
          <a:graphicData uri="http://schemas.openxmlformats.org/drawingml/2006/table">
            <a:tbl>
              <a:tblPr/>
              <a:tblGrid>
                <a:gridCol w="4191000"/>
                <a:gridCol w="6781800"/>
              </a:tblGrid>
              <a:tr h="657225">
                <a:tc>
                  <a:txBody>
                    <a:bodyPr/>
                    <a:lstStyle/>
                    <a:p>
                      <a:r>
                        <a:rPr sz="1950" b="1">
                          <a:solidFill>
                            <a:srgbClr val="FFFFFF"/>
                          </a:solidFill>
                          <a:latin typeface="Helvetica Neue"/>
                          <a:ea typeface="Helvetica Neue"/>
                          <a:cs typeface="Helvetica Neue"/>
                        </a:rPr>
                        <a:t>Parameter</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1950" b="1">
                          <a:solidFill>
                            <a:srgbClr val="FFFFFF"/>
                          </a:solidFill>
                          <a:latin typeface="Helvetica Neue"/>
                          <a:ea typeface="Helvetica Neue"/>
                          <a:cs typeface="Helvetica Neue"/>
                        </a:rPr>
                        <a:t>Wert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57225">
                <a:tc>
                  <a:txBody>
                    <a:bodyPr/>
                    <a:lstStyle/>
                    <a:p>
                      <a:r>
                        <a:rPr sz="1950" b="0">
                          <a:solidFill>
                            <a:srgbClr val="102D35"/>
                          </a:solidFill>
                          <a:latin typeface="Helvetica Neue"/>
                          <a:ea typeface="Helvetica Neue"/>
                          <a:cs typeface="Helvetica Neue"/>
                        </a:rPr>
                        <a:t>γ / Lernrate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0,99 / 0,0003</a:t>
                      </a:r>
                    </a:p>
                  </a:txBody>
                  <a:tcPr marL="91440" marR="91440" marT="45720" marB="45720">
                    <a:lnR w="9525">
                      <a:solidFill>
                        <a:srgbClr val="CFDBD7"/>
                      </a:solidFill>
                      <a:prstDash val="solid"/>
                    </a:lnR>
                    <a:lnB w="9525">
                      <a:solidFill>
                        <a:srgbClr val="CFDBD7"/>
                      </a:solidFill>
                      <a:prstDash val="solid"/>
                    </a:lnB>
                    <a:solidFill>
                      <a:srgbClr val="FFFFFF"/>
                    </a:solidFill>
                  </a:tcPr>
                </a:tc>
              </a:tr>
              <a:tr h="657225">
                <a:tc>
                  <a:txBody>
                    <a:bodyPr/>
                    <a:lstStyle/>
                    <a:p>
                      <a:r>
                        <a:rPr sz="1950" b="0">
                          <a:solidFill>
                            <a:srgbClr val="102D35"/>
                          </a:solidFill>
                          <a:latin typeface="Helvetica Neue"/>
                          <a:ea typeface="Helvetica Neue"/>
                          <a:cs typeface="Helvetica Neue"/>
                        </a:rPr>
                        <a:t>Batch / Buffer-Kapazität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950" b="0">
                          <a:solidFill>
                            <a:srgbClr val="102D35"/>
                          </a:solidFill>
                          <a:latin typeface="Helvetica Neue"/>
                          <a:ea typeface="Helvetica Neue"/>
                          <a:cs typeface="Helvetica Neue"/>
                        </a:rPr>
                        <a:t>256 / 300.000 Einheitenübergänge</a:t>
                      </a:r>
                    </a:p>
                  </a:txBody>
                  <a:tcPr marL="91440" marR="91440" marT="45720" marB="45720">
                    <a:lnR w="9525">
                      <a:solidFill>
                        <a:srgbClr val="CFDBD7"/>
                      </a:solidFill>
                      <a:prstDash val="solid"/>
                    </a:lnR>
                    <a:lnB w="9525">
                      <a:solidFill>
                        <a:srgbClr val="CFDBD7"/>
                      </a:solidFill>
                      <a:prstDash val="solid"/>
                    </a:lnB>
                    <a:solidFill>
                      <a:srgbClr val="EDF2ED"/>
                    </a:solidFill>
                  </a:tcPr>
                </a:tc>
              </a:tr>
              <a:tr h="657225">
                <a:tc>
                  <a:txBody>
                    <a:bodyPr/>
                    <a:lstStyle/>
                    <a:p>
                      <a:r>
                        <a:rPr sz="1950" b="0">
                          <a:solidFill>
                            <a:srgbClr val="102D35"/>
                          </a:solidFill>
                          <a:latin typeface="Helvetica Neue"/>
                          <a:ea typeface="Helvetica Neue"/>
                          <a:cs typeface="Helvetica Neue"/>
                        </a:rPr>
                        <a:t>Lernbeginn / Trainingsintervall</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5.000 Übergänge / alle 2 Umgebungsschritte</a:t>
                      </a:r>
                    </a:p>
                  </a:txBody>
                  <a:tcPr marL="91440" marR="91440" marT="45720" marB="45720">
                    <a:lnR w="9525">
                      <a:solidFill>
                        <a:srgbClr val="CFDBD7"/>
                      </a:solidFill>
                      <a:prstDash val="solid"/>
                    </a:lnR>
                    <a:lnB w="9525">
                      <a:solidFill>
                        <a:srgbClr val="CFDBD7"/>
                      </a:solidFill>
                      <a:prstDash val="solid"/>
                    </a:lnB>
                    <a:solidFill>
                      <a:srgbClr val="FFFFFF"/>
                    </a:solidFill>
                  </a:tcPr>
                </a:tc>
              </a:tr>
              <a:tr h="657225">
                <a:tc>
                  <a:txBody>
                    <a:bodyPr/>
                    <a:lstStyle/>
                    <a:p>
                      <a:r>
                        <a:rPr sz="1950" b="0">
                          <a:solidFill>
                            <a:srgbClr val="102D35"/>
                          </a:solidFill>
                          <a:latin typeface="Helvetica Neue"/>
                          <a:ea typeface="Helvetica Neue"/>
                          <a:cs typeface="Helvetica Neue"/>
                        </a:rPr>
                        <a:t>Target-Kopie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950" b="0">
                          <a:solidFill>
                            <a:srgbClr val="102D35"/>
                          </a:solidFill>
                          <a:latin typeface="Helvetica Neue"/>
                          <a:ea typeface="Helvetica Neue"/>
                          <a:cs typeface="Helvetica Neue"/>
                        </a:rPr>
                        <a:t>Alle 500 Lernupdates</a:t>
                      </a:r>
                    </a:p>
                  </a:txBody>
                  <a:tcPr marL="91440" marR="91440" marT="45720" marB="45720">
                    <a:lnR w="9525">
                      <a:solidFill>
                        <a:srgbClr val="CFDBD7"/>
                      </a:solidFill>
                      <a:prstDash val="solid"/>
                    </a:lnR>
                    <a:lnB w="9525">
                      <a:solidFill>
                        <a:srgbClr val="CFDBD7"/>
                      </a:solidFill>
                      <a:prstDash val="solid"/>
                    </a:lnB>
                    <a:solidFill>
                      <a:srgbClr val="EDF2ED"/>
                    </a:solidFill>
                  </a:tcPr>
                </a:tc>
              </a:tr>
              <a:tr h="657225">
                <a:tc>
                  <a:txBody>
                    <a:bodyPr/>
                    <a:lstStyle/>
                    <a:p>
                      <a:r>
                        <a:rPr sz="1950" b="0">
                          <a:solidFill>
                            <a:srgbClr val="102D35"/>
                          </a:solidFill>
                          <a:latin typeface="Helvetica Neue"/>
                          <a:ea typeface="Helvetica Neue"/>
                          <a:cs typeface="Helvetica Neue"/>
                        </a:rPr>
                        <a:t>Exploration im Training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ε: 1,0 → 0,05 über 60.000 Umgebungsschritte</a:t>
                      </a:r>
                    </a:p>
                  </a:txBody>
                  <a:tcPr marL="91440" marR="91440" marT="45720" marB="45720">
                    <a:lnR w="9525">
                      <a:solidFill>
                        <a:srgbClr val="CFDBD7"/>
                      </a:solidFill>
                      <a:prstDash val="solid"/>
                    </a:lnR>
                    <a:lnB w="9525">
                      <a:solidFill>
                        <a:srgbClr val="CFDBD7"/>
                      </a:solidFill>
                      <a:prstDash val="solid"/>
                    </a:lnB>
                    <a:solidFill>
                      <a:srgbClr val="FFFFFF"/>
                    </a:solidFill>
                  </a:tcPr>
                </a:tc>
              </a:tr>
            </a:tbl>
          </a:graphicData>
        </a:graphic>
      </p:graphicFrame>
    </p:spTree>
    <p:extLst>
      <p:ext uri="{BB962C8B-B14F-4D97-AF65-F5344CB8AC3E}">
        <ns3:creationId val="990433649"/>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show="0">
  <p:cSld>
    <p:bg>
      <p:bgPr>
        <a:solidFill>
          <a:srgbClr val="F7F7F0"/>
        </a:solidFill>
      </p:bgPr>
    </p:bg>
    <p:spTree>
      <p:nvGrpSpPr>
        <p:cNvPr id="1" name=""/>
        <p:cNvGrpSpPr/>
        <p:nvPr/>
      </p:nvGrpSpPr>
      <p:grpSpPr>
        <a:xfrm/>
      </p:grpSpPr>
      <p:sp>
        <p:nvSpPr>
          <p:cNvPr id="7" name="ANHANG · NUR FÜR RÜCKFRAGEN">
            <a:extLst>
              <a:ext uri="{FF2B5EF4-FFF2-40B4-BE49-F238E27FC236}">
                <ns2:creationId id="{E59EC4EC-419C-4120-9CCD-4BFE6A1022E3}"/>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ANHANG · NUR FÜR RÜCKFRAGEN</a:t>
            </a:r>
          </a:p>
        </p:txBody>
      </p:sp>
      <p:sp>
        <p:nvSpPr>
          <p:cNvPr id="2" name="Was wird gelernt – und was ist vorgegeben?">
            <a:extLst>
              <a:ext uri="{FF2B5EF4-FFF2-40B4-BE49-F238E27FC236}">
                <ns2:creationId id="{ECD25D0A-D38B-4DFB-AB7A-BCF7584715E7}"/>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Gelernt und programmiert</a:t>
            </a:r>
          </a:p>
        </p:txBody>
      </p:sp>
      <p:sp>
        <p:nvSpPr>
          <p:cNvPr id="3" name="Team 15 · Mahmoud El-Hassan &amp; Moayed Shawesh">
            <a:extLst>
              <a:ext uri="{FF2B5EF4-FFF2-40B4-BE49-F238E27FC236}">
                <ns2:creationId id="{BFC3E7A7-2DFF-4AC6-8D0B-764621CF79AE}"/>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3">
            <a:extLst>
              <a:ext uri="{FF2B5EF4-FFF2-40B4-BE49-F238E27FC236}">
                <ns2:creationId id="{FAA950BE-A905-442D-9E9B-FAF916D99A96}"/>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13</a:t>
            </a:r>
          </a:p>
        </p:txBody>
      </p:sp>
      <p:graphicFrame>
        <p:nvGraphicFramePr>
          <p:cNvPr id="5" name="">
            <a:extLst>
              <a:ext uri="{FF2B5EF4-FFF2-40B4-BE49-F238E27FC236}">
                <ns2:creationId id="{FBACD6E0-199C-4746-9FAC-E1E9396F5178}"/>
              </a:ext>
            </a:extLst>
          </p:cNvPr>
          <p:cNvGraphicFramePr/>
          <p:nvPr/>
        </p:nvGraphicFramePr>
        <p:xfrm>
          <a:off x="609600" y="2009775"/>
          <a:ext cx="10972800" cy="3219450"/>
        </p:xfrm>
        <a:graphic>
          <a:graphicData uri="http://schemas.openxmlformats.org/drawingml/2006/table">
            <a:tbl>
              <a:tblPr/>
              <a:tblGrid>
                <a:gridCol w="5048250"/>
                <a:gridCol w="5924550"/>
              </a:tblGrid>
              <a:tr h="643890">
                <a:tc>
                  <a:txBody>
                    <a:bodyPr/>
                    <a:lstStyle/>
                    <a:p>
                      <a:r>
                        <a:rPr sz="2100" b="1">
                          <a:solidFill>
                            <a:srgbClr val="FFFFFF"/>
                          </a:solidFill>
                          <a:latin typeface="Helvetica Neue"/>
                          <a:ea typeface="Helvetica Neue"/>
                          <a:cs typeface="Helvetica Neue"/>
                        </a:rPr>
                        <a:t>Gelernt</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100" b="1">
                          <a:solidFill>
                            <a:srgbClr val="FFFFFF"/>
                          </a:solidFill>
                          <a:latin typeface="Helvetica Neue"/>
                          <a:ea typeface="Helvetica Neue"/>
                          <a:cs typeface="Helvetica Neue"/>
                        </a:rPr>
                        <a:t>Programmiert / festgelegt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43890">
                <a:tc>
                  <a:txBody>
                    <a:bodyPr/>
                    <a:lstStyle/>
                    <a:p>
                      <a:r>
                        <a:rPr sz="2100" b="0">
                          <a:solidFill>
                            <a:srgbClr val="102D35"/>
                          </a:solidFill>
                          <a:latin typeface="Helvetica Neue"/>
                          <a:ea typeface="Helvetica Neue"/>
                          <a:cs typeface="Helvetica Neue"/>
                        </a:rPr>
                        <a:t>Q-Werte und Aktionspräferenzen</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Belief, Merkmale und Reward Shaping</a:t>
                      </a:r>
                    </a:p>
                  </a:txBody>
                  <a:tcPr marL="91440" marR="91440" marT="45720" marB="45720">
                    <a:lnR w="9525">
                      <a:solidFill>
                        <a:srgbClr val="CFDBD7"/>
                      </a:solidFill>
                      <a:prstDash val="solid"/>
                    </a:lnR>
                    <a:lnB w="9525">
                      <a:solidFill>
                        <a:srgbClr val="CFDBD7"/>
                      </a:solidFill>
                      <a:prstDash val="solid"/>
                    </a:lnB>
                    <a:solidFill>
                      <a:srgbClr val="FFFFFF"/>
                    </a:solidFill>
                  </a:tcPr>
                </a:tc>
              </a:tr>
              <a:tr h="643890">
                <a:tc>
                  <a:txBody>
                    <a:bodyPr/>
                    <a:lstStyle/>
                    <a:p>
                      <a:r>
                        <a:rPr sz="2100" b="0">
                          <a:solidFill>
                            <a:srgbClr val="102D35"/>
                          </a:solidFill>
                          <a:latin typeface="Helvetica Neue"/>
                          <a:ea typeface="Helvetica Neue"/>
                          <a:cs typeface="Helvetica Neue"/>
                        </a:rPr>
                        <a:t>Gewichte der sechs Netze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Zielzuweisung und erlaubte Aktionen</a:t>
                      </a:r>
                    </a:p>
                  </a:txBody>
                  <a:tcPr marL="91440" marR="91440" marT="45720" marB="45720">
                    <a:lnR w="9525">
                      <a:solidFill>
                        <a:srgbClr val="CFDBD7"/>
                      </a:solidFill>
                      <a:prstDash val="solid"/>
                    </a:lnR>
                    <a:lnB w="9525">
                      <a:solidFill>
                        <a:srgbClr val="CFDBD7"/>
                      </a:solidFill>
                      <a:prstDash val="solid"/>
                    </a:lnB>
                    <a:solidFill>
                      <a:srgbClr val="EDF2ED"/>
                    </a:solidFill>
                  </a:tcPr>
                </a:tc>
              </a:tr>
              <a:tr h="643890">
                <a:tc>
                  <a:txBody>
                    <a:bodyPr/>
                    <a:lstStyle/>
                    <a:p>
                      <a:r>
                        <a:rPr sz="2100" b="0">
                          <a:solidFill>
                            <a:srgbClr val="102D35"/>
                          </a:solidFill>
                          <a:latin typeface="Helvetica Neue"/>
                          <a:ea typeface="Helvetica Neue"/>
                          <a:cs typeface="Helvetica Neue"/>
                        </a:rPr>
                        <a:t>Bewertung der Aktion Sap</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Konkretes Sap-Ziel</a:t>
                      </a:r>
                    </a:p>
                  </a:txBody>
                  <a:tcPr marL="91440" marR="91440" marT="45720" marB="45720">
                    <a:lnR w="9525">
                      <a:solidFill>
                        <a:srgbClr val="CFDBD7"/>
                      </a:solidFill>
                      <a:prstDash val="solid"/>
                    </a:lnR>
                    <a:lnB w="9525">
                      <a:solidFill>
                        <a:srgbClr val="CFDBD7"/>
                      </a:solidFill>
                      <a:prstDash val="solid"/>
                    </a:lnB>
                    <a:solidFill>
                      <a:srgbClr val="FFFFFF"/>
                    </a:solidFill>
                  </a:tcPr>
                </a:tc>
              </a:tr>
              <a:tr h="643890">
                <a:tc>
                  <a:txBody>
                    <a:bodyPr/>
                    <a:lstStyle/>
                    <a:p>
                      <a:r>
                        <a:rPr sz="2100" b="0">
                          <a:solidFill>
                            <a:srgbClr val="102D35"/>
                          </a:solidFill>
                          <a:latin typeface="Helvetica Neue"/>
                          <a:ea typeface="Helvetica Neue"/>
                          <a:cs typeface="Helvetica Neue"/>
                        </a:rPr>
                        <a:t>Entscheidung aus Netzbewertungen</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Mittelwertbildung im Ensemble</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6" name="Double DQN = Lernverfahren · Dueling = Archit">
            <a:extLst>
              <a:ext uri="{FF2B5EF4-FFF2-40B4-BE49-F238E27FC236}">
                <ns2:creationId id="{0B522DC7-02EC-4CC4-81AC-35CCCA5A35FC}"/>
              </a:ext>
            </a:extLst>
          </p:cNvPr>
          <p:cNvSpPr>
            <a:spLocks noGrp="1"/>
          </p:cNvSpPr>
          <p:nvPr/>
        </p:nvSpPr>
        <p:spPr>
          <a:xfrm>
            <a:off x="609600" y="5591175"/>
            <a:ext cx="10972800" cy="619125"/>
          </a:xfrm>
          <a:prstGeom prst="rect">
            <a:avLst/>
          </a:prstGeom>
          <a:noFill/>
          <a:ln w="0">
            <a:noFill/>
          </a:ln>
        </p:spPr>
        <p:txBody>
          <a:bodyPr/>
          <a:lstStyle>
            <a:defPPr>
              <a:defRPr sz="1875" b="1">
                <a:solidFill>
                  <a:srgbClr val="007D7B"/>
                </a:solidFill>
                <a:latin typeface="Helvetica Neue"/>
                <a:ea typeface="Helvetica Neue"/>
                <a:cs typeface="Helvetica Neue"/>
              </a:defRPr>
            </a:defPPr>
          </a:lstStyle>
          <a:p>
            <a:pPr>
              <a:defRPr sz="1875" b="1">
                <a:solidFill>
                  <a:srgbClr val="007D7B"/>
                </a:solidFill>
                <a:latin typeface="Helvetica Neue"/>
                <a:ea typeface="Helvetica Neue"/>
                <a:cs typeface="Helvetica Neue"/>
              </a:defRPr>
            </a:pPr>
            <a:r>
              <a:rPr sz="1875" b="1">
                <a:solidFill>
                  <a:srgbClr val="007D7B"/>
                </a:solidFill>
                <a:latin typeface="Helvetica Neue"/>
                <a:ea typeface="Helvetica Neue"/>
                <a:cs typeface="Helvetica Neue"/>
              </a:rPr>
              <a:t>Double DQN = Lernverfahren · Dueling = Architektur · Ensemble = Kombination</a:t>
            </a:r>
          </a:p>
        </p:txBody>
      </p:sp>
    </p:spTree>
    <p:extLst>
      <p:ext uri="{BB962C8B-B14F-4D97-AF65-F5344CB8AC3E}">
        <ns3:creationId val="19125782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2026-10-14T13:28:30.3020000Z</dcterms:created>
  <dcterms:modified xsi:type="dcterms:W3CDTF">2026-10-14T13:28:30.3020000Z</dcterms:modified>
</coreProperties>
</file>