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Override PartName="/ppt/slides/slide2.xml" ContentType="application/vnd.openxmlformats-officedocument.presentationml.slide+xml"/>
  <Override PartName="/ppt/notesSlides/notesSlide2.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88597de8b214953" /><Relationship Type="http://schemas.openxmlformats.org/officeDocument/2006/relationships/extended-properties" Target="/docProps/app.xml" Id="Rbfb54d9a7eb34117" /><Relationship Type="http://schemas.openxmlformats.org/officeDocument/2006/relationships/officeDocument" Target="/ppt/presentation.xml" Id="R8f10c3f039cc4215" /></Relationships>
</file>

<file path=ppt/presentation.xml><?xml version="1.0" encoding="utf-8"?>
<p:presentation xmlns:p="http://schemas.openxmlformats.org/presentationml/2006/main" xmlns:r="http://schemas.openxmlformats.org/officeDocument/2006/relationships">
  <p:sldMasterIdLst>
    <p:sldMasterId id="2147483648" r:id="Rd53c6d305e6d4d2c"/>
  </p:sldMasterIdLst>
  <p:notesMasterIdLst>
    <p:notesMasterId r:id="R037e31a0b2814472"/>
  </p:notesMasterIdLst>
  <p:sldIdLst>
    <p:sldId id="256" r:id="Rdfe272e66ea8428c"/>
    <p:sldId id="269" r:id="rIdAgenda20261015"/>
    <p:sldId id="257" r:id="R866c04c225d34bad"/>
    <p:sldId id="258" r:id="Rbe5b31d8e6704758"/>
    <p:sldId id="259" r:id="R3cbb029642a2410a"/>
    <p:sldId id="260" r:id="R83d06ea26f714a1e"/>
    <p:sldId id="261" r:id="R0a7ba96cb70543df"/>
    <p:sldId id="262" r:id="Reece4f0d48964c47"/>
    <p:sldId id="263" r:id="Rf2e3dfae2c4c46f6"/>
    <p:sldId id="264" r:id="R60833eb504304b20"/>
    <p:sldId id="265" r:id="Rded6d969fc204e7b"/>
    <p:sldId id="266" r:id="R14fd2b0f78a1438d"/>
    <p:sldId id="267" r:id="Rb6dbdcbeed01465d"/>
    <p:sldId id="268" r:id="Rd16c706467ac45df"/>
    <p:sldId id="270" r:id="rIdReward2026101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ns0:Relationships xmlns:ns0="http://schemas.openxmlformats.org/package/2006/relationships"><ns0:Relationship Type="http://schemas.openxmlformats.org/officeDocument/2006/relationships/theme" Target="/ppt/theme/theme1.xml" Id="R91a2ef6a44104fbc" /><ns0:Relationship Type="http://schemas.openxmlformats.org/officeDocument/2006/relationships/slideMaster" Target="/ppt/slideMasters/slideMaster1.xml" Id="Rd53c6d305e6d4d2c" /><ns0:Relationship Type="http://schemas.openxmlformats.org/officeDocument/2006/relationships/notesMaster" Target="/ppt/notesMasters/notesMaster1.xml" Id="R037e31a0b2814472" /><ns0:Relationship Type="http://schemas.openxmlformats.org/officeDocument/2006/relationships/presProps" Target="/ppt/presProps.xml" Id="R3aa6213fb1944323" /><ns0:Relationship Type="http://schemas.openxmlformats.org/officeDocument/2006/relationships/tableStyles" Target="/ppt/tableStyles.xml" Id="Rbd898802a16f4a26" /><ns0:Relationship Type="http://schemas.openxmlformats.org/officeDocument/2006/relationships/slide" Target="/ppt/slides/slide1.xml" Id="Rdfe272e66ea8428c" /><ns0:Relationship Type="http://schemas.openxmlformats.org/officeDocument/2006/relationships/slide" Target="/ppt/slides/slide3.xml" Id="R866c04c225d34bad" /><ns0:Relationship Type="http://schemas.openxmlformats.org/officeDocument/2006/relationships/slide" Target="/ppt/slides/slide4.xml" Id="Rbe5b31d8e6704758" /><ns0:Relationship Type="http://schemas.openxmlformats.org/officeDocument/2006/relationships/slide" Target="/ppt/slides/slide5.xml" Id="R3cbb029642a2410a" /><ns0:Relationship Type="http://schemas.openxmlformats.org/officeDocument/2006/relationships/slide" Target="/ppt/slides/slide6.xml" Id="R83d06ea26f714a1e" /><ns0:Relationship Type="http://schemas.openxmlformats.org/officeDocument/2006/relationships/slide" Target="/ppt/slides/slide7.xml" Id="R0a7ba96cb70543df" /><ns0:Relationship Type="http://schemas.openxmlformats.org/officeDocument/2006/relationships/slide" Target="/ppt/slides/slide8.xml" Id="Reece4f0d48964c47" /><ns0:Relationship Type="http://schemas.openxmlformats.org/officeDocument/2006/relationships/slide" Target="/ppt/slides/slide9.xml" Id="Rf2e3dfae2c4c46f6" /><ns0:Relationship Type="http://schemas.openxmlformats.org/officeDocument/2006/relationships/slide" Target="/ppt/slides/slide10.xml" Id="R60833eb504304b20" /><ns0:Relationship Type="http://schemas.openxmlformats.org/officeDocument/2006/relationships/slide" Target="/ppt/slides/slide11.xml" Id="Rded6d969fc204e7b" /><ns0:Relationship Type="http://schemas.openxmlformats.org/officeDocument/2006/relationships/slide" Target="/ppt/slides/slide12.xml" Id="R14fd2b0f78a1438d" /><ns0:Relationship Type="http://schemas.openxmlformats.org/officeDocument/2006/relationships/slide" Target="/ppt/slides/slide13.xml" Id="Rb6dbdcbeed01465d" /><ns0:Relationship Type="http://schemas.openxmlformats.org/officeDocument/2006/relationships/slide" Target="/ppt/slides/slide14.xml" Id="Rd16c706467ac45df" /><ns0:Relationship Type="http://schemas.openxmlformats.org/officeDocument/2006/relationships/slide" Target="/ppt/slides/slide2.xml" Id="rIdAgenda20261015" /><ns0:Relationship Type="http://schemas.openxmlformats.org/officeDocument/2006/relationships/slide" Target="/ppt/slides/slide15.xml" Id="rIdReward20261015" /></ns0: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8e162c2cf18499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26c8887f97e4208" /><Relationship Type="http://schemas.openxmlformats.org/officeDocument/2006/relationships/notesMaster" Target="/ppt/notesMasters/notesMaster1.xml" Id="Re52bab0537a64e45" /></Relationships>
</file>

<file path=ppt/notesSlides/_rels/notesSlide2.xml.rels><?xml version='1.0' encoding='utf-8'?>
<ns0:Relationships xmlns:ns0="http://schemas.openxmlformats.org/package/2006/relationships"><ns0:Relationship Type="http://schemas.openxmlformats.org/officeDocument/2006/relationships/slide" Target="/ppt/slides/slide2.xml" Id="R70eeabb678bb41df" /><ns0:Relationship Type="http://schemas.openxmlformats.org/officeDocument/2006/relationships/notesMaster" Target="/ppt/notesMasters/notesMaster1.xml" Id="Rfdb4fde70c6a4e3c" /></ns0:Relationships>
</file>

<file path=ppt/notesSlides/_rels/notesSlide3.xml.rels><?xml version='1.0' encoding='utf-8'?>
<ns0:Relationships xmlns:ns0="http://schemas.openxmlformats.org/package/2006/relationships"><ns0:Relationship Type="http://schemas.openxmlformats.org/officeDocument/2006/relationships/slide" Target="/ppt/slides/slide3.xml" Id="R7384cd001fa64694" /><ns0:Relationship Type="http://schemas.openxmlformats.org/officeDocument/2006/relationships/notesMaster" Target="/ppt/notesMasters/notesMaster1.xml" Id="R6360937fea6b4359" /></ns0:Relationships>
</file>

<file path=ppt/notesSlides/_rels/notesSlide4.xml.rels><?xml version='1.0' encoding='utf-8'?>
<ns0:Relationships xmlns:ns0="http://schemas.openxmlformats.org/package/2006/relationships"><ns0:Relationship Type="http://schemas.openxmlformats.org/officeDocument/2006/relationships/slide" Target="/ppt/slides/slide4.xml" Id="R70eeabb678bb41df" /><ns0:Relationship Type="http://schemas.openxmlformats.org/officeDocument/2006/relationships/notesMaster" Target="/ppt/notesMasters/notesMaster1.xml" Id="Rfdb4fde70c6a4e3c" /></ns0:Relationships>
</file>

<file path=ppt/notesSlides/_rels/notesSlide5.xml.rels><?xml version='1.0' encoding='utf-8'?>
<ns0:Relationships xmlns:ns0="http://schemas.openxmlformats.org/package/2006/relationships"><ns0:Relationship Type="http://schemas.openxmlformats.org/officeDocument/2006/relationships/slide" Target="/ppt/slides/slide5.xml" Id="R35c247f594c8437c" /><ns0:Relationship Type="http://schemas.openxmlformats.org/officeDocument/2006/relationships/notesMaster" Target="/ppt/notesMasters/notesMaster1.xml" Id="R539dec01121c493e" /></ns0:Relationships>
</file>

<file path=ppt/notesSlides/_rels/notesSlide6.xml.rels><?xml version='1.0' encoding='utf-8'?>
<ns0:Relationships xmlns:ns0="http://schemas.openxmlformats.org/package/2006/relationships"><ns0:Relationship Type="http://schemas.openxmlformats.org/officeDocument/2006/relationships/slide" Target="/ppt/slides/slide6.xml" Id="R73880a44e2184fa7" /><ns0:Relationship Type="http://schemas.openxmlformats.org/officeDocument/2006/relationships/notesMaster" Target="/ppt/notesMasters/notesMaster1.xml" Id="R66b3e5a55d744ca7" /></ns0:Relationships>
</file>

<file path=ppt/notesSlides/_rels/notesSlide7.xml.rels><?xml version='1.0' encoding='utf-8'?>
<ns0:Relationships xmlns:ns0="http://schemas.openxmlformats.org/package/2006/relationships"><ns0:Relationship Type="http://schemas.openxmlformats.org/officeDocument/2006/relationships/slide" Target="/ppt/slides/slide7.xml" Id="R70441864a35a412a" /><ns0:Relationship Type="http://schemas.openxmlformats.org/officeDocument/2006/relationships/notesMaster" Target="/ppt/notesMasters/notesMaster1.xml" Id="R2a4c8d4b774a4ed1" /></ns0:Relationships>
</file>

<file path=ppt/notesSlides/_rels/notesSlide8.xml.rels><?xml version='1.0' encoding='utf-8'?>
<ns0:Relationships xmlns:ns0="http://schemas.openxmlformats.org/package/2006/relationships"><ns0:Relationship Type="http://schemas.openxmlformats.org/officeDocument/2006/relationships/slide" Target="/ppt/slides/slide8.xml" Id="R6993ff94d99343d3" /><ns0:Relationship Type="http://schemas.openxmlformats.org/officeDocument/2006/relationships/notesMaster" Target="/ppt/notesMasters/notesMaster1.xml" Id="R096679c2211842c2" /></ns0:Relationships>
</file>

<file path=ppt/notesSlides/_rels/notesSlide9.xml.rels><?xml version='1.0' encoding='utf-8'?>
<ns0:Relationships xmlns:ns0="http://schemas.openxmlformats.org/package/2006/relationships"><ns0:Relationship Type="http://schemas.openxmlformats.org/officeDocument/2006/relationships/slide" Target="/ppt/slides/slide9.xml" Id="R3affb78eebe84c77" /><ns0:Relationship Type="http://schemas.openxmlformats.org/officeDocument/2006/relationships/notesMaster" Target="/ppt/notesMasters/notesMaster1.xml" Id="R119d3a4b345b4969" /></ns0:Relationships>
</file>

<file path=ppt/notesSlides/_rels/notesSlide10.xml.rels><?xml version='1.0' encoding='utf-8'?>
<ns0:Relationships xmlns:ns0="http://schemas.openxmlformats.org/package/2006/relationships"><ns0:Relationship Type="http://schemas.openxmlformats.org/officeDocument/2006/relationships/slide" Target="/ppt/slides/slide10.xml" Id="Rea0132aa2fdc4521" /><ns0:Relationship Type="http://schemas.openxmlformats.org/officeDocument/2006/relationships/notesMaster" Target="/ppt/notesMasters/notesMaster1.xml" Id="R667f019913b84146" /></ns0:Relationships>
</file>

<file path=ppt/notesSlides/_rels/notesSlide11.xml.rels><?xml version='1.0' encoding='utf-8'?>
<ns0:Relationships xmlns:ns0="http://schemas.openxmlformats.org/package/2006/relationships"><ns0:Relationship Type="http://schemas.openxmlformats.org/officeDocument/2006/relationships/slide" Target="/ppt/slides/slide11.xml" Id="R4b96c3d9212e477a" /><ns0:Relationship Type="http://schemas.openxmlformats.org/officeDocument/2006/relationships/notesMaster" Target="/ppt/notesMasters/notesMaster1.xml" Id="Ra3e69de76b17497b" /></ns0:Relationships>
</file>

<file path=ppt/notesSlides/_rels/notesSlide12.xml.rels><?xml version='1.0' encoding='utf-8'?>
<ns0:Relationships xmlns:ns0="http://schemas.openxmlformats.org/package/2006/relationships"><ns0:Relationship Type="http://schemas.openxmlformats.org/officeDocument/2006/relationships/slide" Target="/ppt/slides/slide12.xml" Id="R95ee6fde01444dbf" /><ns0:Relationship Type="http://schemas.openxmlformats.org/officeDocument/2006/relationships/notesMaster" Target="/ppt/notesMasters/notesMaster1.xml" Id="R1cb44dbe89094fdb" /></ns0:Relationships>
</file>

<file path=ppt/notesSlides/_rels/notesSlide13.xml.rels><?xml version='1.0' encoding='utf-8'?>
<ns0:Relationships xmlns:ns0="http://schemas.openxmlformats.org/package/2006/relationships"><ns0:Relationship Type="http://schemas.openxmlformats.org/officeDocument/2006/relationships/slide" Target="/ppt/slides/slide13.xml" Id="R554ac1e4beb64167" /><ns0:Relationship Type="http://schemas.openxmlformats.org/officeDocument/2006/relationships/notesMaster" Target="/ppt/notesMasters/notesMaster1.xml" Id="Rfe98a0ddb59c4759" /></ns0:Relationships>
</file>

<file path=ppt/notesSlides/_rels/notesSlide14.xml.rels><?xml version='1.0' encoding='utf-8'?>
<ns0:Relationships xmlns:ns0="http://schemas.openxmlformats.org/package/2006/relationships"><ns0:Relationship Type="http://schemas.openxmlformats.org/officeDocument/2006/relationships/slide" Target="/ppt/slides/slide14.xml" Id="Re4cbb78241b2403d" /><ns0:Relationship Type="http://schemas.openxmlformats.org/officeDocument/2006/relationships/notesMaster" Target="/ppt/notesMasters/notesMaster1.xml" Id="Rd85b07bd13eb4aac" /></ns0:Relationships>
</file>

<file path=ppt/notesSlides/_rels/notesSlide15.xml.rels><?xml version='1.0' encoding='utf-8'?>
<ns0:Relationships xmlns:ns0="http://schemas.openxmlformats.org/package/2006/relationships"><ns0:Relationship Type="http://schemas.openxmlformats.org/officeDocument/2006/relationships/slide" Target="/ppt/slides/slide15.xml" Id="R554ac1e4beb64167" /><ns0:Relationship Type="http://schemas.openxmlformats.org/officeDocument/2006/relationships/notesMaster" Target="/ppt/notesMasters/notesMaster1.xml" Id="Rfe98a0ddb59c4759" /></ns0: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Moayed · 30 Sekunden</a:t>
            </a:r>
          </a:p>
          <a:p xmlns:a="http://schemas.openxmlformats.org/drawingml/2006/main">
            <a:r>
              <a:t/>
            </a:r>
          </a:p>
          <a:p xmlns:a="http://schemas.openxmlformats.org/drawingml/2006/main">
            <a:r>
              <a:t>Wir sind Mahmoud und Moayed, Team 15. Unser Agent heißt Sherlock. Er spielt Lux AI Season 3 und verbindet gelerntes Verhalten mit einem Gedächtnis für die Karte. Wir zeigen zuerst die Spielidee und den Ablauf, dann das Training und zum Schluss Ergebnisse und ein Beispiel. Unser Stand ist das Sechser-Ensemble old3_sym3.</a:t>
            </a:r>
          </a:p>
          <a:p xmlns:a="http://schemas.openxmlformats.org/drawingml/2006/main">
            <a:r>
              <a:t/>
            </a:r>
          </a:p>
          <a:p xmlns:a="http://schemas.openxmlformats.org/drawingml/2006/main">
            <a:r>
              <a:t>Quellen / Nachweise (Repository, Stand 14.10.2026):</a:t>
            </a:r>
          </a:p>
          <a:p xmlns:a="http://schemas.openxmlformats.org/drawingml/2006/main">
            <a:r>
              <a:t>README.md</a:t>
            </a:r>
          </a:p>
          <a:p xmlns:a="http://schemas.openxmlformats.org/drawingml/2006/main">
            <a:r>
              <a:t>CLAUDE.md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Moayed · 20 Sekunden</a:t>
            </a:r>
          </a:p>
          <a:p xmlns:a="http://schemas.openxmlformats.org/drawingml/2006/main">
            <a:r>
              <a:t/>
            </a:r>
          </a:p>
          <a:p xmlns:a="http://schemas.openxmlformats.org/drawingml/2006/main">
            <a:r>
              <a:t>Wir beginnen mit der Spielidee und dem Aufbau unseres Agenten. Danach zeigen wir seine Merkmale, die Netzarchitektur und das Lernverfahren. Anschließend geht es um Training und Auswertung. Zum Schluss folgen unsere Ergebnisse, ein Spielbeispiel und die nächsten Schritte.</a:t>
            </a:r>
          </a:p>
          <a:p xmlns:a="http://schemas.openxmlformats.org/drawingml/2006/main">
            <a:r>
              <a:t/>
            </a:r>
          </a:p>
          <a:p xmlns:a="http://schemas.openxmlformats.org/drawingml/2006/main">
            <a:r>
              <a:t>Gliederung der eigenen Sherlock-Präsentation.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Moayed · 60 Sekunden</a:t>
            </a:r>
          </a:p>
          <a:p xmlns:a="http://schemas.openxmlformats.org/drawingml/2006/main">
            <a:r>
              <a:t/>
            </a:r>
          </a:p>
          <a:p xmlns:a="http://schemas.openxmlformats.org/drawingml/2006/main">
            <a:r>
              <a:t>Lux AI ist ein Strategiespiel auf einer Karte mit 24 mal 24 Feldern. Zwei Teams steuern jeweils bis zu 16 Einheiten. Im Kurs besteht ein Spiel aus drei Matches. Wer mehr Matches gewinnt, gewinnt das Spiel. Die Herausforderung ist, dass der Agent nicht die ganze Karte sieht und die Punktefelder zunächst unbekannt sind. Er muss erkunden, Energie sinnvoll einsetzen und die unsichtbaren Punktefelder finden und besetzen. Deshalb braucht er ein Gedächtnis. Auf dem Bild ist Sherlock blau und der Gegner rot. Die gelben Markierungen gehören zu Relics und Punktefeldern. Wichtig: Das ist die vollständige Replay-Ansicht für uns Zuschauer. Der Agent bekommt diese vollständige Information nicht.</a:t>
            </a:r>
          </a:p>
          <a:p xmlns:a="http://schemas.openxmlformats.org/drawingml/2006/main">
            <a:r>
              <a:t/>
            </a:r>
          </a:p>
          <a:p xmlns:a="http://schemas.openxmlformats.org/drawingml/2006/main">
            <a:r>
              <a:t>Quellen / Nachweise (Repository, Stand 14.10.2026):</a:t>
            </a:r>
          </a:p>
          <a:p xmlns:a="http://schemas.openxmlformats.org/drawingml/2006/main">
            <a:r>
              <a:t>lux/specs.md</a:t>
            </a:r>
          </a:p>
          <a:p xmlns:a="http://schemas.openxmlformats.org/drawingml/2006/main">
            <a:r>
              <a:t>lux/Instructions.md</a:t>
            </a:r>
          </a:p>
          <a:p xmlns:a="http://schemas.openxmlformats.org/drawingml/2006/main">
            <a:r>
              <a:t>CLAUDE.md</a:t>
            </a:r>
          </a:p>
          <a:p xmlns:a="http://schemas.openxmlformats.org/drawingml/2006/main">
            <a:r>
              <a:t>docs/presentation/replays/sherlock_sieg_vs_default.json · Frame 61</a:t>
            </a:r>
          </a:p>
          <a:p xmlns:a="http://schemas.openxmlformats.org/drawingml/2006/main">
            <a:r>
              <a:t>Screenshot: https://s3vis.lux-ai.org/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Moayed · 55 Sekunden</a:t>
            </a:r>
          </a:p>
          <a:p>
            <a:r>
              <a:t/>
            </a:r>
          </a:p>
          <a:p>
            <a:r>
              <a:t>Links stehen die drei Grundideen, rechts derselbe Ablauf als Pseudocode. Bei jedem Spielschritt aktualisiert Sherlock zuerst sein Gedächtnis mit den neuen Beobachtungen. Für jede eigene aktive Einheit berechnet er dann 79 Merkmale. Sechs trainierte Netze bewerten ihre möglichen Aktionen; wir mitteln diese Bewertungen und wählen die beste erlaubte Aktion. Die Aktionen aller Einheiten gehen anschließend an das Spiel. Das Gedächtnis folgt programmierten Regeln, die Netzbewertungen wurden gelernt. Beim Spielen bleiben die Gewichte fest. Der Pseudocode zeigt den vereinfachten Hauptablauf. Mahmoud erklärt jetzt die Merkmale und das Training.</a:t>
            </a:r>
          </a:p>
          <a:p>
            <a:r>
              <a:t/>
            </a:r>
          </a:p>
          <a:p>
            <a:r>
              <a:t>Quellen / Nachweise (Repository, Stand 14.10.2026):</a:t>
            </a:r>
          </a:p>
          <a:p>
            <a:r>
              <a:t>agents/sherlock/main.py</a:t>
            </a:r>
          </a:p>
          <a:p>
            <a:r>
              <a:t>agents/sherlock/belief.py</a:t>
            </a:r>
          </a:p>
          <a:p>
            <a:r>
              <a:t>agents/sherlock/model.py
Gestaltungsreferenz: team20-presentation3.pdf, Folie 4 (vom Team bereitgestellt).
Vereinfachung: Match-Reset, Sap-Zielwahl und Aktionsformat sind nicht ausgeschrieben.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Mahmoud · 65 Sekunden</a:t>
            </a:r>
          </a:p>
          <a:p xmlns:a="http://schemas.openxmlformats.org/drawingml/2006/main">
            <a:r>
              <a:t/>
            </a:r>
          </a:p>
          <a:p xmlns:a="http://schemas.openxmlformats.org/drawingml/2006/main">
            <a:r>
              <a:t>Wir verwenden ein MLP mit 79 numerischen Merkmalen pro Einheit, keine vollständige Bildkarte. Die Merkmale beschreiben zum Beispiel Energie und Position, Umgebung, Ziele und Gegner. Das Belief speichert bekannte Relics, erkundete Bereiche und erschlossene Punktefelder. Vereinfachtes Beispiel: Eine einzige eigene Einheit steht auf einem noch unbekannten Kandidatenfeld und der Punktestand steigt um eins. Unter diesen Voraussetzungen lässt sich das Feld als Punktefeld erkennen. Bei mehreren Kandidaten braucht man weitere Beobachtungen. Außerdem verwenden wir die Kartensymmetrie. Davon zu unterscheiden sind kanonische Koordinaten: Beide Spielseiten werden aus vergleichbarer Perspektive beschrieben. Diese Regeln liefern Informationen an die gelernte Aktionsbewertung; sie ersetzen sie nicht.</a:t>
            </a:r>
          </a:p>
          <a:p xmlns:a="http://schemas.openxmlformats.org/drawingml/2006/main">
            <a:r>
              <a:t/>
            </a:r>
          </a:p>
          <a:p xmlns:a="http://schemas.openxmlformats.org/drawingml/2006/main">
            <a:r>
              <a:t>Quellen / Nachweise (Repository, Stand 14.10.2026):</a:t>
            </a:r>
          </a:p>
          <a:p xmlns:a="http://schemas.openxmlformats.org/drawingml/2006/main">
            <a:r>
              <a:t>agents/sherlock/features.py</a:t>
            </a:r>
          </a:p>
          <a:p xmlns:a="http://schemas.openxmlformats.org/drawingml/2006/main">
            <a:r>
              <a:t>agents/sherlock/belief.py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Mahmoud · 65 Sekunden</a:t>
            </a:r>
          </a:p>
          <a:p xmlns:a="http://schemas.openxmlformats.org/drawingml/2006/main">
            <a:r>
              <a:t/>
            </a:r>
          </a:p>
          <a:p xmlns:a="http://schemas.openxmlformats.org/drawingml/2006/main">
            <a:r>
              <a:t>Jedes Mitglied des Ensembles ist ein Dueling-Netz. Es bekommt 79 Merkmale. Der gemeinsame Teil besteht aus zwei voll verbundenen Schichten mit jeweils 256 Neuronen und ReLU. Danach gibt es einen Kopf für den Zustandswert und einen Kopf für die Vorteile der sechs Aktionen; beide haben eine Zwischenschicht mit 128 Neuronen. Daraus entstehen sechs Q-Werte. Beim Spielen mitteln wir die Q-Werte der sechs trainierten Netze und wählen dann die beste erlaubte Aktion. Drei Netze wurden ohne, drei mit Spiegelsymmetrie im Gedächtnis trainiert; beim Spielen ist die Symmetrie für alle aktiv. Die sechs Aktionen sind Stehenbleiben, vier Bewegungsrichtungen und Sap. Das konkrete Sap-Ziel wird heuristisch gewählt. Double DQN bezeichnet unser Lernverfahren, Dueling die Netzarchitektur und Ensemble die Kombination mehrerer trainierter Netze.</a:t>
            </a:r>
          </a:p>
          <a:p xmlns:a="http://schemas.openxmlformats.org/drawingml/2006/main">
            <a:r>
              <a:t/>
            </a:r>
          </a:p>
          <a:p xmlns:a="http://schemas.openxmlformats.org/drawingml/2006/main">
            <a:r>
              <a:t>Quellen / Nachweise (Repository, Stand 15.10.2026):</a:t>
            </a:r>
          </a:p>
          <a:p xmlns:a="http://schemas.openxmlformats.org/drawingml/2006/main">
            <a:r>
              <a:t>agents/sherlock/model.py</a:t>
            </a:r>
          </a:p>
          <a:p xmlns:a="http://schemas.openxmlformats.org/drawingml/2006/main">
            <a:r>
              <a:t>agents/sherlock/main.py</a:t>
            </a:r>
          </a:p>
          <a:p xmlns:a="http://schemas.openxmlformats.org/drawingml/2006/main">
            <a:r>
              <a:t>agents/sherlock/weights/agent_p0.pth · gespeicherte cfg und ensemble_sources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Mahmoud · 75 Sekunden</a:t>
            </a:r>
          </a:p>
          <a:p xmlns:a="http://schemas.openxmlformats.org/drawingml/2006/main">
            <a:r>
              <a:t/>
            </a:r>
          </a:p>
          <a:p xmlns:a="http://schemas.openxmlformats.org/drawingml/2006/main">
            <a:r>
              <a:t>Im Training sammeln wir Erfahrungen pro Einheit: Situation, Aktion, Belohnung und Folgesituation. Zufällige Mini-Batches aus dem Replay Buffer verringern die direkte Abhängigkeit aufeinanderfolgender Erfahrungen. Double DQN trennt die Wahl der nächsten Aktion von ihrer Bewertung: Das aktuelle Online-Netz wählt die beste erlaubte Folgeaktion, das verzögert aktualisierte Target-Netz bewertet genau diese Aktion. Aus Belohnung und diskontiertem Folgewert entsteht das Lernziel. Am Ende eines Übergangs entfällt der Folgewert. Das Online-Netz wird an dieses Ziel angepasst; das Target-Netz wird alle 500 Lernupdates kopiert. Im Training probiert der Agent mit abnehmender Wahrscheinlichkeit Aktionen aus. Zusätzlich zu Punkten und Matchsiegen gibt es Shaping-Signale, etwa für Annäherung, Erkundung und Energie. Deren Gestaltung ist eine Modellierungsentscheidung mit eigenen Grenzen.</a:t>
            </a:r>
          </a:p>
          <a:p xmlns:a="http://schemas.openxmlformats.org/drawingml/2006/main">
            <a:r>
              <a:t/>
            </a:r>
          </a:p>
          <a:p xmlns:a="http://schemas.openxmlformats.org/drawingml/2006/main">
            <a:r>
              <a:t>Quellen / Nachweise (Repository, Stand 14.10.2026):</a:t>
            </a:r>
          </a:p>
          <a:p xmlns:a="http://schemas.openxmlformats.org/drawingml/2006/main">
            <a:r>
              <a:t>agents/sherlock/main.py · _learn und epsilon</a:t>
            </a:r>
          </a:p>
          <a:p xmlns:a="http://schemas.openxmlformats.org/drawingml/2006/main">
            <a:r>
              <a:t>agents/sherlock/replay_buffer.py</a:t>
            </a:r>
          </a:p>
          <a:p xmlns:a="http://schemas.openxmlformats.org/drawingml/2006/main">
            <a:r>
              <a:t>agents/sherlock/reward.py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Mahmoud · 65 Sekunden</a:t>
            </a:r>
          </a:p>
          <a:p>
            <a:r>
              <a:t/>
            </a:r>
          </a:p>
          <a:p>
            <a:r>
              <a:t>Die sechs Basisläufe umfassen jeweils 3.000 Spiele, zusammen 18.000. Die ausgewählten Checkpoints können früher liegen. Zuerst trainieren wir gegen default, danach abwechselnd gegen default und Solution_92. Checkpoints wählen wir auf getrennten Validierungskarten. Rechts stehen die wichtigsten Einstellungen: Lernrate 0,0003, Gamma 0,99, Batchgröße 256 und 300.000 Einheitenübergänge im Buffer. Epsilon steuert die zufällige Exploration: Es sinkt über 60.000 Umgebungsschritte von eins auf 0,05. Das Target-Netz wird alle 500 Lernupdates aktualisiert. In der Auswertung spielen wir beide Seiten mit Epsilon null und festen Gewichten. Moayed zeigt jetzt die Ergebnisse.</a:t>
            </a:r>
          </a:p>
          <a:p>
            <a:r>
              <a:t/>
            </a:r>
          </a:p>
          <a:p>
            <a:r>
              <a:t>Quellen / Nachweise (Repository, Stand 14.10.2026):</a:t>
            </a:r>
          </a:p>
          <a:p>
            <a:r>
              <a:t>experiments/runs/20261010_full_s{0,1,2}/manifest.json</a:t>
            </a:r>
          </a:p>
          <a:p>
            <a:r>
              <a:t>experiments/runs/20261011_full_sym_s{0,1,2}/manifest.json</a:t>
            </a:r>
          </a:p>
          <a:p>
            <a:r>
              <a:t>scripts/protocol.py</a:t>
            </a:r>
          </a:p>
          <a:p>
            <a:r>
              <a:t>agents/sherlock/weights/agent_p0.pth · cfg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Moayed · 65 Sekunden</a:t>
            </a:r>
          </a:p>
          <a:p xmlns:a="http://schemas.openxmlformats.org/drawingml/2006/main">
            <a:r>
              <a:t/>
            </a:r>
          </a:p>
          <a:p xmlns:a="http://schemas.openxmlformats.org/drawingml/2006/main">
            <a:r>
              <a:t>Hier sehen wir die Ergebnisse des aktuellen Agenten. Gegen default gewinnt Sherlock 60 von 60 Spielen. Gegen den stärkeren regelbasierten Gegner Solution_92 sind es 28 von 60, also ungefähr 47 Prozent. Pro Gegner wurden 30 Karten auf beiden Spielseiten gespielt. Damit sind es 60 Spiele, aber nicht 60 unabhängige Karten. Diese Zahlen wurden mit den unveränderten Gewichten erneut bestätigt. Wir sollten daraus nicht ableiten, dass Sherlock immer gegen default gewinnt: Das Ergebnis gilt für diese Stichprobe. Außerdem wurden die Karten im Projekt bereits mehrfach ausgewertet. Für eine unabhängige Schlussbewertung brauchen wir später neue, zurückgehaltene Karten. Insgesamt funktioniert unser Ansatz, aber gegen den stärkeren Gegner gibt es noch deutliches Verbesserungspotenzial.</a:t>
            </a:r>
          </a:p>
          <a:p xmlns:a="http://schemas.openxmlformats.org/drawingml/2006/main">
            <a:r>
              <a:t/>
            </a:r>
          </a:p>
          <a:p xmlns:a="http://schemas.openxmlformats.org/drawingml/2006/main">
            <a:r>
              <a:t>Quellen / Nachweise (Repository, Stand 14.10.2026):</a:t>
            </a:r>
          </a:p>
          <a:p xmlns:a="http://schemas.openxmlformats.org/drawingml/2006/main">
            <a:r>
              <a:t>experiments/compare/TEST_old3_sym3_points_v2.csv</a:t>
            </a:r>
          </a:p>
          <a:p xmlns:a="http://schemas.openxmlformats.org/drawingml/2006/main">
            <a:r>
              <a:t>experiments/compare/TEST_old3_sym3_points_v2.json</a:t>
            </a:r>
          </a:p>
          <a:p xmlns:a="http://schemas.openxmlformats.org/drawingml/2006/main">
            <a:r>
              <a:t>docs/STATISTIK_20261014.md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Moayed · 80 Sekunden</a:t>
            </a:r>
          </a:p>
          <a:p xmlns:a="http://schemas.openxmlformats.org/drawingml/2006/main">
            <a:r>
              <a:t/>
            </a:r>
          </a:p>
          <a:p xmlns:a="http://schemas.openxmlformats.org/drawingml/2006/main">
            <a:r>
              <a:t>Das sind zwei echte Bilder aus demselben Spiel gegen default. Sherlock ist blau, der Gegner rot. Links, bei Schritt 23, sind unsere Einheiten noch über die Karte verteilt und beide Teams haben null Punkte. Rechts, bei Schritt 90 im ersten Match, stehen viele blaue Einheiten im Bereich der gelb markierten Punktefelder. Der Zwischenstand ist 374 zu 11. Man sieht: Bewegung allein ist nicht das Ziel. Sobald geeignete Punktefelder bekannt sind, kann Stehenbleiben sinnvoll sein, weil ein besetztes Feld wiederholt Punkte bringt. Das Gedächtnis hilft dabei, einmal gewonnene Informationen weiterzuverwenden. Die Bilder zeigen die vollständige Zuschaueransicht, nicht den Wissensstand des Agenten. Dieses Spiel veranschaulicht einen gelungenen Ablauf; es beweist nicht, dass Sherlock in jedem Spiel so handelt. Die Niederlagen gegen Solution_92 gehören ebenfalls zu unserer Auswertung.</a:t>
            </a:r>
          </a:p>
          <a:p xmlns:a="http://schemas.openxmlformats.org/drawingml/2006/main">
            <a:r>
              <a:t/>
            </a:r>
          </a:p>
          <a:p xmlns:a="http://schemas.openxmlformats.org/drawingml/2006/main">
            <a:r>
              <a:t>Quellen / Nachweise (Repository, Stand 14.10.2026):</a:t>
            </a:r>
          </a:p>
          <a:p xmlns:a="http://schemas.openxmlformats.org/drawingml/2006/main">
            <a:r>
              <a:t>docs/presentation/replays/sherlock_sieg_vs_default.json · Frames 23 und 90</a:t>
            </a:r>
          </a:p>
          <a:p xmlns:a="http://schemas.openxmlformats.org/drawingml/2006/main">
            <a:r>
              <a:t>Screenshot: https://s3vis.lux-ai.org/ · Seed 900011, Sherlock player_0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Mahmoud · 65 Sekunden</a:t>
            </a:r>
          </a:p>
          <a:p xmlns:a="http://schemas.openxmlformats.org/drawingml/2006/main">
            <a:r>
              <a:t/>
            </a:r>
          </a:p>
          <a:p xmlns:a="http://schemas.openxmlformats.org/drawingml/2006/main">
            <a:r>
              <a:t>Drei Erkenntnisse. Erstens: Am meisten haben gezielte Verbesserungen gebracht. Wir haben Niederlagen ausgewertet und daraus konkrete Änderungen abgeleitet. Die Karte ist spiegelsymmetrisch: Wer ein Relic sieht, kennt auch das gegenüberliegende. Außerdem merkt sich der Agent jetzt über Matches hinweg, welche Gebiete er schon erkundet hat; vorher fand er auf manchen Karten nie ein Relic. Zusammen mit sechs statt einem Netz stieg die Siegquote gegen Solution_92 auf denselben 30 Testkarten von 12 auf 28 von 60 Spielen. Zweitens: Weitertraining und Self-Play haben in unseren Versuchen keinen klaren Zusatzgewinn gebracht; das ist keine allgemeine Aussage über diese Verfahren. Drittens: Im ersten Match finden wir Relics oft spät. Als Nächstes wollen wir das beschleunigen und auf neuen, bisher unbenutzten Testkarten prüfen.</a:t>
            </a:r>
          </a:p>
          <a:p xmlns:a="http://schemas.openxmlformats.org/drawingml/2006/main">
            <a:r>
              <a:t/>
            </a:r>
          </a:p>
          <a:p xmlns:a="http://schemas.openxmlformats.org/drawingml/2006/main">
            <a:r>
              <a:t>Quellen / Nachweise (Repository, Stand 15.10.2026):</a:t>
            </a:r>
          </a:p>
          <a:p xmlns:a="http://schemas.openxmlformats.org/drawingml/2006/main">
            <a:r>
              <a:t>Hintergrund, nicht vorlesen: gepaarter Karten-Bootstrap (scripts/compare_report.py) altes Einzelnetz full_s0 gegen old3_sym3, je 30 Karten × 2 Seiten: Solution_92 +26,7 pp, 95-%-KI [+13,3; +41,7]; default +15,0 pp, KI [+3,3; +28,3]. Ohne Korrektur für Mehrfachvergleiche und Modellauswahl; die Testkarten wurden mehrfach ausgewertet. Der Kandidat m1_early (frühere Inferenz) ist untersucht, aber nicht aktiv. Vor weiterem Training prüfen wir Reward und Einheitenübergänge.</a:t>
            </a:r>
          </a:p>
          <a:p xmlns:a="http://schemas.openxmlformats.org/drawingml/2006/main">
            <a:r>
              <a:t>experiments/compare/TEST_full_s0.csv</a:t>
            </a:r>
          </a:p>
          <a:p xmlns:a="http://schemas.openxmlformats.org/drawingml/2006/main">
            <a:r>
              <a:t>experiments/compare/TEST_old3_sym3_points_v2.csv</a:t>
            </a:r>
          </a:p>
          <a:p xmlns:a="http://schemas.openxmlformats.org/drawingml/2006/main">
            <a:r>
              <a:t>docs/EXPERIMENT_PROTOKOLL.md</a:t>
            </a:r>
          </a:p>
          <a:p xmlns:a="http://schemas.openxmlformats.org/drawingml/2006/main">
            <a:r>
              <a:t>docs/ARBEITSSTAND.md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Moayed · 25 Sekunden</a:t>
            </a:r>
          </a:p>
          <a:p>
            <a:r>
              <a:t/>
            </a:r>
          </a:p>
          <a:p>
            <a:r>
              <a:t>Sherlock verbindet ein Gedächtnis für die Karte mit sechs trainierten Netzen. Auf unserem Benchmark gewinnen wir alle 60 Spiele gegen default und 28 von 60 gegen Solution_92. Gegen den stärkeren Gegner bleibt also Verbesserungspotenzial. Als Nächstes wollen wir die frühe Erkundung verbessern und auf neuen Karten prüfen. Vielen Dank – welche Fragen habt ihr?</a:t>
            </a:r>
          </a:p>
          <a:p>
            <a:r>
              <a:t/>
            </a:r>
          </a:p>
          <a:p>
            <a:r>
              <a:t>Quellen / Nachweise (Repository, Stand 14.10.2026):</a:t>
            </a:r>
          </a:p>
          <a:p>
            <a:r>
              <a:t>README.md</a:t>
            </a:r>
          </a:p>
          <a:p>
            <a:r>
              <a:t>docs/EXPERIMENT_PROTOKOLL.md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Mahmoud · nur bei Rückfragen</a:t>
            </a:r>
          </a:p>
          <a:p xmlns:a="http://schemas.openxmlformats.org/drawingml/2006/main">
            <a:r>
              <a:t/>
            </a:r>
          </a:p>
          <a:p xmlns:a="http://schemas.openxmlformats.org/drawingml/2006/main">
            <a:r>
              <a:t>Reservefolie, nicht Teil des geplanten Vortrags. Diese Werte sind in der Konfiguration des aktuellen Ensemble-Checkpoints und in den sechs Laufmanifesten hinterlegt. 5.000 beim Lernbeginn bezeichnet Einheitenübergänge im Buffer, keine Spiele und keine Umgebungsschritte. Ein Update alle zwei Umgebungsschritte, sobald genügend Übergänge vorliegen. Target-Kopie nach 500 Lernupdates. Die sechs Läufe werden jeweils 3.000 Spiele trainiert; die aus der Validierung ausgewählten Gewichte können von einem früheren Checkpoint stammen.</a:t>
            </a:r>
          </a:p>
          <a:p xmlns:a="http://schemas.openxmlformats.org/drawingml/2006/main">
            <a:r>
              <a:t/>
            </a:r>
          </a:p>
          <a:p xmlns:a="http://schemas.openxmlformats.org/drawingml/2006/main">
            <a:r>
              <a:t>Quellen / Nachweise (Repository, Stand 14.10.2026):</a:t>
            </a:r>
          </a:p>
          <a:p xmlns:a="http://schemas.openxmlformats.org/drawingml/2006/main">
            <a:r>
              <a:t>agents/sherlock/weights/agent_p0.pth · cfg</a:t>
            </a:r>
          </a:p>
          <a:p xmlns:a="http://schemas.openxmlformats.org/drawingml/2006/main">
            <a:r>
              <a:t>agents/sherlock/main.py</a:t>
            </a:r>
          </a:p>
          <a:p xmlns:a="http://schemas.openxmlformats.org/drawingml/2006/main">
            <a:r>
              <a:t>experiments/runs/*full*/manifest.json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Mahmoud · nur bei Rückfragen</a:t>
            </a:r>
          </a:p>
          <a:p xmlns:a="http://schemas.openxmlformats.org/drawingml/2006/main">
            <a:r>
              <a:t/>
            </a:r>
          </a:p>
          <a:p xmlns:a="http://schemas.openxmlformats.org/drawingml/2006/main">
            <a:r>
              <a:t>Reservefolie. Q bezeichnet eine geschätzte zukünftige Belohnung für eine Aktion. Dueling: Q(s,a)=V(s)+A(s,a)−Mittelwert_a A(s,a). Double DQN trennt Auswahl und Bewertung beim Lernziel. Belief ist eine regelbasierte Zustandsrekonstruktion, kein Zugriff auf versteckte Engine-Daten. Die Punktezählung außerhalb des Agenten nutzt für die Auswertung zusätzliche Endzustandsinformationen; diese dürfen nicht als Agentenwissen dargestellt werden. Die Mess- und Statistikkorrekturen verbessern die Bewertung, nicht die Spielstärke.</a:t>
            </a:r>
          </a:p>
          <a:p xmlns:a="http://schemas.openxmlformats.org/drawingml/2006/main">
            <a:r>
              <a:t/>
            </a:r>
          </a:p>
          <a:p xmlns:a="http://schemas.openxmlformats.org/drawingml/2006/main">
            <a:r>
              <a:t>Quellen / Nachweise (Repository, Stand 14.10.2026):</a:t>
            </a:r>
          </a:p>
          <a:p xmlns:a="http://schemas.openxmlformats.org/drawingml/2006/main">
            <a:r>
              <a:t>agents/sherlock/model.py</a:t>
            </a:r>
          </a:p>
          <a:p xmlns:a="http://schemas.openxmlformats.org/drawingml/2006/main">
            <a:r>
              <a:t>agents/sherlock/belief.py</a:t>
            </a:r>
          </a:p>
          <a:p xmlns:a="http://schemas.openxmlformats.org/drawingml/2006/main">
            <a:r>
              <a:t>agents/sherlock/main.py</a:t>
            </a:r>
          </a:p>
          <a:p xmlns:a="http://schemas.openxmlformats.org/drawingml/2006/main">
            <a:r>
              <a:t>scripts/scoring.py</a:t>
            </a:r>
          </a:p>
          <a:p xmlns:a="http://schemas.openxmlformats.org/drawingml/2006/main">
            <a:r>
              <a:t>docs/ARBEITSSTAND.md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Mahmoud · nur bei Rückfragen</a:t>
            </a:r>
          </a:p>
          <a:p xmlns:a="http://schemas.openxmlformats.org/drawingml/2006/main">
            <a:r>
              <a:t/>
            </a:r>
          </a:p>
          <a:p xmlns:a="http://schemas.openxmlformats.org/drawingml/2006/main">
            <a:r>
              <a:t>Reservefolie, nicht Teil des geplanten Vortrags. Das Spiel liefert nur am Matchende ein Team-Signal; für DQN ist das zu spärlich. Deshalb bekommt jede Einheit in jedem Schritt eine eigene Belohnung. Wichtigster Teil: Wer zuerst auf einem bewiesenen Punktefeld steht, bekommt +1; eine zweite Einheit auf demselben Feld bekommt einen Abzug, weil das Feld nur einmal zählt. Die Annäherung ans zugewiesene Ziel ist potentialbasiertes Shaping nach Ng, Harada und Russell (1999): Potential gleich minus Abstand zum Ziel. Erkundungs- und Entdeckungsbonus werden auf das Team aufgeteilt. Ein gewonnenes Match gibt jeder Einheit +2. Bekannte offene Punkte für das nächste Training: Punktebelohnung bei negativer Energie, terminales Potential und wiederverwendete Einheiten-IDs.</a:t>
            </a:r>
          </a:p>
          <a:p xmlns:a="http://schemas.openxmlformats.org/drawingml/2006/main">
            <a:r>
              <a:t/>
            </a:r>
          </a:p>
          <a:p xmlns:a="http://schemas.openxmlformats.org/drawingml/2006/main">
            <a:r>
              <a:t>Quellen / Nachweise (Repository, Stand 15.10.2026):</a:t>
            </a:r>
          </a:p>
          <a:p xmlns:a="http://schemas.openxmlformats.org/drawingml/2006/main">
            <a:r>
              <a:t>agents/sherlock/reward.py</a:t>
            </a:r>
          </a:p>
          <a:p xmlns:a="http://schemas.openxmlformats.org/drawingml/2006/main">
            <a:r>
              <a:t>agents/sherlock/config.py</a:t>
            </a:r>
          </a:p>
          <a:p xmlns:a="http://schemas.openxmlformats.org/drawingml/2006/main">
            <a:r>
              <a:t>experiments/runs/*full*/manifest.json · gleiche Gewichte in allen sechs Basisläufen</a:t>
            </a:r>
          </a:p>
          <a:p xmlns:a="http://schemas.openxmlformats.org/drawingml/2006/main">
            <a:r>
              <a:t>docs/ARBEITSSTAND.md · offene Punkte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8695de834ea4c6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9f9390f9e65420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3c8b74a0ff2449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3d723d75ae74fb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57724438b9e4e6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feacb49b9de4cc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448DD10-AA67-4A32-9866-9CC6FB01D51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6E2D3A5-7EF1-4DB0-B420-9AD299DDA96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AE5DC03-CAEE-48AB-B043-30A655D2080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6CF7064-840E-46BB-9479-9F86D4DF52D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B2123A1-11C0-4253-8B3E-4BCE1273E93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BC3F73A-4FA6-4321-AE78-68D98269A09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AB3749C-CF16-426F-86B9-87803603666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64BDEF0-225F-4DF4-A5AE-E02BF7DD2EE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6563297-5404-4949-A58D-4995C36B350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A6DC87D-E215-429E-AB8F-47B9420361D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d7efccaf4384ba1" /><Relationship Type="http://schemas.openxmlformats.org/officeDocument/2006/relationships/slideLayout" Target="/ppt/slideLayouts/slideLayout1.xml" Id="Rcaad67143e894af8" /><Relationship Type="http://schemas.openxmlformats.org/officeDocument/2006/relationships/slideLayout" Target="/ppt/slideLayouts/slideLayout2.xml" Id="R6255941941d24076" /><Relationship Type="http://schemas.openxmlformats.org/officeDocument/2006/relationships/slideLayout" Target="/ppt/slideLayouts/slideLayout3.xml" Id="R40a0de0888ff45b0" /><Relationship Type="http://schemas.openxmlformats.org/officeDocument/2006/relationships/slideLayout" Target="/ppt/slideLayouts/slideLayout4.xml" Id="R4df33b8f505d46eb" /><Relationship Type="http://schemas.openxmlformats.org/officeDocument/2006/relationships/slideLayout" Target="/ppt/slideLayouts/slideLayout5.xml" Id="R8d15538b7c224fea" /><Relationship Type="http://schemas.openxmlformats.org/officeDocument/2006/relationships/slideLayout" Target="/ppt/slideLayouts/slideLayout6.xml" Id="R63b25995d550422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aad67143e894af8"/>
    <p:sldLayoutId xmlns:r="http://schemas.openxmlformats.org/officeDocument/2006/relationships" id="2147483650" r:id="R6255941941d24076"/>
    <p:sldLayoutId xmlns:r="http://schemas.openxmlformats.org/officeDocument/2006/relationships" id="2147483651" r:id="R40a0de0888ff45b0"/>
    <p:sldLayoutId xmlns:r="http://schemas.openxmlformats.org/officeDocument/2006/relationships" id="2147483652" r:id="R4df33b8f505d46eb"/>
    <p:sldLayoutId xmlns:r="http://schemas.openxmlformats.org/officeDocument/2006/relationships" id="2147483653" r:id="R8d15538b7c224fea"/>
    <p:sldLayoutId xmlns:r="http://schemas.openxmlformats.org/officeDocument/2006/relationships" id="2147483654" r:id="R63b25995d550422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8f7a30a52554a54" /><Relationship Type="http://schemas.openxmlformats.org/officeDocument/2006/relationships/notesSlide" Target="/ppt/notesSlides/notesSlide1.xml" Id="Rb89ed8dfb955401e" /></Relationships>
</file>

<file path=ppt/slides/_rels/slide2.xml.rels><?xml version='1.0' encoding='utf-8'?>
<ns0:Relationships xmlns:ns0="http://schemas.openxmlformats.org/package/2006/relationships"><ns0:Relationship Type="http://schemas.openxmlformats.org/officeDocument/2006/relationships/slideLayout" Target="/ppt/slideLayouts/slideLayout6.xml" Id="R19427d34a42b4980" /><ns0:Relationship Type="http://schemas.openxmlformats.org/officeDocument/2006/relationships/notesSlide" Target="/ppt/notesSlides/notesSlide2.xml" Id="R679f0b19d8f14a63" /></ns0:Relationships>
</file>

<file path=ppt/slides/_rels/slide3.xml.rels><?xml version='1.0' encoding='utf-8'?>
<ns0:Relationships xmlns:ns0="http://schemas.openxmlformats.org/package/2006/relationships"><ns0:Relationship Type="http://schemas.openxmlformats.org/officeDocument/2006/relationships/slideLayout" Target="/ppt/slideLayouts/slideLayout6.xml" Id="Rbba449adcbc54912" /><ns0:Relationship Type="http://schemas.openxmlformats.org/officeDocument/2006/relationships/image" Target="/ppt/media/image.jpeg" Id="R05965ca62d664334" /><ns0:Relationship Type="http://schemas.openxmlformats.org/officeDocument/2006/relationships/notesSlide" Target="/ppt/notesSlides/notesSlide3.xml" Id="R7b8137189ca54ab2" /></ns0:Relationships>
</file>

<file path=ppt/slides/_rels/slide4.xml.rels><?xml version='1.0' encoding='utf-8'?>
<ns0:Relationships xmlns:ns0="http://schemas.openxmlformats.org/package/2006/relationships"><ns0:Relationship Type="http://schemas.openxmlformats.org/officeDocument/2006/relationships/slideLayout" Target="/ppt/slideLayouts/slideLayout6.xml" Id="R19427d34a42b4980" /><ns0:Relationship Type="http://schemas.openxmlformats.org/officeDocument/2006/relationships/notesSlide" Target="/ppt/notesSlides/notesSlide4.xml" Id="R679f0b19d8f14a63" /></ns0:Relationships>
</file>

<file path=ppt/slides/_rels/slide5.xml.rels><?xml version='1.0' encoding='utf-8'?>
<ns0:Relationships xmlns:ns0="http://schemas.openxmlformats.org/package/2006/relationships"><ns0:Relationship Type="http://schemas.openxmlformats.org/officeDocument/2006/relationships/slideLayout" Target="/ppt/slideLayouts/slideLayout6.xml" Id="R15abf5c94d9c49ea" /><ns0:Relationship Type="http://schemas.openxmlformats.org/officeDocument/2006/relationships/notesSlide" Target="/ppt/notesSlides/notesSlide5.xml" Id="R3d6c86f53e2d40e2" /></ns0:Relationships>
</file>

<file path=ppt/slides/_rels/slide6.xml.rels><?xml version='1.0' encoding='utf-8'?>
<ns0:Relationships xmlns:ns0="http://schemas.openxmlformats.org/package/2006/relationships"><ns0:Relationship Type="http://schemas.openxmlformats.org/officeDocument/2006/relationships/slideLayout" Target="/ppt/slideLayouts/slideLayout6.xml" Id="R512109faced8492c" /><ns0:Relationship Type="http://schemas.openxmlformats.org/officeDocument/2006/relationships/notesSlide" Target="/ppt/notesSlides/notesSlide6.xml" Id="Rdf20c7be0244440b" /></ns0:Relationships>
</file>

<file path=ppt/slides/_rels/slide7.xml.rels><?xml version='1.0' encoding='utf-8'?>
<ns0:Relationships xmlns:ns0="http://schemas.openxmlformats.org/package/2006/relationships"><ns0:Relationship Type="http://schemas.openxmlformats.org/officeDocument/2006/relationships/slideLayout" Target="/ppt/slideLayouts/slideLayout6.xml" Id="R3992919a23b948ba" /><ns0:Relationship Type="http://schemas.openxmlformats.org/officeDocument/2006/relationships/notesSlide" Target="/ppt/notesSlides/notesSlide7.xml" Id="R662d6f0ac040494f" /></ns0:Relationships>
</file>

<file path=ppt/slides/_rels/slide8.xml.rels><?xml version='1.0' encoding='utf-8'?>
<ns0:Relationships xmlns:ns0="http://schemas.openxmlformats.org/package/2006/relationships"><ns0:Relationship Type="http://schemas.openxmlformats.org/officeDocument/2006/relationships/slideLayout" Target="/ppt/slideLayouts/slideLayout6.xml" Id="Ra85854c462784ba0" /><ns0:Relationship Type="http://schemas.openxmlformats.org/officeDocument/2006/relationships/notesSlide" Target="/ppt/notesSlides/notesSlide8.xml" Id="R7f789faf62fd4e0b" /></ns0:Relationships>
</file>

<file path=ppt/slides/_rels/slide9.xml.rels><?xml version='1.0' encoding='utf-8'?>
<ns0:Relationships xmlns:ns0="http://schemas.openxmlformats.org/package/2006/relationships"><ns0:Relationship Type="http://schemas.openxmlformats.org/officeDocument/2006/relationships/slideLayout" Target="/ppt/slideLayouts/slideLayout6.xml" Id="Rde8bbdc213e44b5a" /><ns0:Relationship Type="http://schemas.openxmlformats.org/officeDocument/2006/relationships/chart" Target="/ppt/slides/charts/chart1.xml" Id="Rc37e7090310d4e88" /><ns0:Relationship Type="http://schemas.openxmlformats.org/officeDocument/2006/relationships/notesSlide" Target="/ppt/notesSlides/notesSlide9.xml" Id="R4e1493f15cc14b59" /></ns0:Relationships>
</file>

<file path=ppt/slides/_rels/slide10.xml.rels><?xml version='1.0' encoding='utf-8'?>
<ns0:Relationships xmlns:ns0="http://schemas.openxmlformats.org/package/2006/relationships"><ns0:Relationship Type="http://schemas.openxmlformats.org/officeDocument/2006/relationships/slideLayout" Target="/ppt/slideLayouts/slideLayout6.xml" Id="R1f203f0f4e8d4521" /><ns0:Relationship Type="http://schemas.openxmlformats.org/officeDocument/2006/relationships/image" Target="/ppt/media/image2.jpeg" Id="Re2337e6fc3c2434d" /><ns0:Relationship Type="http://schemas.openxmlformats.org/officeDocument/2006/relationships/image" Target="/ppt/media/image3.jpeg" Id="R4c0eb88b0e674139" /><ns0:Relationship Type="http://schemas.openxmlformats.org/officeDocument/2006/relationships/notesSlide" Target="/ppt/notesSlides/notesSlide10.xml" Id="Rdda7bab43f614b72" /></ns0:Relationships>
</file>

<file path=ppt/slides/_rels/slide11.xml.rels><?xml version='1.0' encoding='utf-8'?>
<ns0:Relationships xmlns:ns0="http://schemas.openxmlformats.org/package/2006/relationships"><ns0:Relationship Type="http://schemas.openxmlformats.org/officeDocument/2006/relationships/slideLayout" Target="/ppt/slideLayouts/slideLayout6.xml" Id="R26f3b5b0382043c7" /><ns0:Relationship Type="http://schemas.openxmlformats.org/officeDocument/2006/relationships/notesSlide" Target="/ppt/notesSlides/notesSlide11.xml" Id="R9fc80f2778664fbc" /></ns0:Relationships>
</file>

<file path=ppt/slides/_rels/slide12.xml.rels><?xml version='1.0' encoding='utf-8'?>
<ns0:Relationships xmlns:ns0="http://schemas.openxmlformats.org/package/2006/relationships"><ns0:Relationship Type="http://schemas.openxmlformats.org/officeDocument/2006/relationships/slideLayout" Target="/ppt/slideLayouts/slideLayout6.xml" Id="Rfa0a6c13e2114d47" /><ns0:Relationship Type="http://schemas.openxmlformats.org/officeDocument/2006/relationships/notesSlide" Target="/ppt/notesSlides/notesSlide12.xml" Id="Ra7d880b3c4b14fa3" /></ns0:Relationships>
</file>

<file path=ppt/slides/_rels/slide13.xml.rels><?xml version='1.0' encoding='utf-8'?>
<ns0:Relationships xmlns:ns0="http://schemas.openxmlformats.org/package/2006/relationships"><ns0:Relationship Type="http://schemas.openxmlformats.org/officeDocument/2006/relationships/slideLayout" Target="/ppt/slideLayouts/slideLayout6.xml" Id="R9fbbe7d3a6a84d92" /><ns0:Relationship Type="http://schemas.openxmlformats.org/officeDocument/2006/relationships/notesSlide" Target="/ppt/notesSlides/notesSlide13.xml" Id="R6784dc4c57b24bfd" /></ns0:Relationships>
</file>

<file path=ppt/slides/_rels/slide14.xml.rels><?xml version='1.0' encoding='utf-8'?>
<ns0:Relationships xmlns:ns0="http://schemas.openxmlformats.org/package/2006/relationships"><ns0:Relationship Type="http://schemas.openxmlformats.org/officeDocument/2006/relationships/slideLayout" Target="/ppt/slideLayouts/slideLayout6.xml" Id="R76ae5d1a8deb45ca" /><ns0:Relationship Type="http://schemas.openxmlformats.org/officeDocument/2006/relationships/notesSlide" Target="/ppt/notesSlides/notesSlide14.xml" Id="Rf218b24133b84f1c" /></ns0:Relationships>
</file>

<file path=ppt/slides/_rels/slide15.xml.rels><?xml version='1.0' encoding='utf-8'?>
<ns0:Relationships xmlns:ns0="http://schemas.openxmlformats.org/package/2006/relationships"><ns0:Relationship Type="http://schemas.openxmlformats.org/officeDocument/2006/relationships/slideLayout" Target="/ppt/slideLayouts/slideLayout6.xml" Id="R9fbbe7d3a6a84d92" /><ns0:Relationship Type="http://schemas.openxmlformats.org/officeDocument/2006/relationships/notesSlide" Target="/ppt/notesSlides/notesSlide15.xml" Id="RnotesReward15" /></ns0: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Siegquote</c:v>
          </c:tx>
          <c:spPr>
            <a:solidFill xmlns:a="http://schemas.openxmlformats.org/drawingml/2006/main">
              <a:srgbClr val="007D7B"/>
            </a:solidFill>
          </c:spPr>
          <c:invertIfNegative val="0"/>
          <c:cat>
            <c:strRef>
              <c:f>'Chart Data'!$A$2:$A$3</c:f>
              <c:strCache>
                <c:ptCount val="2"/>
                <c:pt idx="0">
                  <c:v>default</c:v>
                </c:pt>
                <c:pt idx="1">
                  <c:v>Solution_92</c:v>
                </c:pt>
              </c:strCache>
            </c:strRef>
          </c:cat>
          <c:val>
            <c:numRef>
              <c:f>'Chart Data'!$B$2:$B$3</c:f>
              <c:numCache>
                <c:formatCode>0%</c:formatCode>
                <c:ptCount val="2"/>
                <c:pt idx="0">
                  <c:v>1</c:v>
                </c:pt>
                <c:pt idx="1">
                  <c:v>0.467</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2100" b="1">
                  <a:solidFill>
                    <a:srgbClr val="102D35"/>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02D35"/>
                </a:solidFill>
                <a:latin typeface="Helvetica Neue"/>
                <a:ea typeface="Helvetica Neue"/>
                <a:cs typeface="Helvetica Neue"/>
              </a:defRPr>
            </a:pPr>
          </a:p>
        </c:txPr>
        <c:crossAx val="48672768"/>
      </c:catAx>
      <c:valAx>
        <c:axId val="48672768"/>
        <c:scaling>
          <c:orientation val="minMax"/>
          <c:max val="1.15"/>
          <c:min val="0"/>
        </c:scaling>
        <c:delete val="0"/>
        <c:axPos val="l"/>
        <c:majorGridlines>
          <c:spPr>
            <a:ln xmlns:a="http://schemas.openxmlformats.org/drawingml/2006/main" w="9525">
              <a:solidFill>
                <a:srgbClr val="CFDBD7"/>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26B70"/>
                </a:solidFill>
                <a:latin typeface="Helvetica Neue"/>
                <a:ea typeface="Helvetica Neue"/>
                <a:cs typeface="Helvetica Neue"/>
              </a:defRPr>
            </a:pPr>
          </a:p>
        </c:txPr>
        <c:crossAx val="48650112"/>
        <c:crossBetween val="between"/>
        <c:majorUnit val="0.25"/>
      </c:valAx>
      <c:spPr>
        <a:solidFill xmlns:a="http://schemas.openxmlformats.org/drawingml/2006/main">
          <a:srgbClr val="F7F7F0"/>
        </a:solidFill>
      </c:spPr>
    </c:plotArea>
    <c:plotVisOnly val="1"/>
  </c:chart>
  <c:spPr>
    <a:solidFill xmlns:a="http://schemas.openxmlformats.org/drawingml/2006/main">
      <a:srgbClr val="F7F7F0"/>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D35"/>
        </a:solidFill>
      </p:bgPr>
    </p:bg>
    <p:spTree>
      <p:nvGrpSpPr>
        <p:cNvPr id="1" name=""/>
        <p:cNvGrpSpPr/>
        <p:nvPr/>
      </p:nvGrpSpPr>
      <p:grpSpPr>
        <a:xfrm xmlns:a="http://schemas.openxmlformats.org/drawingml/2006/main"/>
      </p:grpSpPr>
      <p:sp>
        <p:nvSpPr>
          <p:cNvPr id="8" name="SHERLOCK / REVIEW 01">
            <a:extLst xmlns:a="http://schemas.openxmlformats.org/drawingml/2006/main">
              <a:ext uri="{FF2B5EF4-FFF2-40B4-BE49-F238E27FC236}">
                <a16:creationId xmlns:a16="http://schemas.microsoft.com/office/drawing/2014/main" id="{C063771D-A37F-4BDF-BB81-15739067C00B}"/>
              </a:ext>
            </a:extLst>
          </p:cNvPr>
          <p:cNvSpPr>
            <a:spLocks xmlns:a="http://schemas.openxmlformats.org/drawingml/2006/main" noGrp="1"/>
          </p:cNvSpPr>
          <p:nvPr/>
        </p:nvSpPr>
        <p:spPr>
          <a:xfrm xmlns:a="http://schemas.openxmlformats.org/drawingml/2006/main">
            <a:off x="609600" y="2667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A4C9C4"/>
                </a:solidFill>
                <a:latin typeface="Helvetica Neue"/>
                <a:ea typeface="Helvetica Neue"/>
                <a:cs typeface="Helvetica Neue"/>
              </a:defRPr>
            </a:defPPr>
          </a:lstStyle>
          <a:p xmlns:a="http://schemas.openxmlformats.org/drawingml/2006/main">
            <a:pPr>
              <a:defRPr sz="1350" b="1">
                <a:solidFill>
                  <a:srgbClr val="A4C9C4"/>
                </a:solidFill>
                <a:latin typeface="Helvetica Neue"/>
                <a:ea typeface="Helvetica Neue"/>
                <a:cs typeface="Helvetica Neue"/>
              </a:defRPr>
            </a:pPr>
            <a:r>
              <a:rPr sz="1350" b="1">
                <a:solidFill>
                  <a:srgbClr val="A4C9C4"/>
                </a:solidFill>
                <a:latin typeface="Helvetica Neue"/>
                <a:ea typeface="Helvetica Neue"/>
                <a:cs typeface="Helvetica Neue"/>
              </a:rPr>
              <a:t>SHERLOCK / REVIEW 01</a:t>
            </a:r>
          </a:p>
        </p:txBody>
      </p:sp>
      <p:sp>
        <p:nvSpPr>
          <p:cNvPr id="2" name="Team 15 · Mahmoud El-Hassan &amp; Moayed Shawesh">
            <a:extLst xmlns:a="http://schemas.openxmlformats.org/drawingml/2006/main">
              <a:ext uri="{FF2B5EF4-FFF2-40B4-BE49-F238E27FC236}">
                <a16:creationId xmlns:a16="http://schemas.microsoft.com/office/drawing/2014/main" id="{371612F8-DE08-48AA-BDD8-895AB4C9B03F}"/>
              </a:ext>
            </a:extLst>
          </p:cNvPr>
          <p:cNvSpPr>
            <a:spLocks xmlns:a="http://schemas.openxmlformats.org/drawingml/2006/main" noGrp="1"/>
          </p:cNvSpPr>
          <p:nvPr/>
        </p:nvSpPr>
        <p:spPr>
          <a:xfrm xmlns:a="http://schemas.openxmlformats.org/drawingml/2006/main">
            <a:off x="609600" y="6419850"/>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A4C9C4"/>
                </a:solidFill>
                <a:latin typeface="Helvetica Neue"/>
                <a:ea typeface="Helvetica Neue"/>
                <a:cs typeface="Helvetica Neue"/>
              </a:defRPr>
            </a:defPPr>
          </a:lstStyle>
          <a:p xmlns:a="http://schemas.openxmlformats.org/drawingml/2006/main">
            <a:pPr>
              <a:defRPr sz="1200" b="0">
                <a:solidFill>
                  <a:srgbClr val="A4C9C4"/>
                </a:solidFill>
                <a:latin typeface="Helvetica Neue"/>
                <a:ea typeface="Helvetica Neue"/>
                <a:cs typeface="Helvetica Neue"/>
              </a:defRPr>
            </a:pPr>
            <a:r>
              <a:rPr sz="1200" b="0">
                <a:solidFill>
                  <a:srgbClr val="A4C9C4"/>
                </a:solidFill>
                <a:latin typeface="Helvetica Neue"/>
                <a:ea typeface="Helvetica Neue"/>
                <a:cs typeface="Helvetica Neue"/>
              </a:rPr>
              <a:t>Team 15 · Mahmoud El-Hassan &amp; Moayed Shawesh</a:t>
            </a:r>
          </a:p>
        </p:txBody>
      </p:sp>
      <p:sp>
        <p:nvSpPr>
          <p:cNvPr id="3" name="01">
            <a:extLst xmlns:a="http://schemas.openxmlformats.org/drawingml/2006/main">
              <a:ext uri="{FF2B5EF4-FFF2-40B4-BE49-F238E27FC236}">
                <a16:creationId xmlns:a16="http://schemas.microsoft.com/office/drawing/2014/main" id="{28A5B735-40EF-4D11-951E-12446A0AB5E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A4C9C4"/>
                </a:solidFill>
                <a:latin typeface="Helvetica Neue"/>
                <a:ea typeface="Helvetica Neue"/>
                <a:cs typeface="Helvetica Neue"/>
              </a:defRPr>
            </a:defPPr>
          </a:lstStyle>
          <a:p xmlns:a="http://schemas.openxmlformats.org/drawingml/2006/main">
            <a:pPr>
              <a:defRPr sz="1200" b="0">
                <a:solidFill>
                  <a:srgbClr val="A4C9C4"/>
                </a:solidFill>
                <a:latin typeface="Helvetica Neue"/>
                <a:ea typeface="Helvetica Neue"/>
                <a:cs typeface="Helvetica Neue"/>
              </a:defRPr>
            </a:pPr>
            <a:r>
              <a:rPr sz="1200" b="0">
                <a:solidFill>
                  <a:srgbClr val="A4C9C4"/>
                </a:solidFill>
                <a:latin typeface="Helvetica Neue"/>
                <a:ea typeface="Helvetica Neue"/>
                <a:cs typeface="Helvetica Neue"/>
              </a:rPr>
              <a:t>01</a:t>
            </a:r>
          </a:p>
        </p:txBody>
      </p:sp>
      <p:sp>
        <p:nvSpPr>
          <p:cNvPr id="4" name="Sherlock">
            <a:extLst xmlns:a="http://schemas.openxmlformats.org/drawingml/2006/main">
              <a:ext uri="{FF2B5EF4-FFF2-40B4-BE49-F238E27FC236}">
                <a16:creationId xmlns:a16="http://schemas.microsoft.com/office/drawing/2014/main" id="{8C5CFDB2-F9A2-4E46-92C9-BB0E1B10DE47}"/>
              </a:ext>
            </a:extLst>
          </p:cNvPr>
          <p:cNvSpPr>
            <a:spLocks xmlns:a="http://schemas.openxmlformats.org/drawingml/2006/main" noGrp="1"/>
          </p:cNvSpPr>
          <p:nvPr/>
        </p:nvSpPr>
        <p:spPr>
          <a:xfrm xmlns:a="http://schemas.openxmlformats.org/drawingml/2006/main">
            <a:off x="609600" y="18097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900" b="1">
                <a:solidFill>
                  <a:srgbClr val="FFFFFF"/>
                </a:solidFill>
                <a:latin typeface="Helvetica Neue"/>
                <a:ea typeface="Helvetica Neue"/>
                <a:cs typeface="Helvetica Neue"/>
              </a:defRPr>
            </a:defPPr>
          </a:lstStyle>
          <a:p xmlns:a="http://schemas.openxmlformats.org/drawingml/2006/main">
            <a:pPr>
              <a:defRPr sz="6900" b="1">
                <a:solidFill>
                  <a:srgbClr val="FFFFFF"/>
                </a:solidFill>
                <a:latin typeface="Helvetica Neue"/>
                <a:ea typeface="Helvetica Neue"/>
                <a:cs typeface="Helvetica Neue"/>
              </a:defRPr>
            </a:pPr>
            <a:r>
              <a:rPr sz="6900" b="1">
                <a:solidFill>
                  <a:srgbClr val="FFFFFF"/>
                </a:solidFill>
                <a:latin typeface="Helvetica Neue"/>
                <a:ea typeface="Helvetica Neue"/>
                <a:cs typeface="Helvetica Neue"/>
              </a:rPr>
              <a:t>Sherlock</a:t>
            </a:r>
          </a:p>
        </p:txBody>
      </p:sp>
      <p:sp>
        <p:nvSpPr>
          <p:cNvPr id="5" name="Lernen mit Gedächtnis">
            <a:extLst xmlns:a="http://schemas.openxmlformats.org/drawingml/2006/main">
              <a:ext uri="{FF2B5EF4-FFF2-40B4-BE49-F238E27FC236}">
                <a16:creationId xmlns:a16="http://schemas.microsoft.com/office/drawing/2014/main" id="{85CE8C2C-8C62-4A6E-800A-DBE6044E58BC}"/>
              </a:ext>
            </a:extLst>
          </p:cNvPr>
          <p:cNvSpPr>
            <a:spLocks xmlns:a="http://schemas.openxmlformats.org/drawingml/2006/main" noGrp="1"/>
          </p:cNvSpPr>
          <p:nvPr/>
        </p:nvSpPr>
        <p:spPr>
          <a:xfrm xmlns:a="http://schemas.openxmlformats.org/drawingml/2006/main">
            <a:off x="647700" y="300037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B7D8D0"/>
                </a:solidFill>
                <a:latin typeface="Helvetica Neue"/>
                <a:ea typeface="Helvetica Neue"/>
                <a:cs typeface="Helvetica Neue"/>
              </a:defRPr>
            </a:defPPr>
          </a:lstStyle>
          <a:p xmlns:a="http://schemas.openxmlformats.org/drawingml/2006/main">
            <a:pPr>
              <a:defRPr sz="3300" b="0">
                <a:solidFill>
                  <a:srgbClr val="B7D8D0"/>
                </a:solidFill>
                <a:latin typeface="Helvetica Neue"/>
                <a:ea typeface="Helvetica Neue"/>
                <a:cs typeface="Helvetica Neue"/>
              </a:defRPr>
            </a:pPr>
            <a:r>
              <a:rPr sz="3300" b="0">
                <a:solidFill>
                  <a:srgbClr val="B7D8D0"/>
                </a:solidFill>
                <a:latin typeface="Helvetica Neue"/>
                <a:ea typeface="Helvetica Neue"/>
                <a:cs typeface="Helvetica Neue"/>
              </a:rPr>
              <a:t>Lernen mit Gedächtnis</a:t>
            </a:r>
          </a:p>
        </p:txBody>
      </p:sp>
      <p:sp>
        <p:nvSpPr>
          <p:cNvPr id="6" name="Ein Double-DQN-Agent für Lux AI Season 3">
            <a:extLst xmlns:a="http://schemas.openxmlformats.org/drawingml/2006/main">
              <a:ext uri="{FF2B5EF4-FFF2-40B4-BE49-F238E27FC236}">
                <a16:creationId xmlns:a16="http://schemas.microsoft.com/office/drawing/2014/main" id="{231A6E25-2363-4FD8-A90A-9174F119CA3F}"/>
              </a:ext>
            </a:extLst>
          </p:cNvPr>
          <p:cNvSpPr>
            <a:spLocks xmlns:a="http://schemas.openxmlformats.org/drawingml/2006/main" noGrp="1"/>
          </p:cNvSpPr>
          <p:nvPr/>
        </p:nvSpPr>
        <p:spPr>
          <a:xfrm xmlns:a="http://schemas.openxmlformats.org/drawingml/2006/main">
            <a:off x="647700" y="40481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FFFFFF"/>
                </a:solidFill>
                <a:latin typeface="Helvetica Neue"/>
                <a:ea typeface="Helvetica Neue"/>
                <a:cs typeface="Helvetica Neue"/>
              </a:defRPr>
            </a:defPPr>
          </a:lstStyle>
          <a:p xmlns:a="http://schemas.openxmlformats.org/drawingml/2006/main">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Ein Double-DQN-Agent für Lux AI Season 3</a:t>
            </a:r>
          </a:p>
        </p:txBody>
      </p:sp>
      <p:sp>
        <p:nvSpPr>
          <p:cNvPr id="7" name="Mahmoud El-Hassan · Moayed Shawesh&#10;HTW Berlin">
            <a:extLst xmlns:a="http://schemas.openxmlformats.org/drawingml/2006/main">
              <a:ext uri="{FF2B5EF4-FFF2-40B4-BE49-F238E27FC236}">
                <a16:creationId xmlns:a16="http://schemas.microsoft.com/office/drawing/2014/main" id="{095FCB90-F9A4-4A3C-8334-FDD46BBFE246}"/>
              </a:ext>
            </a:extLst>
          </p:cNvPr>
          <p:cNvSpPr>
            <a:spLocks xmlns:a="http://schemas.openxmlformats.org/drawingml/2006/main" noGrp="1"/>
          </p:cNvSpPr>
          <p:nvPr/>
        </p:nvSpPr>
        <p:spPr>
          <a:xfrm xmlns:a="http://schemas.openxmlformats.org/drawingml/2006/main">
            <a:off x="647700" y="519112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7D8D0"/>
                </a:solidFill>
                <a:latin typeface="Helvetica Neue"/>
                <a:ea typeface="Helvetica Neue"/>
                <a:cs typeface="Helvetica Neue"/>
              </a:defRPr>
            </a:defPPr>
          </a:lstStyle>
          <a:p xmlns:a="http://schemas.openxmlformats.org/drawingml/2006/main">
            <a:pPr>
              <a:defRPr sz="1875" b="0">
                <a:solidFill>
                  <a:srgbClr val="B7D8D0"/>
                </a:solidFill>
                <a:latin typeface="Helvetica Neue"/>
                <a:ea typeface="Helvetica Neue"/>
                <a:cs typeface="Helvetica Neue"/>
              </a:defRPr>
            </a:pPr>
            <a:r>
              <a:rPr sz="1875" b="0">
                <a:solidFill>
                  <a:srgbClr val="B7D8D0"/>
                </a:solidFill>
                <a:latin typeface="Helvetica Neue"/>
                <a:ea typeface="Helvetica Neue"/>
                <a:cs typeface="Helvetica Neue"/>
              </a:rPr>
              <a:t>Mahmoud El-Hassan · Moayed Shawesh</a:t>
            </a:r>
          </a:p>
          <a:p xmlns:a="http://schemas.openxmlformats.org/drawingml/2006/main">
            <a:pPr>
              <a:defRPr sz="1875" b="0">
                <a:solidFill>
                  <a:srgbClr val="B7D8D0"/>
                </a:solidFill>
                <a:latin typeface="Helvetica Neue"/>
                <a:ea typeface="Helvetica Neue"/>
                <a:cs typeface="Helvetica Neue"/>
              </a:defRPr>
            </a:pPr>
            <a:r>
              <a:rPr sz="1875" b="0">
                <a:solidFill>
                  <a:srgbClr val="B7D8D0"/>
                </a:solidFill>
                <a:latin typeface="Helvetica Neue"/>
                <a:ea typeface="Helvetica Neue"/>
                <a:cs typeface="Helvetica Neue"/>
              </a:rPr>
              <a:t>HTW Berlin · Anwendungen der KI · 16.10.2026</a:t>
            </a:r>
          </a:p>
        </p:txBody>
      </p:sp>
    </p:spTree>
    <p:extLst>
      <p:ext uri="{BB962C8B-B14F-4D97-AF65-F5344CB8AC3E}">
        <p14:creationId xmlns:p14="http://schemas.microsoft.com/office/powerpoint/2010/main" val="1687376503"/>
      </p:ext>
    </p:extLst>
  </p:cSld>
</p:sld>
</file>

<file path=ppt/slides/slide2.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17" name="SHERLOCK / REVIEW 01">
            <a:extLst xmlns:a="http://schemas.openxmlformats.org/drawingml/2006/main">
              <a:ext uri="{FF2B5EF4-FFF2-40B4-BE49-F238E27FC236}">
                <a16:creationId xmlns:a16="http://schemas.microsoft.com/office/drawing/2014/main" id="{4ABBEAE0-A954-41E9-A7C6-DDDF1B53548C}"/>
              </a:ext>
            </a:extLst>
          </p:cNvPr>
          <p:cNvSpPr>
            <a:spLocks xmlns:a="http://schemas.openxmlformats.org/drawingml/2006/main" noGrp="1"/>
          </p:cNvSpPr>
          <p:nvPr/>
        </p:nvSpPr>
        <p:spPr>
          <a:xfrm xmlns:a="http://schemas.openxmlformats.org/drawingml/2006/main">
            <a:off x="609600" y="2667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1">
                <a:solidFill>
                  <a:srgbClr val="007D7B"/>
                </a:solidFill>
                <a:latin typeface="Helvetica Neue"/>
                <a:ea typeface="Helvetica Neue"/>
                <a:cs typeface="Helvetica Neue"/>
              </a:defRPr>
            </a:defPPr>
          </a:lstStyle>
          <a:p xmlns:a="http://schemas.openxmlformats.org/drawingml/2006/main">
            <a:pPr>
              <a:defRPr sz="1350" b="1">
                <a:solidFill>
                  <a:srgbClr val="007D7B"/>
                </a:solidFill>
                <a:latin typeface="Helvetica Neue"/>
                <a:ea typeface="Helvetica Neue"/>
                <a:cs typeface="Helvetica Neue"/>
              </a:defRPr>
            </a:pPr>
            <a:r>
              <a:rPr sz="1350" b="1">
                <a:solidFill>
                  <a:srgbClr val="007D7B"/>
                </a:solidFill>
                <a:latin typeface="Helvetica Neue"/>
                <a:ea typeface="Helvetica Neue"/>
                <a:cs typeface="Helvetica Neue"/>
              </a:rPr>
              <a:t>SHERLOCK / REVIEW 01</a:t>
            </a:r>
          </a:p>
        </p:txBody>
      </p:sp>
      <p:sp>
        <p:nvSpPr>
          <p:cNvPr id="2" name="Agenda">
            <a:extLst xmlns:a="http://schemas.openxmlformats.org/drawingml/2006/main">
              <a:ext uri="{FF2B5EF4-FFF2-40B4-BE49-F238E27FC236}">
                <a16:creationId xmlns:a16="http://schemas.microsoft.com/office/drawing/2014/main" id="{CF15880C-FAC8-4E31-8F11-A298F5128FE6}"/>
              </a:ext>
            </a:extLst>
          </p:cNvPr>
          <p:cNvSpPr>
            <a:spLocks xmlns:a="http://schemas.openxmlformats.org/drawingml/2006/main" noGrp="1"/>
          </p:cNvSpPr>
          <p:nvPr/>
        </p:nvSpPr>
        <p:spPr>
          <a:xfrm xmlns:a="http://schemas.openxmlformats.org/drawingml/2006/main">
            <a:off x="609600" y="781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02D35"/>
                </a:solidFill>
                <a:latin typeface="Helvetica Neue"/>
                <a:ea typeface="Helvetica Neue"/>
                <a:cs typeface="Helvetica Neue"/>
              </a:defRPr>
            </a:defPPr>
          </a:lstStyle>
          <a:p xmlns:a="http://schemas.openxmlformats.org/drawingml/2006/main">
            <a:pPr>
              <a:defRPr sz="3300" b="1">
                <a:solidFill>
                  <a:srgbClr val="102D35"/>
                </a:solidFill>
                <a:latin typeface="Helvetica Neue"/>
                <a:ea typeface="Helvetica Neue"/>
                <a:cs typeface="Helvetica Neue"/>
              </a:defRPr>
            </a:pPr>
            <a:r>
              <a:rPr sz="3300" b="1">
                <a:solidFill>
                  <a:srgbClr val="102D35"/>
                </a:solidFill>
                <a:latin typeface="Helvetica Neue"/>
                <a:ea typeface="Helvetica Neue"/>
                <a:cs typeface="Helvetica Neue"/>
              </a:rPr>
              <a:t>Agenda</a:t>
            </a:r>
          </a:p>
        </p:txBody>
      </p:sp>
      <p:sp>
        <p:nvSpPr>
          <p:cNvPr id="3" name="Team 15 · Mahmoud El-Hassan &amp; Moayed Shawesh">
            <a:extLst xmlns:a="http://schemas.openxmlformats.org/drawingml/2006/main">
              <a:ext uri="{FF2B5EF4-FFF2-40B4-BE49-F238E27FC236}">
                <a16:creationId xmlns:a16="http://schemas.microsoft.com/office/drawing/2014/main" id="{B3BD07BA-C22D-40E7-99FE-B531044E7E19}"/>
              </a:ext>
            </a:extLst>
          </p:cNvPr>
          <p:cNvSpPr>
            <a:spLocks xmlns:a="http://schemas.openxmlformats.org/drawingml/2006/main" noGrp="1"/>
          </p:cNvSpPr>
          <p:nvPr/>
        </p:nvSpPr>
        <p:spPr>
          <a:xfrm xmlns:a="http://schemas.openxmlformats.org/drawingml/2006/main">
            <a:off x="609600" y="6419850"/>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26B70"/>
                </a:solidFill>
                <a:latin typeface="Helvetica Neue"/>
                <a:ea typeface="Helvetica Neue"/>
                <a:cs typeface="Helvetica Neue"/>
              </a:defRPr>
            </a:defPPr>
          </a:lstStyle>
          <a:p xmlns:a="http://schemas.openxmlformats.org/drawingml/2006/main">
            <a:pPr>
              <a:defRPr sz="1200" b="0">
                <a:solidFill>
                  <a:srgbClr val="526B70"/>
                </a:solidFill>
                <a:latin typeface="Helvetica Neue"/>
                <a:ea typeface="Helvetica Neue"/>
                <a:cs typeface="Helvetica Neue"/>
              </a:defRPr>
            </a:pPr>
            <a:r>
              <a:rPr sz="1200" b="0">
                <a:solidFill>
                  <a:srgbClr val="526B70"/>
                </a:solidFill>
                <a:latin typeface="Helvetica Neue"/>
                <a:ea typeface="Helvetica Neue"/>
                <a:cs typeface="Helvetica Neue"/>
              </a:rPr>
              <a:t>Team 15 · Mahmoud El-Hassan &amp; Moayed Shawesh</a:t>
            </a:r>
          </a:p>
        </p:txBody>
      </p:sp>
      <p:sp>
        <p:nvSpPr>
          <p:cNvPr id="4" name="02">
            <a:extLst xmlns:a="http://schemas.openxmlformats.org/drawingml/2006/main">
              <a:ext uri="{FF2B5EF4-FFF2-40B4-BE49-F238E27FC236}">
                <a16:creationId xmlns:a16="http://schemas.microsoft.com/office/drawing/2014/main" id="{0C0B675C-18D9-4F40-9A99-CDA4B6653D2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26B70"/>
                </a:solidFill>
                <a:latin typeface="Helvetica Neue"/>
                <a:ea typeface="Helvetica Neue"/>
                <a:cs typeface="Helvetica Neue"/>
              </a:defRPr>
            </a:defPPr>
          </a:lstStyle>
          <a:p xmlns:a="http://schemas.openxmlformats.org/drawingml/2006/main">
            <a:pPr>
              <a:defRPr sz="1200" b="0">
                <a:solidFill>
                  <a:srgbClr val="526B70"/>
                </a:solidFill>
                <a:latin typeface="Helvetica Neue"/>
                <a:ea typeface="Helvetica Neue"/>
                <a:cs typeface="Helvetica Neue"/>
              </a:defRPr>
            </a:pPr>
            <a:r>
              <a:rPr sz="1200" b="0">
                <a:solidFill>
                  <a:srgbClr val="526B70"/>
                </a:solidFill>
                <a:latin typeface="Helvetica Neue"/>
                <a:ea typeface="Helvetica Neue"/>
                <a:cs typeface="Helvetica Neue"/>
              </a:rPr>
              <a:t>02</a:t>
            </a:r>
          </a:p>
        </p:txBody>
      </p:sp>
      <p:sp>
        <p:nvSpPr>
          <p:cNvPr id="5" name="1.">
            <a:extLst xmlns:a="http://schemas.openxmlformats.org/drawingml/2006/main">
              <a:ext uri="{FF2B5EF4-FFF2-40B4-BE49-F238E27FC236}">
                <a16:creationId xmlns:a16="http://schemas.microsoft.com/office/drawing/2014/main" id="{326581D1-8A36-4D6D-99D9-580D296121B9}"/>
              </a:ext>
            </a:extLst>
          </p:cNvPr>
          <p:cNvSpPr>
            <a:spLocks xmlns:a="http://schemas.openxmlformats.org/drawingml/2006/main" noGrp="1"/>
          </p:cNvSpPr>
          <p:nvPr/>
        </p:nvSpPr>
        <p:spPr>
          <a:xfrm xmlns:a="http://schemas.openxmlformats.org/drawingml/2006/main">
            <a:off x="990600" y="1943100"/>
            <a:ext cx="571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007D7B"/>
                </a:solidFill>
                <a:latin typeface="Helvetica Neue"/>
                <a:ea typeface="Helvetica Neue"/>
                <a:cs typeface="Helvetica Neue"/>
              </a:defRPr>
            </a:defPPr>
          </a:lstStyle>
          <a:p xmlns:a="http://schemas.openxmlformats.org/drawingml/2006/main">
            <a:pPr>
              <a:defRPr sz="2400" b="1">
                <a:solidFill>
                  <a:srgbClr val="007D7B"/>
                </a:solidFill>
                <a:latin typeface="Helvetica Neue"/>
                <a:ea typeface="Helvetica Neue"/>
                <a:cs typeface="Helvetica Neue"/>
              </a:defRPr>
            </a:pPr>
            <a:r>
              <a:rPr sz="2400" b="1">
                <a:solidFill>
                  <a:srgbClr val="007D7B"/>
                </a:solidFill>
                <a:latin typeface="Helvetica Neue"/>
                <a:ea typeface="Helvetica Neue"/>
                <a:cs typeface="Helvetica Neue"/>
              </a:rPr>
              <a:t>1.</a:t>
            </a:r>
          </a:p>
        </p:txBody>
      </p:sp>
      <p:sp>
        <p:nvSpPr>
          <p:cNvPr id="6" name="Spielidee und Ziel">
            <a:extLst xmlns:a="http://schemas.openxmlformats.org/drawingml/2006/main">
              <a:ext uri="{FF2B5EF4-FFF2-40B4-BE49-F238E27FC236}">
                <a16:creationId xmlns:a16="http://schemas.microsoft.com/office/drawing/2014/main" id="{765CF1AA-E43A-4D6F-87D7-D33E77B1C6F0}"/>
              </a:ext>
            </a:extLst>
          </p:cNvPr>
          <p:cNvSpPr>
            <a:spLocks xmlns:a="http://schemas.openxmlformats.org/drawingml/2006/main" noGrp="1"/>
          </p:cNvSpPr>
          <p:nvPr/>
        </p:nvSpPr>
        <p:spPr>
          <a:xfrm xmlns:a="http://schemas.openxmlformats.org/drawingml/2006/main">
            <a:off x="1752600" y="1943100"/>
            <a:ext cx="942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02D35"/>
                </a:solidFill>
                <a:latin typeface="Helvetica Neue"/>
                <a:ea typeface="Helvetica Neue"/>
                <a:cs typeface="Helvetica Neue"/>
              </a:defRPr>
            </a:defPPr>
          </a:lstStyle>
          <a:p xmlns:a="http://schemas.openxmlformats.org/drawingml/2006/main">
            <a:pPr>
              <a:defRPr sz="2400" b="0">
                <a:solidFill>
                  <a:srgbClr val="102D35"/>
                </a:solidFill>
                <a:latin typeface="Helvetica Neue"/>
                <a:ea typeface="Helvetica Neue"/>
                <a:cs typeface="Helvetica Neue"/>
              </a:defRPr>
            </a:pPr>
            <a:r>
              <a:rPr sz="2400" b="0">
                <a:solidFill>
                  <a:srgbClr val="102D35"/>
                </a:solidFill>
                <a:latin typeface="Helvetica Neue"/>
                <a:ea typeface="Helvetica Neue"/>
                <a:cs typeface="Helvetica Neue"/>
              </a:rPr>
              <a:t>Spielidee und Ziel</a:t>
            </a:r>
          </a:p>
        </p:txBody>
      </p:sp>
      <p:sp>
        <p:nvSpPr>
          <p:cNvPr id="7" name="2.">
            <a:extLst xmlns:a="http://schemas.openxmlformats.org/drawingml/2006/main">
              <a:ext uri="{FF2B5EF4-FFF2-40B4-BE49-F238E27FC236}">
                <a16:creationId xmlns:a16="http://schemas.microsoft.com/office/drawing/2014/main" id="{16C7F777-7A13-447F-A78A-B8BD8CCA5AA2}"/>
              </a:ext>
            </a:extLst>
          </p:cNvPr>
          <p:cNvSpPr>
            <a:spLocks xmlns:a="http://schemas.openxmlformats.org/drawingml/2006/main" noGrp="1"/>
          </p:cNvSpPr>
          <p:nvPr/>
        </p:nvSpPr>
        <p:spPr>
          <a:xfrm xmlns:a="http://schemas.openxmlformats.org/drawingml/2006/main">
            <a:off x="990600" y="2600325"/>
            <a:ext cx="571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007D7B"/>
                </a:solidFill>
                <a:latin typeface="Helvetica Neue"/>
                <a:ea typeface="Helvetica Neue"/>
                <a:cs typeface="Helvetica Neue"/>
              </a:defRPr>
            </a:defPPr>
          </a:lstStyle>
          <a:p xmlns:a="http://schemas.openxmlformats.org/drawingml/2006/main">
            <a:pPr>
              <a:defRPr sz="2400" b="1">
                <a:solidFill>
                  <a:srgbClr val="007D7B"/>
                </a:solidFill>
                <a:latin typeface="Helvetica Neue"/>
                <a:ea typeface="Helvetica Neue"/>
                <a:cs typeface="Helvetica Neue"/>
              </a:defRPr>
            </a:pPr>
            <a:r>
              <a:rPr sz="2400" b="1">
                <a:solidFill>
                  <a:srgbClr val="007D7B"/>
                </a:solidFill>
                <a:latin typeface="Helvetica Neue"/>
                <a:ea typeface="Helvetica Neue"/>
                <a:cs typeface="Helvetica Neue"/>
              </a:rPr>
              <a:t>2.</a:t>
            </a:r>
          </a:p>
        </p:txBody>
      </p:sp>
      <p:sp>
        <p:nvSpPr>
          <p:cNvPr id="8" name="Agent und Merkmale">
            <a:extLst xmlns:a="http://schemas.openxmlformats.org/drawingml/2006/main">
              <a:ext uri="{FF2B5EF4-FFF2-40B4-BE49-F238E27FC236}">
                <a16:creationId xmlns:a16="http://schemas.microsoft.com/office/drawing/2014/main" id="{02D31940-4101-4615-A933-96D81F92AFAC}"/>
              </a:ext>
            </a:extLst>
          </p:cNvPr>
          <p:cNvSpPr>
            <a:spLocks xmlns:a="http://schemas.openxmlformats.org/drawingml/2006/main" noGrp="1"/>
          </p:cNvSpPr>
          <p:nvPr/>
        </p:nvSpPr>
        <p:spPr>
          <a:xfrm xmlns:a="http://schemas.openxmlformats.org/drawingml/2006/main">
            <a:off x="1752600" y="2600325"/>
            <a:ext cx="942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02D35"/>
                </a:solidFill>
                <a:latin typeface="Helvetica Neue"/>
                <a:ea typeface="Helvetica Neue"/>
                <a:cs typeface="Helvetica Neue"/>
              </a:defRPr>
            </a:defPPr>
          </a:lstStyle>
          <a:p xmlns:a="http://schemas.openxmlformats.org/drawingml/2006/main">
            <a:pPr>
              <a:defRPr sz="2400" b="0">
                <a:solidFill>
                  <a:srgbClr val="102D35"/>
                </a:solidFill>
                <a:latin typeface="Helvetica Neue"/>
                <a:ea typeface="Helvetica Neue"/>
                <a:cs typeface="Helvetica Neue"/>
              </a:defRPr>
            </a:pPr>
            <a:r>
              <a:rPr sz="2400" b="0">
                <a:solidFill>
                  <a:srgbClr val="102D35"/>
                </a:solidFill>
                <a:latin typeface="Helvetica Neue"/>
                <a:ea typeface="Helvetica Neue"/>
                <a:cs typeface="Helvetica Neue"/>
              </a:rPr>
              <a:t>Agent und Merkmale</a:t>
            </a:r>
          </a:p>
        </p:txBody>
      </p:sp>
      <p:sp>
        <p:nvSpPr>
          <p:cNvPr id="9" name="3.">
            <a:extLst xmlns:a="http://schemas.openxmlformats.org/drawingml/2006/main">
              <a:ext uri="{FF2B5EF4-FFF2-40B4-BE49-F238E27FC236}">
                <a16:creationId xmlns:a16="http://schemas.microsoft.com/office/drawing/2014/main" id="{6980250E-EDA0-400F-89D6-73761753468F}"/>
              </a:ext>
            </a:extLst>
          </p:cNvPr>
          <p:cNvSpPr>
            <a:spLocks xmlns:a="http://schemas.openxmlformats.org/drawingml/2006/main" noGrp="1"/>
          </p:cNvSpPr>
          <p:nvPr/>
        </p:nvSpPr>
        <p:spPr>
          <a:xfrm xmlns:a="http://schemas.openxmlformats.org/drawingml/2006/main">
            <a:off x="990600" y="3257550"/>
            <a:ext cx="571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007D7B"/>
                </a:solidFill>
                <a:latin typeface="Helvetica Neue"/>
                <a:ea typeface="Helvetica Neue"/>
                <a:cs typeface="Helvetica Neue"/>
              </a:defRPr>
            </a:defPPr>
          </a:lstStyle>
          <a:p xmlns:a="http://schemas.openxmlformats.org/drawingml/2006/main">
            <a:pPr>
              <a:defRPr sz="2400" b="1">
                <a:solidFill>
                  <a:srgbClr val="007D7B"/>
                </a:solidFill>
                <a:latin typeface="Helvetica Neue"/>
                <a:ea typeface="Helvetica Neue"/>
                <a:cs typeface="Helvetica Neue"/>
              </a:defRPr>
            </a:pPr>
            <a:r>
              <a:rPr sz="2400" b="1">
                <a:solidFill>
                  <a:srgbClr val="007D7B"/>
                </a:solidFill>
                <a:latin typeface="Helvetica Neue"/>
                <a:ea typeface="Helvetica Neue"/>
                <a:cs typeface="Helvetica Neue"/>
              </a:rPr>
              <a:t>3.</a:t>
            </a:r>
          </a:p>
        </p:txBody>
      </p:sp>
      <p:sp>
        <p:nvSpPr>
          <p:cNvPr id="10" name="Netzarchitektur und Lernverfahren">
            <a:extLst xmlns:a="http://schemas.openxmlformats.org/drawingml/2006/main">
              <a:ext uri="{FF2B5EF4-FFF2-40B4-BE49-F238E27FC236}">
                <a16:creationId xmlns:a16="http://schemas.microsoft.com/office/drawing/2014/main" id="{567F9081-5523-44FC-BC71-20351ADBAA0B}"/>
              </a:ext>
            </a:extLst>
          </p:cNvPr>
          <p:cNvSpPr>
            <a:spLocks xmlns:a="http://schemas.openxmlformats.org/drawingml/2006/main" noGrp="1"/>
          </p:cNvSpPr>
          <p:nvPr/>
        </p:nvSpPr>
        <p:spPr>
          <a:xfrm xmlns:a="http://schemas.openxmlformats.org/drawingml/2006/main">
            <a:off x="1752600" y="3257550"/>
            <a:ext cx="942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02D35"/>
                </a:solidFill>
                <a:latin typeface="Helvetica Neue"/>
                <a:ea typeface="Helvetica Neue"/>
                <a:cs typeface="Helvetica Neue"/>
              </a:defRPr>
            </a:defPPr>
          </a:lstStyle>
          <a:p xmlns:a="http://schemas.openxmlformats.org/drawingml/2006/main">
            <a:pPr>
              <a:defRPr sz="2400" b="0">
                <a:solidFill>
                  <a:srgbClr val="102D35"/>
                </a:solidFill>
                <a:latin typeface="Helvetica Neue"/>
                <a:ea typeface="Helvetica Neue"/>
                <a:cs typeface="Helvetica Neue"/>
              </a:defRPr>
            </a:pPr>
            <a:r>
              <a:rPr sz="2400" b="0">
                <a:solidFill>
                  <a:srgbClr val="102D35"/>
                </a:solidFill>
                <a:latin typeface="Helvetica Neue"/>
                <a:ea typeface="Helvetica Neue"/>
                <a:cs typeface="Helvetica Neue"/>
              </a:rPr>
              <a:t>Netzarchitektur und Lernverfahren</a:t>
            </a:r>
          </a:p>
        </p:txBody>
      </p:sp>
      <p:sp>
        <p:nvSpPr>
          <p:cNvPr id="11" name="4.">
            <a:extLst xmlns:a="http://schemas.openxmlformats.org/drawingml/2006/main">
              <a:ext uri="{FF2B5EF4-FFF2-40B4-BE49-F238E27FC236}">
                <a16:creationId xmlns:a16="http://schemas.microsoft.com/office/drawing/2014/main" id="{2D96320F-FFE4-4880-9A93-DF660873DCCD}"/>
              </a:ext>
            </a:extLst>
          </p:cNvPr>
          <p:cNvSpPr>
            <a:spLocks xmlns:a="http://schemas.openxmlformats.org/drawingml/2006/main" noGrp="1"/>
          </p:cNvSpPr>
          <p:nvPr/>
        </p:nvSpPr>
        <p:spPr>
          <a:xfrm xmlns:a="http://schemas.openxmlformats.org/drawingml/2006/main">
            <a:off x="990600" y="3914775"/>
            <a:ext cx="571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007D7B"/>
                </a:solidFill>
                <a:latin typeface="Helvetica Neue"/>
                <a:ea typeface="Helvetica Neue"/>
                <a:cs typeface="Helvetica Neue"/>
              </a:defRPr>
            </a:defPPr>
          </a:lstStyle>
          <a:p xmlns:a="http://schemas.openxmlformats.org/drawingml/2006/main">
            <a:pPr>
              <a:defRPr sz="2400" b="1">
                <a:solidFill>
                  <a:srgbClr val="007D7B"/>
                </a:solidFill>
                <a:latin typeface="Helvetica Neue"/>
                <a:ea typeface="Helvetica Neue"/>
                <a:cs typeface="Helvetica Neue"/>
              </a:defRPr>
            </a:pPr>
            <a:r>
              <a:rPr sz="2400" b="1">
                <a:solidFill>
                  <a:srgbClr val="007D7B"/>
                </a:solidFill>
                <a:latin typeface="Helvetica Neue"/>
                <a:ea typeface="Helvetica Neue"/>
                <a:cs typeface="Helvetica Neue"/>
              </a:rPr>
              <a:t>4.</a:t>
            </a:r>
          </a:p>
        </p:txBody>
      </p:sp>
      <p:sp>
        <p:nvSpPr>
          <p:cNvPr id="12" name="Training und Auswertung">
            <a:extLst xmlns:a="http://schemas.openxmlformats.org/drawingml/2006/main">
              <a:ext uri="{FF2B5EF4-FFF2-40B4-BE49-F238E27FC236}">
                <a16:creationId xmlns:a16="http://schemas.microsoft.com/office/drawing/2014/main" id="{D64CA8EA-DF54-4D54-8D1C-3EAA1E37236B}"/>
              </a:ext>
            </a:extLst>
          </p:cNvPr>
          <p:cNvSpPr>
            <a:spLocks xmlns:a="http://schemas.openxmlformats.org/drawingml/2006/main" noGrp="1"/>
          </p:cNvSpPr>
          <p:nvPr/>
        </p:nvSpPr>
        <p:spPr>
          <a:xfrm xmlns:a="http://schemas.openxmlformats.org/drawingml/2006/main">
            <a:off x="1752600" y="3914775"/>
            <a:ext cx="942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02D35"/>
                </a:solidFill>
                <a:latin typeface="Helvetica Neue"/>
                <a:ea typeface="Helvetica Neue"/>
                <a:cs typeface="Helvetica Neue"/>
              </a:defRPr>
            </a:defPPr>
          </a:lstStyle>
          <a:p xmlns:a="http://schemas.openxmlformats.org/drawingml/2006/main">
            <a:pPr>
              <a:defRPr sz="2400" b="0">
                <a:solidFill>
                  <a:srgbClr val="102D35"/>
                </a:solidFill>
                <a:latin typeface="Helvetica Neue"/>
                <a:ea typeface="Helvetica Neue"/>
                <a:cs typeface="Helvetica Neue"/>
              </a:defRPr>
            </a:pPr>
            <a:r>
              <a:rPr sz="2400" b="0">
                <a:solidFill>
                  <a:srgbClr val="102D35"/>
                </a:solidFill>
                <a:latin typeface="Helvetica Neue"/>
                <a:ea typeface="Helvetica Neue"/>
                <a:cs typeface="Helvetica Neue"/>
              </a:rPr>
              <a:t>Training und Auswertung</a:t>
            </a:r>
          </a:p>
        </p:txBody>
      </p:sp>
      <p:sp>
        <p:nvSpPr>
          <p:cNvPr id="13" name="5.">
            <a:extLst xmlns:a="http://schemas.openxmlformats.org/drawingml/2006/main">
              <a:ext uri="{FF2B5EF4-FFF2-40B4-BE49-F238E27FC236}">
                <a16:creationId xmlns:a16="http://schemas.microsoft.com/office/drawing/2014/main" id="{F5266D6F-72D7-46E0-ADD8-B3D95FF6B80C}"/>
              </a:ext>
            </a:extLst>
          </p:cNvPr>
          <p:cNvSpPr>
            <a:spLocks xmlns:a="http://schemas.openxmlformats.org/drawingml/2006/main" noGrp="1"/>
          </p:cNvSpPr>
          <p:nvPr/>
        </p:nvSpPr>
        <p:spPr>
          <a:xfrm xmlns:a="http://schemas.openxmlformats.org/drawingml/2006/main">
            <a:off x="990600" y="4572000"/>
            <a:ext cx="571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007D7B"/>
                </a:solidFill>
                <a:latin typeface="Helvetica Neue"/>
                <a:ea typeface="Helvetica Neue"/>
                <a:cs typeface="Helvetica Neue"/>
              </a:defRPr>
            </a:defPPr>
          </a:lstStyle>
          <a:p xmlns:a="http://schemas.openxmlformats.org/drawingml/2006/main">
            <a:pPr>
              <a:defRPr sz="2400" b="1">
                <a:solidFill>
                  <a:srgbClr val="007D7B"/>
                </a:solidFill>
                <a:latin typeface="Helvetica Neue"/>
                <a:ea typeface="Helvetica Neue"/>
                <a:cs typeface="Helvetica Neue"/>
              </a:defRPr>
            </a:pPr>
            <a:r>
              <a:rPr sz="2400" b="1">
                <a:solidFill>
                  <a:srgbClr val="007D7B"/>
                </a:solidFill>
                <a:latin typeface="Helvetica Neue"/>
                <a:ea typeface="Helvetica Neue"/>
                <a:cs typeface="Helvetica Neue"/>
              </a:rPr>
              <a:t>5.</a:t>
            </a:r>
          </a:p>
        </p:txBody>
      </p:sp>
      <p:sp>
        <p:nvSpPr>
          <p:cNvPr id="14" name="Ergebnisse und Spielbeispiel">
            <a:extLst xmlns:a="http://schemas.openxmlformats.org/drawingml/2006/main">
              <a:ext uri="{FF2B5EF4-FFF2-40B4-BE49-F238E27FC236}">
                <a16:creationId xmlns:a16="http://schemas.microsoft.com/office/drawing/2014/main" id="{6D651846-F33A-4681-88BB-FCDD9C4E8809}"/>
              </a:ext>
            </a:extLst>
          </p:cNvPr>
          <p:cNvSpPr>
            <a:spLocks xmlns:a="http://schemas.openxmlformats.org/drawingml/2006/main" noGrp="1"/>
          </p:cNvSpPr>
          <p:nvPr/>
        </p:nvSpPr>
        <p:spPr>
          <a:xfrm xmlns:a="http://schemas.openxmlformats.org/drawingml/2006/main">
            <a:off x="1752600" y="4572000"/>
            <a:ext cx="942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02D35"/>
                </a:solidFill>
                <a:latin typeface="Helvetica Neue"/>
                <a:ea typeface="Helvetica Neue"/>
                <a:cs typeface="Helvetica Neue"/>
              </a:defRPr>
            </a:defPPr>
          </a:lstStyle>
          <a:p xmlns:a="http://schemas.openxmlformats.org/drawingml/2006/main">
            <a:pPr>
              <a:defRPr sz="2400" b="0">
                <a:solidFill>
                  <a:srgbClr val="102D35"/>
                </a:solidFill>
                <a:latin typeface="Helvetica Neue"/>
                <a:ea typeface="Helvetica Neue"/>
                <a:cs typeface="Helvetica Neue"/>
              </a:defRPr>
            </a:pPr>
            <a:r>
              <a:rPr sz="2400" b="0">
                <a:solidFill>
                  <a:srgbClr val="102D35"/>
                </a:solidFill>
                <a:latin typeface="Helvetica Neue"/>
                <a:ea typeface="Helvetica Neue"/>
                <a:cs typeface="Helvetica Neue"/>
              </a:rPr>
              <a:t>Ergebnisse und Spielbeispiel</a:t>
            </a:r>
          </a:p>
        </p:txBody>
      </p:sp>
      <p:sp>
        <p:nvSpPr>
          <p:cNvPr id="15" name="6.">
            <a:extLst xmlns:a="http://schemas.openxmlformats.org/drawingml/2006/main">
              <a:ext uri="{FF2B5EF4-FFF2-40B4-BE49-F238E27FC236}">
                <a16:creationId xmlns:a16="http://schemas.microsoft.com/office/drawing/2014/main" id="{EE11B27D-EC8F-45BF-AB4A-95F95A4FAAC3}"/>
              </a:ext>
            </a:extLst>
          </p:cNvPr>
          <p:cNvSpPr>
            <a:spLocks xmlns:a="http://schemas.openxmlformats.org/drawingml/2006/main" noGrp="1"/>
          </p:cNvSpPr>
          <p:nvPr/>
        </p:nvSpPr>
        <p:spPr>
          <a:xfrm xmlns:a="http://schemas.openxmlformats.org/drawingml/2006/main">
            <a:off x="990600" y="5229225"/>
            <a:ext cx="571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007D7B"/>
                </a:solidFill>
                <a:latin typeface="Helvetica Neue"/>
                <a:ea typeface="Helvetica Neue"/>
                <a:cs typeface="Helvetica Neue"/>
              </a:defRPr>
            </a:defPPr>
          </a:lstStyle>
          <a:p xmlns:a="http://schemas.openxmlformats.org/drawingml/2006/main">
            <a:pPr>
              <a:defRPr sz="2400" b="1">
                <a:solidFill>
                  <a:srgbClr val="007D7B"/>
                </a:solidFill>
                <a:latin typeface="Helvetica Neue"/>
                <a:ea typeface="Helvetica Neue"/>
                <a:cs typeface="Helvetica Neue"/>
              </a:defRPr>
            </a:pPr>
            <a:r>
              <a:rPr sz="2400" b="1">
                <a:solidFill>
                  <a:srgbClr val="007D7B"/>
                </a:solidFill>
                <a:latin typeface="Helvetica Neue"/>
                <a:ea typeface="Helvetica Neue"/>
                <a:cs typeface="Helvetica Neue"/>
              </a:rPr>
              <a:t>6.</a:t>
            </a:r>
          </a:p>
        </p:txBody>
      </p:sp>
      <p:sp>
        <p:nvSpPr>
          <p:cNvPr id="16" name="Erkenntnisse und Ausblick">
            <a:extLst xmlns:a="http://schemas.openxmlformats.org/drawingml/2006/main">
              <a:ext uri="{FF2B5EF4-FFF2-40B4-BE49-F238E27FC236}">
                <a16:creationId xmlns:a16="http://schemas.microsoft.com/office/drawing/2014/main" id="{880088CE-1090-413E-AB50-E11D5F22B4BA}"/>
              </a:ext>
            </a:extLst>
          </p:cNvPr>
          <p:cNvSpPr>
            <a:spLocks xmlns:a="http://schemas.openxmlformats.org/drawingml/2006/main" noGrp="1"/>
          </p:cNvSpPr>
          <p:nvPr/>
        </p:nvSpPr>
        <p:spPr>
          <a:xfrm xmlns:a="http://schemas.openxmlformats.org/drawingml/2006/main">
            <a:off x="1752600" y="5229225"/>
            <a:ext cx="942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02D35"/>
                </a:solidFill>
                <a:latin typeface="Helvetica Neue"/>
                <a:ea typeface="Helvetica Neue"/>
                <a:cs typeface="Helvetica Neue"/>
              </a:defRPr>
            </a:defPPr>
          </a:lstStyle>
          <a:p xmlns:a="http://schemas.openxmlformats.org/drawingml/2006/main">
            <a:pPr>
              <a:defRPr sz="2400" b="0">
                <a:solidFill>
                  <a:srgbClr val="102D35"/>
                </a:solidFill>
                <a:latin typeface="Helvetica Neue"/>
                <a:ea typeface="Helvetica Neue"/>
                <a:cs typeface="Helvetica Neue"/>
              </a:defRPr>
            </a:pPr>
            <a:r>
              <a:rPr sz="2400" b="0">
                <a:solidFill>
                  <a:srgbClr val="102D35"/>
                </a:solidFill>
                <a:latin typeface="Helvetica Neue"/>
                <a:ea typeface="Helvetica Neue"/>
                <a:cs typeface="Helvetica Neue"/>
              </a:rPr>
              <a:t>Erkenntnisse und Ausblick</a:t>
            </a:r>
          </a:p>
        </p:txBody>
      </p:sp>
    </p:spTree>
    <p:extLst>
      <p:ext uri="{BB962C8B-B14F-4D97-AF65-F5344CB8AC3E}">
        <p14:creationId xmlns:p14="http://schemas.microsoft.com/office/powerpoint/2010/main" val="1632561184"/>
      </p:ext>
    </p:extLst>
  </p:cSld>
</p:sld>
</file>

<file path=ppt/slides/slide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7F7F0"/>
        </a:solidFill>
      </p:bgPr>
    </p:bg>
    <p:spTree>
      <p:nvGrpSpPr>
        <p:cNvPr id="1" name=""/>
        <p:cNvGrpSpPr/>
        <p:nvPr/>
      </p:nvGrpSpPr>
      <p:grpSpPr>
        <a:xfrm/>
      </p:grpSpPr>
      <p:sp>
        <p:nvSpPr>
          <p:cNvPr id="9" name="SHERLOCK / REVIEW 01">
            <a:extLst>
              <a:ext uri="{FF2B5EF4-FFF2-40B4-BE49-F238E27FC236}">
                <ns2:creationId id="{8A821AD7-827B-4464-A2B0-4A5953C9B460}"/>
              </a:ext>
            </a:extLst>
          </p:cNvPr>
          <p:cNvSpPr>
            <a:spLocks noGrp="1"/>
          </p:cNvSpPr>
          <p:nvPr/>
        </p:nvSpPr>
        <p:spPr>
          <a:xfrm>
            <a:off x="609600" y="266700"/>
            <a:ext cx="8572500" cy="304800"/>
          </a:xfrm>
          <a:prstGeom prst="rect">
            <a:avLst/>
          </a:prstGeom>
          <a:noFill/>
          <a:ln w="0">
            <a:noFill/>
          </a:ln>
        </p:spPr>
        <p:txBody>
          <a:bodyPr/>
          <a:lstStyle>
            <a:defPPr>
              <a:defRPr sz="1350" b="1">
                <a:solidFill>
                  <a:srgbClr val="007D7B"/>
                </a:solidFill>
                <a:latin typeface="Helvetica Neue"/>
                <a:ea typeface="Helvetica Neue"/>
                <a:cs typeface="Helvetica Neue"/>
              </a:defRPr>
            </a:defPPr>
          </a:lstStyle>
          <a:p>
            <a:pPr>
              <a:defRPr sz="1350" b="1">
                <a:solidFill>
                  <a:srgbClr val="007D7B"/>
                </a:solidFill>
                <a:latin typeface="Helvetica Neue"/>
                <a:ea typeface="Helvetica Neue"/>
                <a:cs typeface="Helvetica Neue"/>
              </a:defRPr>
            </a:pPr>
            <a:r>
              <a:rPr sz="1350" b="1">
                <a:solidFill>
                  <a:srgbClr val="007D7B"/>
                </a:solidFill>
                <a:latin typeface="Helvetica Neue"/>
                <a:ea typeface="Helvetica Neue"/>
                <a:cs typeface="Helvetica Neue"/>
              </a:rPr>
              <a:t>SHERLOCK / REVIEW 01</a:t>
            </a:r>
          </a:p>
        </p:txBody>
      </p:sp>
      <p:sp>
        <p:nvSpPr>
          <p:cNvPr id="2" name="Punkte finden, Felder halten, Matches gewinne">
            <a:extLst>
              <a:ext uri="{FF2B5EF4-FFF2-40B4-BE49-F238E27FC236}">
                <ns2:creationId id="{03D0DC90-6ADE-4ACA-8683-2F7B48C0FB8C}"/>
              </a:ext>
            </a:extLst>
          </p:cNvPr>
          <p:cNvSpPr>
            <a:spLocks noGrp="1"/>
          </p:cNvSpPr>
          <p:nvPr/>
        </p:nvSpPr>
        <p:spPr>
          <a:xfrm>
            <a:off x="609600" y="781050"/>
            <a:ext cx="10972800" cy="1028700"/>
          </a:xfrm>
          <a:prstGeom prst="rect">
            <a:avLst/>
          </a:prstGeom>
          <a:noFill/>
          <a:ln w="0">
            <a:noFill/>
          </a:ln>
        </p:spPr>
        <p:txBody>
          <a:bodyPr/>
          <a:lstStyle>
            <a:defPPr>
              <a:defRPr sz="3300" b="1">
                <a:solidFill>
                  <a:srgbClr val="102D35"/>
                </a:solidFill>
                <a:latin typeface="Helvetica Neue"/>
                <a:ea typeface="Helvetica Neue"/>
                <a:cs typeface="Helvetica Neue"/>
              </a:defRPr>
            </a:defPPr>
          </a:lstStyle>
          <a:p>
            <a:pPr>
              <a:buNone/>
              <a:defRPr sz="3300" b="1">
                <a:solidFill>
                  <a:srgbClr val="102D35"/>
                </a:solidFill>
                <a:latin typeface="Helvetica Neue"/>
                <a:ea typeface="Helvetica Neue"/>
                <a:cs typeface="Helvetica Neue"/>
              </a:defRPr>
            </a:pPr>
            <a:r>
              <a:rPr sz="3300" b="1">
                <a:solidFill>
                  <a:srgbClr val="102D35"/>
                </a:solidFill>
                <a:latin typeface="Helvetica Neue"/>
                <a:ea typeface="Helvetica Neue"/>
                <a:cs typeface="Helvetica Neue"/>
              </a:rPr>
              <a:t>Spielidee und Ziel</a:t>
            </a:r>
          </a:p>
        </p:txBody>
      </p:sp>
      <p:sp>
        <p:nvSpPr>
          <p:cNvPr id="3" name="Team 15 · Mahmoud El-Hassan &amp; Moayed Shawesh">
            <a:extLst>
              <a:ext uri="{FF2B5EF4-FFF2-40B4-BE49-F238E27FC236}">
                <ns2:creationId id="{ADB466FC-58DE-4DE7-A6C1-340A4063D7D0}"/>
              </a:ext>
            </a:extLst>
          </p:cNvPr>
          <p:cNvSpPr>
            <a:spLocks noGrp="1"/>
          </p:cNvSpPr>
          <p:nvPr/>
        </p:nvSpPr>
        <p:spPr>
          <a:xfrm>
            <a:off x="609600" y="6419850"/>
            <a:ext cx="9906000" cy="266700"/>
          </a:xfrm>
          <a:prstGeom prst="rect">
            <a:avLst/>
          </a:prstGeom>
          <a:noFill/>
          <a:ln w="0">
            <a:noFill/>
          </a:ln>
        </p:spPr>
        <p:txBody>
          <a:bodyPr/>
          <a:lstStyle>
            <a:defPPr>
              <a:defRPr sz="1200" b="0">
                <a:solidFill>
                  <a:srgbClr val="526B70"/>
                </a:solidFill>
                <a:latin typeface="Helvetica Neue"/>
                <a:ea typeface="Helvetica Neue"/>
                <a:cs typeface="Helvetica Neue"/>
              </a:defRPr>
            </a:defPPr>
          </a:lstStyle>
          <a:p>
            <a:pPr>
              <a:defRPr sz="1200" b="0">
                <a:solidFill>
                  <a:srgbClr val="526B70"/>
                </a:solidFill>
                <a:latin typeface="Helvetica Neue"/>
                <a:ea typeface="Helvetica Neue"/>
                <a:cs typeface="Helvetica Neue"/>
              </a:defRPr>
            </a:pPr>
            <a:r>
              <a:rPr sz="1200" b="0">
                <a:solidFill>
                  <a:srgbClr val="526B70"/>
                </a:solidFill>
                <a:latin typeface="Helvetica Neue"/>
                <a:ea typeface="Helvetica Neue"/>
                <a:cs typeface="Helvetica Neue"/>
              </a:rPr>
              <a:t>Team 15 · Mahmoud El-Hassan &amp; Moayed Shawesh</a:t>
            </a:r>
          </a:p>
        </p:txBody>
      </p:sp>
      <p:sp>
        <p:nvSpPr>
          <p:cNvPr id="4" name="02">
            <a:extLst>
              <a:ext uri="{FF2B5EF4-FFF2-40B4-BE49-F238E27FC236}">
                <ns2:creationId id="{DC094024-AC17-483A-ACC5-4D03D652C3C6}"/>
              </a:ext>
            </a:extLst>
          </p:cNvPr>
          <p:cNvSpPr>
            <a:spLocks noGrp="1"/>
          </p:cNvSpPr>
          <p:nvPr/>
        </p:nvSpPr>
        <p:spPr>
          <a:xfrm>
            <a:off x="11049000" y="6419850"/>
            <a:ext cx="533400" cy="266700"/>
          </a:xfrm>
          <a:prstGeom prst="rect">
            <a:avLst/>
          </a:prstGeom>
          <a:noFill/>
          <a:ln w="0">
            <a:noFill/>
          </a:ln>
        </p:spPr>
        <p:txBody>
          <a:bodyPr/>
          <a:lstStyle>
            <a:defPPr>
              <a:defRPr sz="1200" b="0">
                <a:solidFill>
                  <a:srgbClr val="526B70"/>
                </a:solidFill>
                <a:latin typeface="Helvetica Neue"/>
                <a:ea typeface="Helvetica Neue"/>
                <a:cs typeface="Helvetica Neue"/>
              </a:defRPr>
            </a:defPPr>
          </a:lstStyle>
          <a:p>
            <a:pPr>
              <a:defRPr sz="1200" b="0">
                <a:solidFill>
                  <a:srgbClr val="526B70"/>
                </a:solidFill>
                <a:latin typeface="Helvetica Neue"/>
                <a:ea typeface="Helvetica Neue"/>
                <a:cs typeface="Helvetica Neue"/>
              </a:defRPr>
            </a:pPr>
            <a:r>
              <a:rPr sz="1200" b="0">
                <a:solidFill>
                  <a:srgbClr val="526B70"/>
                </a:solidFill>
                <a:latin typeface="Helvetica Neue"/>
                <a:ea typeface="Helvetica Neue"/>
                <a:cs typeface="Helvetica Neue"/>
              </a:rPr>
              <a:t>03</a:t>
            </a:r>
          </a:p>
        </p:txBody>
      </p:sp>
      <p:sp>
        <p:nvSpPr>
          <p:cNvPr id="5" name="24 × 24 Felder&#10;Bis zu 16 Einheiten pro Team">
            <a:extLst>
              <a:ext uri="{FF2B5EF4-FFF2-40B4-BE49-F238E27FC236}">
                <ns2:creationId id="{7BFD6114-6810-4C2B-A8DD-E65FEBD8431A}"/>
              </a:ext>
            </a:extLst>
          </p:cNvPr>
          <p:cNvSpPr>
            <a:spLocks noGrp="1"/>
          </p:cNvSpPr>
          <p:nvPr/>
        </p:nvSpPr>
        <p:spPr>
          <a:xfrm>
            <a:off x="609600" y="2076450"/>
            <a:ext cx="5810250" cy="971550"/>
          </a:xfrm>
          <a:prstGeom prst="rect">
            <a:avLst/>
          </a:prstGeom>
          <a:noFill/>
          <a:ln w="0">
            <a:noFill/>
          </a:ln>
        </p:spPr>
        <p:txBody>
          <a:bodyPr>
            <a:noAutofit/>
          </a:bodyPr>
          <a:lstStyle>
            <a:defPPr algn="l">
              <a:defRPr sz="2400" b="1">
                <a:solidFill>
                  <a:srgbClr val="102D35"/>
                </a:solidFill>
                <a:latin typeface="Helvetica Neue"/>
                <a:ea typeface="Helvetica Neue"/>
                <a:cs typeface="Helvetica Neue"/>
              </a:defRPr>
            </a:defPPr>
          </a:lstStyle>
          <a:p>
            <a:pPr marL="330200" indent="-254000" algn="l">
              <a:spcAft>
                <a:spcPts val="800"/>
              </a:spcAft>
              <a:buFont typeface="Helvetica Neue"/>
              <a:buChar char="–"/>
              <a:defRPr sz="2400" b="1">
                <a:solidFill>
                  <a:srgbClr val="102D35"/>
                </a:solidFill>
                <a:latin typeface="Helvetica Neue"/>
                <a:ea typeface="Helvetica Neue"/>
                <a:cs typeface="Helvetica Neue"/>
              </a:defRPr>
            </a:pPr>
            <a:r>
              <a:rPr sz="2400" b="1">
                <a:solidFill>
                  <a:srgbClr val="102D35"/>
                </a:solidFill>
                <a:latin typeface="Helvetica Neue"/>
                <a:ea typeface="Helvetica Neue"/>
                <a:cs typeface="Helvetica Neue"/>
              </a:rPr>
              <a:t>24 × 24 Felder</a:t>
            </a:r>
          </a:p>
          <a:p>
            <a:pPr marL="330200" indent="-254000" algn="l">
              <a:spcAft>
                <a:spcPts val="800"/>
              </a:spcAft>
              <a:buFont typeface="Helvetica Neue"/>
              <a:buChar char="–"/>
              <a:defRPr sz="2400" b="1">
                <a:solidFill>
                  <a:srgbClr val="102D35"/>
                </a:solidFill>
                <a:latin typeface="Helvetica Neue"/>
                <a:ea typeface="Helvetica Neue"/>
                <a:cs typeface="Helvetica Neue"/>
              </a:defRPr>
            </a:pPr>
            <a:r>
              <a:rPr sz="2400" b="1">
                <a:solidFill>
                  <a:srgbClr val="102D35"/>
                </a:solidFill>
                <a:latin typeface="Helvetica Neue"/>
                <a:ea typeface="Helvetica Neue"/>
                <a:cs typeface="Helvetica Neue"/>
              </a:rPr>
              <a:t>Bis zu 16 Einheiten pro Team</a:t>
            </a:r>
          </a:p>
        </p:txBody>
      </p:sp>
      <p:sp>
        <p:nvSpPr>
          <p:cNvPr id="6" name="Erkunden: Informationen fehlen.&#10;Planen: Energ">
            <a:extLst>
              <a:ext uri="{FF2B5EF4-FFF2-40B4-BE49-F238E27FC236}">
                <ns2:creationId id="{8759D40C-53CB-4992-8AD5-7DF6D0167C58}"/>
              </a:ext>
            </a:extLst>
          </p:cNvPr>
          <p:cNvSpPr>
            <a:spLocks noGrp="1"/>
          </p:cNvSpPr>
          <p:nvPr/>
        </p:nvSpPr>
        <p:spPr>
          <a:xfrm>
            <a:off x="609600" y="3438525"/>
            <a:ext cx="5810250" cy="1524000"/>
          </a:xfrm>
          <a:prstGeom prst="rect">
            <a:avLst/>
          </a:prstGeom>
          <a:noFill/>
          <a:ln w="0">
            <a:noFill/>
          </a:ln>
        </p:spPr>
        <p:txBody>
          <a:bodyPr>
            <a:noAutofit/>
          </a:bodyPr>
          <a:lstStyle>
            <a:defPPr algn="l">
              <a:defRPr sz="2175" b="0">
                <a:solidFill>
                  <a:srgbClr val="526B70"/>
                </a:solidFill>
                <a:latin typeface="Helvetica Neue"/>
                <a:ea typeface="Helvetica Neue"/>
                <a:cs typeface="Helvetica Neue"/>
              </a:defRPr>
            </a:defPPr>
          </a:lstStyle>
          <a:p>
            <a:pPr marL="330200" indent="-254000" algn="l">
              <a:spcAft>
                <a:spcPts val="800"/>
              </a:spcAft>
              <a:buFont typeface="Helvetica Neue"/>
              <a:buChar char="–"/>
              <a:defRPr sz="2175" b="0">
                <a:solidFill>
                  <a:srgbClr val="526B70"/>
                </a:solidFill>
                <a:latin typeface="Helvetica Neue"/>
                <a:ea typeface="Helvetica Neue"/>
                <a:cs typeface="Helvetica Neue"/>
              </a:defRPr>
            </a:pPr>
            <a:r>
              <a:rPr sz="2175">
                <a:solidFill>
                  <a:srgbClr val="526B70"/>
                </a:solidFill>
                <a:latin typeface="Helvetica Neue"/>
                <a:ea typeface="Helvetica Neue"/>
                <a:cs typeface="Helvetica Neue"/>
              </a:rPr>
              <a:t>Erkunden: Informationen fehlen</a:t>
            </a:r>
          </a:p>
          <a:p>
            <a:pPr marL="330200" indent="-254000" algn="l">
              <a:spcAft>
                <a:spcPts val="800"/>
              </a:spcAft>
              <a:buFont typeface="Helvetica Neue"/>
              <a:buChar char="–"/>
              <a:defRPr sz="2175" b="0">
                <a:solidFill>
                  <a:srgbClr val="526B70"/>
                </a:solidFill>
                <a:latin typeface="Helvetica Neue"/>
                <a:ea typeface="Helvetica Neue"/>
                <a:cs typeface="Helvetica Neue"/>
              </a:defRPr>
            </a:pPr>
            <a:r>
              <a:rPr sz="2175">
                <a:solidFill>
                  <a:srgbClr val="526B70"/>
                </a:solidFill>
                <a:latin typeface="Helvetica Neue"/>
                <a:ea typeface="Helvetica Neue"/>
                <a:cs typeface="Helvetica Neue"/>
              </a:rPr>
              <a:t>Planen: Energie ist begrenzt</a:t>
            </a:r>
          </a:p>
          <a:p>
            <a:pPr marL="330200" indent="-254000" algn="l">
              <a:spcAft>
                <a:spcPts val="800"/>
              </a:spcAft>
              <a:buFont typeface="Helvetica Neue"/>
              <a:buChar char="–"/>
              <a:defRPr sz="2175" b="0">
                <a:solidFill>
                  <a:srgbClr val="526B70"/>
                </a:solidFill>
                <a:latin typeface="Helvetica Neue"/>
                <a:ea typeface="Helvetica Neue"/>
                <a:cs typeface="Helvetica Neue"/>
              </a:defRPr>
            </a:pPr>
            <a:r>
              <a:rPr sz="2175">
                <a:solidFill>
                  <a:srgbClr val="526B70"/>
                </a:solidFill>
                <a:latin typeface="Helvetica Neue"/>
                <a:ea typeface="Helvetica Neue"/>
                <a:cs typeface="Helvetica Neue"/>
              </a:rPr>
              <a:t>Punkten: unsichtbare Felder besetzen</a:t>
            </a:r>
          </a:p>
        </p:txBody>
      </p:sp>
      <p:sp>
        <p:nvSpPr>
          <p:cNvPr id="7" name="Kurs: 3 Matches je Spiel">
            <a:extLst>
              <a:ext uri="{FF2B5EF4-FFF2-40B4-BE49-F238E27FC236}">
                <ns2:creationId id="{A806DAF2-CC4A-4B2D-A449-2ABA2F23DD88}"/>
              </a:ext>
            </a:extLst>
          </p:cNvPr>
          <p:cNvSpPr>
            <a:spLocks noGrp="1"/>
          </p:cNvSpPr>
          <p:nvPr/>
        </p:nvSpPr>
        <p:spPr>
          <a:xfrm>
            <a:off x="609600" y="5276850"/>
            <a:ext cx="5810250" cy="457200"/>
          </a:xfrm>
          <a:prstGeom prst="rect">
            <a:avLst/>
          </a:prstGeom>
          <a:noFill/>
          <a:ln w="0">
            <a:noFill/>
          </a:ln>
        </p:spPr>
        <p:txBody>
          <a:bodyPr>
            <a:noAutofit/>
          </a:bodyPr>
          <a:lstStyle>
            <a:defPPr algn="l">
              <a:defRPr sz="2175" b="1">
                <a:solidFill>
                  <a:srgbClr val="007D7B"/>
                </a:solidFill>
                <a:latin typeface="Helvetica Neue"/>
                <a:ea typeface="Helvetica Neue"/>
                <a:cs typeface="Helvetica Neue"/>
              </a:defRPr>
            </a:defPPr>
          </a:lstStyle>
          <a:p>
            <a:pPr marL="330200" indent="-254000" algn="l">
              <a:spcAft>
                <a:spcPts val="0"/>
              </a:spcAft>
              <a:buFont typeface="Helvetica Neue"/>
              <a:buChar char="–"/>
              <a:defRPr sz="2175" b="1">
                <a:solidFill>
                  <a:srgbClr val="007D7B"/>
                </a:solidFill>
                <a:latin typeface="Helvetica Neue"/>
                <a:ea typeface="Helvetica Neue"/>
                <a:cs typeface="Helvetica Neue"/>
              </a:defRPr>
            </a:pPr>
            <a:r>
              <a:rPr sz="2175" b="1">
                <a:solidFill>
                  <a:srgbClr val="007D7B"/>
                </a:solidFill>
                <a:latin typeface="Helvetica Neue"/>
                <a:ea typeface="Helvetica Neue"/>
                <a:cs typeface="Helvetica Neue"/>
              </a:rPr>
              <a:t>Kurs: 3 Matches je Spiel</a:t>
            </a:r>
          </a:p>
        </p:txBody>
      </p:sp>
      <p:pic>
        <p:nvPicPr>
          <p:cNvPr id="8" name="">
            <a:extLst>
              <a:ext uri="{FF2B5EF4-FFF2-40B4-BE49-F238E27FC236}">
                <ns2:creationId id="{B54AF145-BFA5-4066-9854-2BCB2A830553}"/>
              </a:ext>
            </a:extLst>
          </p:cNvPr>
          <p:cNvPicPr>
            <a:picLocks noChangeAspect="1"/>
          </p:cNvPicPr>
          <p:nvPr/>
        </p:nvPicPr>
        <p:blipFill>
          <a:blip r:embed="R05965ca62d664334"/>
          <a:stretch/>
        </p:blipFill>
        <p:spPr>
          <a:xfrm>
            <a:off x="7086600" y="1847850"/>
            <a:ext cx="4191000" cy="4191000"/>
          </a:xfrm>
          <a:prstGeom prst="rect">
            <a:avLst/>
          </a:prstGeom>
        </p:spPr>
      </p:pic>
    </p:spTree>
    <p:extLst>
      <p:ext uri="{BB962C8B-B14F-4D97-AF65-F5344CB8AC3E}">
        <ns4:creationId val="1129645486"/>
      </p:ext>
    </p:extLst>
  </p:cSld>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7F7F0"/>
        </a:solidFill>
      </p:bgPr>
    </p:bg>
    <p:spTree>
      <p:nvGrpSpPr>
        <p:cNvPr id="15" name=""/>
        <p:cNvGrpSpPr/>
        <p:nvPr/>
      </p:nvGrpSpPr>
      <p:grpSpPr>
        <a:xfrm/>
      </p:grpSpPr>
      <p:sp>
        <p:nvSpPr>
          <p:cNvPr id="14" name="SHERLOCK / REVIEW 01">
            <a:extLst>
              <a:ext uri="{FF2B5EF4-FFF2-40B4-BE49-F238E27FC236}">
                <ns2:creationId id="{7338FA58-0222-4FB1-B19B-6C5C3D747C21}"/>
              </a:ext>
            </a:extLst>
          </p:cNvPr>
          <p:cNvSpPr>
            <a:spLocks noGrp="1"/>
          </p:cNvSpPr>
          <p:nvPr/>
        </p:nvSpPr>
        <p:spPr>
          <a:xfrm>
            <a:off x="609600" y="266700"/>
            <a:ext cx="8572500" cy="304800"/>
          </a:xfrm>
          <a:prstGeom prst="rect">
            <a:avLst/>
          </a:prstGeom>
          <a:noFill/>
          <a:ln w="0">
            <a:noFill/>
          </a:ln>
        </p:spPr>
        <p:txBody>
          <a:bodyPr/>
          <a:lstStyle>
            <a:defPPr>
              <a:defRPr sz="1350" b="1">
                <a:solidFill>
                  <a:srgbClr val="007D7B"/>
                </a:solidFill>
                <a:latin typeface="Helvetica Neue"/>
                <a:ea typeface="Helvetica Neue"/>
                <a:cs typeface="Helvetica Neue"/>
              </a:defRPr>
            </a:defPPr>
          </a:lstStyle>
          <a:p>
            <a:pPr>
              <a:defRPr sz="1350" b="1">
                <a:solidFill>
                  <a:srgbClr val="007D7B"/>
                </a:solidFill>
                <a:latin typeface="Helvetica Neue"/>
                <a:ea typeface="Helvetica Neue"/>
                <a:cs typeface="Helvetica Neue"/>
              </a:defRPr>
            </a:pPr>
            <a:r>
              <a:rPr sz="1350" b="1">
                <a:solidFill>
                  <a:srgbClr val="007D7B"/>
                </a:solidFill>
                <a:latin typeface="Helvetica Neue"/>
                <a:ea typeface="Helvetica Neue"/>
                <a:cs typeface="Helvetica Neue"/>
              </a:rPr>
              <a:t>SHERLOCK / REVIEW 01</a:t>
            </a:r>
          </a:p>
        </p:txBody>
      </p:sp>
      <p:sp>
        <p:nvSpPr>
          <p:cNvPr id="2" name="Sherlock verbindet Gedächtnis und Lernen">
            <a:extLst>
              <a:ext uri="{FF2B5EF4-FFF2-40B4-BE49-F238E27FC236}">
                <ns2:creationId id="{B8EE9733-97A3-4D50-BFFA-377A4F9585FD}"/>
              </a:ext>
            </a:extLst>
          </p:cNvPr>
          <p:cNvSpPr>
            <a:spLocks noGrp="1"/>
          </p:cNvSpPr>
          <p:nvPr/>
        </p:nvSpPr>
        <p:spPr>
          <a:xfrm>
            <a:off x="609600" y="781050"/>
            <a:ext cx="10972800" cy="1028700"/>
          </a:xfrm>
          <a:prstGeom prst="rect">
            <a:avLst/>
          </a:prstGeom>
          <a:noFill/>
          <a:ln w="0">
            <a:noFill/>
          </a:ln>
        </p:spPr>
        <p:txBody>
          <a:bodyPr/>
          <a:lstStyle>
            <a:defPPr>
              <a:defRPr sz="3300" b="1">
                <a:solidFill>
                  <a:srgbClr val="102D35"/>
                </a:solidFill>
                <a:latin typeface="Helvetica Neue"/>
                <a:ea typeface="Helvetica Neue"/>
                <a:cs typeface="Helvetica Neue"/>
              </a:defRPr>
            </a:defPPr>
          </a:lstStyle>
          <a:p>
            <a:pPr>
              <a:buNone/>
              <a:defRPr sz="3300" b="1">
                <a:solidFill>
                  <a:srgbClr val="102D35"/>
                </a:solidFill>
                <a:latin typeface="Helvetica Neue"/>
                <a:ea typeface="Helvetica Neue"/>
                <a:cs typeface="Helvetica Neue"/>
              </a:defRPr>
            </a:pPr>
            <a:r>
              <a:rPr sz="3300" b="1">
                <a:solidFill>
                  <a:srgbClr val="102D35"/>
                </a:solidFill>
                <a:latin typeface="Helvetica Neue"/>
                <a:ea typeface="Helvetica Neue"/>
                <a:cs typeface="Helvetica Neue"/>
              </a:rPr>
              <a:t>Unser Agent</a:t>
            </a:r>
          </a:p>
        </p:txBody>
      </p:sp>
      <p:sp>
        <p:nvSpPr>
          <p:cNvPr id="3" name="Team 15 · Mahmoud El-Hassan &amp; Moayed Shawesh">
            <a:extLst>
              <a:ext uri="{FF2B5EF4-FFF2-40B4-BE49-F238E27FC236}">
                <ns2:creationId id="{DB01F9D5-F2AB-421A-8A6C-8DA739EDABFF}"/>
              </a:ext>
            </a:extLst>
          </p:cNvPr>
          <p:cNvSpPr>
            <a:spLocks noGrp="1"/>
          </p:cNvSpPr>
          <p:nvPr/>
        </p:nvSpPr>
        <p:spPr>
          <a:xfrm>
            <a:off x="609600" y="6419850"/>
            <a:ext cx="9906000" cy="266700"/>
          </a:xfrm>
          <a:prstGeom prst="rect">
            <a:avLst/>
          </a:prstGeom>
          <a:noFill/>
          <a:ln w="0">
            <a:noFill/>
          </a:ln>
        </p:spPr>
        <p:txBody>
          <a:bodyPr/>
          <a:lstStyle>
            <a:defPPr>
              <a:defRPr sz="1200" b="0">
                <a:solidFill>
                  <a:srgbClr val="526B70"/>
                </a:solidFill>
                <a:latin typeface="Helvetica Neue"/>
                <a:ea typeface="Helvetica Neue"/>
                <a:cs typeface="Helvetica Neue"/>
              </a:defRPr>
            </a:defPPr>
          </a:lstStyle>
          <a:p>
            <a:pPr>
              <a:defRPr sz="1200" b="0">
                <a:solidFill>
                  <a:srgbClr val="526B70"/>
                </a:solidFill>
                <a:latin typeface="Helvetica Neue"/>
                <a:ea typeface="Helvetica Neue"/>
                <a:cs typeface="Helvetica Neue"/>
              </a:defRPr>
            </a:pPr>
            <a:r>
              <a:rPr sz="1200" b="0">
                <a:solidFill>
                  <a:srgbClr val="526B70"/>
                </a:solidFill>
                <a:latin typeface="Helvetica Neue"/>
                <a:ea typeface="Helvetica Neue"/>
                <a:cs typeface="Helvetica Neue"/>
              </a:rPr>
              <a:t>Team 15 · Mahmoud El-Hassan &amp; Moayed Shawesh</a:t>
            </a:r>
          </a:p>
        </p:txBody>
      </p:sp>
      <p:sp>
        <p:nvSpPr>
          <p:cNvPr id="4" name="03">
            <a:extLst>
              <a:ext uri="{FF2B5EF4-FFF2-40B4-BE49-F238E27FC236}">
                <ns2:creationId id="{9D05B7E7-02E6-4E14-8C60-297CE22B98E9}"/>
              </a:ext>
            </a:extLst>
          </p:cNvPr>
          <p:cNvSpPr>
            <a:spLocks noGrp="1"/>
          </p:cNvSpPr>
          <p:nvPr/>
        </p:nvSpPr>
        <p:spPr>
          <a:xfrm>
            <a:off x="11049000" y="6419850"/>
            <a:ext cx="533400" cy="266700"/>
          </a:xfrm>
          <a:prstGeom prst="rect">
            <a:avLst/>
          </a:prstGeom>
          <a:noFill/>
          <a:ln w="0">
            <a:noFill/>
          </a:ln>
        </p:spPr>
        <p:txBody>
          <a:bodyPr/>
          <a:lstStyle>
            <a:defPPr>
              <a:defRPr sz="1200" b="0">
                <a:solidFill>
                  <a:srgbClr val="526B70"/>
                </a:solidFill>
                <a:latin typeface="Helvetica Neue"/>
                <a:ea typeface="Helvetica Neue"/>
                <a:cs typeface="Helvetica Neue"/>
              </a:defRPr>
            </a:defPPr>
          </a:lstStyle>
          <a:p>
            <a:pPr>
              <a:defRPr sz="1200" b="0">
                <a:solidFill>
                  <a:srgbClr val="526B70"/>
                </a:solidFill>
                <a:latin typeface="Helvetica Neue"/>
                <a:ea typeface="Helvetica Neue"/>
                <a:cs typeface="Helvetica Neue"/>
              </a:defRPr>
            </a:pPr>
            <a:r>
              <a:rPr sz="1200" b="0">
                <a:solidFill>
                  <a:srgbClr val="526B70"/>
                </a:solidFill>
                <a:latin typeface="Helvetica Neue"/>
                <a:ea typeface="Helvetica Neue"/>
                <a:cs typeface="Helvetica Neue"/>
              </a:rPr>
              <a:t>04</a:t>
            </a:r>
          </a:p>
        </p:txBody>
      </p:sp>
      <p:sp>
        <p:nvSpPr>
          <p:cNvPr id="16" name="revision-code-panel">
            <a:extLst>
              <a:ext uri="{FF2B5EF4-FFF2-40B4-BE49-F238E27FC236}">
                <ns2:creationId id="{2780FA82-746A-4A3C-835D-70842E3DD1B8}"/>
              </a:ext>
            </a:extLst>
          </p:cNvPr>
          <p:cNvSpPr>
            <a:spLocks noGrp="1"/>
          </p:cNvSpPr>
          <p:nvPr/>
        </p:nvSpPr>
        <p:spPr>
          <a:xfrm>
            <a:off x="3714750" y="1847850"/>
            <a:ext cx="7867650" cy="4000500"/>
          </a:xfrm>
          <a:prstGeom prst="roundRect">
            <a:avLst>
              <a:gd name="adj" fmla="val 1905"/>
            </a:avLst>
          </a:prstGeom>
          <a:solidFill>
            <a:srgbClr val="EDF2F2"/>
          </a:solidFill>
          <a:ln w="11430">
            <a:solidFill>
              <a:srgbClr val="CFDBD7"/>
            </a:solidFill>
          </a:ln>
        </p:spPr>
      </p:sp>
      <p:sp>
        <p:nvSpPr>
          <p:cNvPr id="17" name="revision-Merken">
            <a:extLst>
              <a:ext uri="{FF2B5EF4-FFF2-40B4-BE49-F238E27FC236}">
                <ns2:creationId id="{8968B2E5-9369-4A57-AC44-245AAF905467}"/>
              </a:ext>
            </a:extLst>
          </p:cNvPr>
          <p:cNvSpPr>
            <a:spLocks noGrp="1"/>
          </p:cNvSpPr>
          <p:nvPr/>
        </p:nvSpPr>
        <p:spPr>
          <a:xfrm>
            <a:off x="609600" y="2028825"/>
            <a:ext cx="2714625" cy="400050"/>
          </a:xfrm>
          <a:prstGeom prst="rect">
            <a:avLst/>
          </a:prstGeom>
          <a:noFill/>
          <a:ln w="0">
            <a:noFill/>
          </a:ln>
        </p:spPr>
        <p:txBody>
          <a:bodyPr>
            <a:noAutofit/>
          </a:bodyPr>
          <a:lstStyle>
            <a:defPPr>
              <a:defRPr sz="2175" b="1">
                <a:solidFill>
                  <a:srgbClr val="007D7B"/>
                </a:solidFill>
                <a:latin typeface="Helvetica Neue"/>
                <a:ea typeface="Helvetica Neue"/>
                <a:cs typeface="Helvetica Neue"/>
              </a:defRPr>
            </a:defPPr>
          </a:lstStyle>
          <a:p>
            <a:pPr>
              <a:defRPr sz="2175" b="1">
                <a:solidFill>
                  <a:srgbClr val="007D7B"/>
                </a:solidFill>
                <a:latin typeface="Helvetica Neue"/>
                <a:ea typeface="Helvetica Neue"/>
                <a:cs typeface="Helvetica Neue"/>
              </a:defRPr>
            </a:pPr>
            <a:r>
              <a:rPr sz="2175" b="1">
                <a:solidFill>
                  <a:srgbClr val="007D7B"/>
                </a:solidFill>
                <a:latin typeface="Helvetica Neue"/>
                <a:ea typeface="Helvetica Neue"/>
                <a:cs typeface="Helvetica Neue"/>
              </a:rPr>
              <a:t>Merken</a:t>
            </a:r>
          </a:p>
        </p:txBody>
      </p:sp>
      <p:sp>
        <p:nvSpPr>
          <p:cNvPr id="18" name="revision-Beobachtungen im&#10;Gedächtnis sammeln.">
            <a:extLst>
              <a:ext uri="{FF2B5EF4-FFF2-40B4-BE49-F238E27FC236}">
                <ns2:creationId id="{2B532376-CCC7-42B5-A4D3-07979C9C8BA6}"/>
              </a:ext>
            </a:extLst>
          </p:cNvPr>
          <p:cNvSpPr>
            <a:spLocks noGrp="1"/>
          </p:cNvSpPr>
          <p:nvPr/>
        </p:nvSpPr>
        <p:spPr>
          <a:xfrm>
            <a:off x="609600" y="2476500"/>
            <a:ext cx="2714625" cy="742950"/>
          </a:xfrm>
          <a:prstGeom prst="rect">
            <a:avLst/>
          </a:prstGeom>
          <a:noFill/>
          <a:ln w="0">
            <a:noFill/>
          </a:ln>
        </p:spPr>
        <p:txBody>
          <a:bodyPr>
            <a:noAutofit/>
          </a:bodyPr>
          <a:lstStyle>
            <a:defPPr>
              <a:defRPr sz="1875" b="0">
                <a:solidFill>
                  <a:srgbClr val="526B70"/>
                </a:solidFill>
                <a:latin typeface="Helvetica Neue"/>
                <a:ea typeface="Helvetica Neue"/>
                <a:cs typeface="Helvetica Neue"/>
              </a:defRPr>
            </a:defPPr>
          </a:lstStyle>
          <a:p>
            <a:pPr>
              <a:defRPr sz="1875" b="0">
                <a:solidFill>
                  <a:srgbClr val="526B70"/>
                </a:solidFill>
                <a:latin typeface="Helvetica Neue"/>
                <a:ea typeface="Helvetica Neue"/>
                <a:cs typeface="Helvetica Neue"/>
              </a:defRPr>
            </a:pPr>
            <a:r>
              <a:rPr sz="1875" b="0">
                <a:solidFill>
                  <a:srgbClr val="526B70"/>
                </a:solidFill>
                <a:latin typeface="Helvetica Neue"/>
                <a:ea typeface="Helvetica Neue"/>
                <a:cs typeface="Helvetica Neue"/>
              </a:rPr>
              <a:t>Beobachtungen im</a:t>
            </a:r>
          </a:p>
          <a:p>
            <a:pPr>
              <a:defRPr sz="1875" b="0">
                <a:solidFill>
                  <a:srgbClr val="526B70"/>
                </a:solidFill>
                <a:latin typeface="Helvetica Neue"/>
                <a:ea typeface="Helvetica Neue"/>
                <a:cs typeface="Helvetica Neue"/>
              </a:defRPr>
            </a:pPr>
            <a:r>
              <a:rPr sz="1875" b="0">
                <a:solidFill>
                  <a:srgbClr val="526B70"/>
                </a:solidFill>
                <a:latin typeface="Helvetica Neue"/>
                <a:ea typeface="Helvetica Neue"/>
                <a:cs typeface="Helvetica Neue"/>
              </a:rPr>
              <a:t>Gedächtnis sammeln.</a:t>
            </a:r>
          </a:p>
        </p:txBody>
      </p:sp>
      <p:sp>
        <p:nvSpPr>
          <p:cNvPr id="19" name="revision-Bewerten">
            <a:extLst>
              <a:ext uri="{FF2B5EF4-FFF2-40B4-BE49-F238E27FC236}">
                <ns2:creationId id="{B34027A2-F6EB-4EF2-A3C7-5B31C3E64695}"/>
              </a:ext>
            </a:extLst>
          </p:cNvPr>
          <p:cNvSpPr>
            <a:spLocks noGrp="1"/>
          </p:cNvSpPr>
          <p:nvPr/>
        </p:nvSpPr>
        <p:spPr>
          <a:xfrm>
            <a:off x="609600" y="3371850"/>
            <a:ext cx="2714625" cy="400050"/>
          </a:xfrm>
          <a:prstGeom prst="rect">
            <a:avLst/>
          </a:prstGeom>
          <a:noFill/>
          <a:ln w="0">
            <a:noFill/>
          </a:ln>
        </p:spPr>
        <p:txBody>
          <a:bodyPr>
            <a:noAutofit/>
          </a:bodyPr>
          <a:lstStyle>
            <a:defPPr>
              <a:defRPr sz="2175" b="1">
                <a:solidFill>
                  <a:srgbClr val="007D7B"/>
                </a:solidFill>
                <a:latin typeface="Helvetica Neue"/>
                <a:ea typeface="Helvetica Neue"/>
                <a:cs typeface="Helvetica Neue"/>
              </a:defRPr>
            </a:defPPr>
          </a:lstStyle>
          <a:p>
            <a:pPr>
              <a:defRPr sz="2175" b="1">
                <a:solidFill>
                  <a:srgbClr val="007D7B"/>
                </a:solidFill>
                <a:latin typeface="Helvetica Neue"/>
                <a:ea typeface="Helvetica Neue"/>
                <a:cs typeface="Helvetica Neue"/>
              </a:defRPr>
            </a:pPr>
            <a:r>
              <a:rPr sz="2175" b="1">
                <a:solidFill>
                  <a:srgbClr val="007D7B"/>
                </a:solidFill>
                <a:latin typeface="Helvetica Neue"/>
                <a:ea typeface="Helvetica Neue"/>
                <a:cs typeface="Helvetica Neue"/>
              </a:rPr>
              <a:t>Bewerten</a:t>
            </a:r>
          </a:p>
        </p:txBody>
      </p:sp>
      <p:sp>
        <p:nvSpPr>
          <p:cNvPr id="20" name="revision-Sechs Netze schätzen&#10;den Aktionsnutzen.">
            <a:extLst>
              <a:ext uri="{FF2B5EF4-FFF2-40B4-BE49-F238E27FC236}">
                <ns2:creationId id="{A7EA7DD1-2E75-4371-B3AD-9612EA697DB0}"/>
              </a:ext>
            </a:extLst>
          </p:cNvPr>
          <p:cNvSpPr>
            <a:spLocks noGrp="1"/>
          </p:cNvSpPr>
          <p:nvPr/>
        </p:nvSpPr>
        <p:spPr>
          <a:xfrm>
            <a:off x="609600" y="3819525"/>
            <a:ext cx="2714625" cy="742950"/>
          </a:xfrm>
          <a:prstGeom prst="rect">
            <a:avLst/>
          </a:prstGeom>
          <a:noFill/>
          <a:ln w="0">
            <a:noFill/>
          </a:ln>
        </p:spPr>
        <p:txBody>
          <a:bodyPr>
            <a:noAutofit/>
          </a:bodyPr>
          <a:lstStyle>
            <a:defPPr>
              <a:defRPr sz="1875" b="0">
                <a:solidFill>
                  <a:srgbClr val="526B70"/>
                </a:solidFill>
                <a:latin typeface="Helvetica Neue"/>
                <a:ea typeface="Helvetica Neue"/>
                <a:cs typeface="Helvetica Neue"/>
              </a:defRPr>
            </a:defPPr>
          </a:lstStyle>
          <a:p>
            <a:pPr>
              <a:defRPr sz="1875" b="0">
                <a:solidFill>
                  <a:srgbClr val="526B70"/>
                </a:solidFill>
                <a:latin typeface="Helvetica Neue"/>
                <a:ea typeface="Helvetica Neue"/>
                <a:cs typeface="Helvetica Neue"/>
              </a:defRPr>
            </a:pPr>
            <a:r>
              <a:rPr sz="1875" b="0">
                <a:solidFill>
                  <a:srgbClr val="526B70"/>
                </a:solidFill>
                <a:latin typeface="Helvetica Neue"/>
                <a:ea typeface="Helvetica Neue"/>
                <a:cs typeface="Helvetica Neue"/>
              </a:rPr>
              <a:t>Sechs Netze schätzen</a:t>
            </a:r>
          </a:p>
          <a:p>
            <a:pPr>
              <a:defRPr sz="1875" b="0">
                <a:solidFill>
                  <a:srgbClr val="526B70"/>
                </a:solidFill>
                <a:latin typeface="Helvetica Neue"/>
                <a:ea typeface="Helvetica Neue"/>
                <a:cs typeface="Helvetica Neue"/>
              </a:defRPr>
            </a:pPr>
            <a:r>
              <a:rPr sz="1875" b="0">
                <a:solidFill>
                  <a:srgbClr val="526B70"/>
                </a:solidFill>
                <a:latin typeface="Helvetica Neue"/>
                <a:ea typeface="Helvetica Neue"/>
                <a:cs typeface="Helvetica Neue"/>
              </a:rPr>
              <a:t>den Aktionsnutzen.</a:t>
            </a:r>
          </a:p>
        </p:txBody>
      </p:sp>
      <p:sp>
        <p:nvSpPr>
          <p:cNvPr id="21" name="revision-Handeln">
            <a:extLst>
              <a:ext uri="{FF2B5EF4-FFF2-40B4-BE49-F238E27FC236}">
                <ns2:creationId id="{AEBA7F50-A02A-4E60-99E9-D5B92A0E056D}"/>
              </a:ext>
            </a:extLst>
          </p:cNvPr>
          <p:cNvSpPr>
            <a:spLocks noGrp="1"/>
          </p:cNvSpPr>
          <p:nvPr/>
        </p:nvSpPr>
        <p:spPr>
          <a:xfrm>
            <a:off x="609600" y="4714875"/>
            <a:ext cx="2714625" cy="400050"/>
          </a:xfrm>
          <a:prstGeom prst="rect">
            <a:avLst/>
          </a:prstGeom>
          <a:noFill/>
          <a:ln w="0">
            <a:noFill/>
          </a:ln>
        </p:spPr>
        <p:txBody>
          <a:bodyPr>
            <a:noAutofit/>
          </a:bodyPr>
          <a:lstStyle>
            <a:defPPr>
              <a:defRPr sz="2175" b="1">
                <a:solidFill>
                  <a:srgbClr val="007D7B"/>
                </a:solidFill>
                <a:latin typeface="Helvetica Neue"/>
                <a:ea typeface="Helvetica Neue"/>
                <a:cs typeface="Helvetica Neue"/>
              </a:defRPr>
            </a:defPPr>
          </a:lstStyle>
          <a:p>
            <a:pPr>
              <a:defRPr sz="2175" b="1">
                <a:solidFill>
                  <a:srgbClr val="007D7B"/>
                </a:solidFill>
                <a:latin typeface="Helvetica Neue"/>
                <a:ea typeface="Helvetica Neue"/>
                <a:cs typeface="Helvetica Neue"/>
              </a:defRPr>
            </a:pPr>
            <a:r>
              <a:rPr sz="2175" b="1">
                <a:solidFill>
                  <a:srgbClr val="007D7B"/>
                </a:solidFill>
                <a:latin typeface="Helvetica Neue"/>
                <a:ea typeface="Helvetica Neue"/>
                <a:cs typeface="Helvetica Neue"/>
              </a:rPr>
              <a:t>Handeln</a:t>
            </a:r>
          </a:p>
        </p:txBody>
      </p:sp>
      <p:sp>
        <p:nvSpPr>
          <p:cNvPr id="22" name="revision-Die beste erlaubte&#10;Aktion auswählen.">
            <a:extLst>
              <a:ext uri="{FF2B5EF4-FFF2-40B4-BE49-F238E27FC236}">
                <ns2:creationId id="{807F6D00-8ED9-474F-82E1-2CF931D65185}"/>
              </a:ext>
            </a:extLst>
          </p:cNvPr>
          <p:cNvSpPr>
            <a:spLocks noGrp="1"/>
          </p:cNvSpPr>
          <p:nvPr/>
        </p:nvSpPr>
        <p:spPr>
          <a:xfrm>
            <a:off x="609600" y="5162550"/>
            <a:ext cx="2714625" cy="742950"/>
          </a:xfrm>
          <a:prstGeom prst="rect">
            <a:avLst/>
          </a:prstGeom>
          <a:noFill/>
          <a:ln w="0">
            <a:noFill/>
          </a:ln>
        </p:spPr>
        <p:txBody>
          <a:bodyPr>
            <a:noAutofit/>
          </a:bodyPr>
          <a:lstStyle>
            <a:defPPr>
              <a:defRPr sz="1875" b="0">
                <a:solidFill>
                  <a:srgbClr val="526B70"/>
                </a:solidFill>
                <a:latin typeface="Helvetica Neue"/>
                <a:ea typeface="Helvetica Neue"/>
                <a:cs typeface="Helvetica Neue"/>
              </a:defRPr>
            </a:defPPr>
          </a:lstStyle>
          <a:p>
            <a:pPr>
              <a:defRPr sz="1875" b="0">
                <a:solidFill>
                  <a:srgbClr val="526B70"/>
                </a:solidFill>
                <a:latin typeface="Helvetica Neue"/>
                <a:ea typeface="Helvetica Neue"/>
                <a:cs typeface="Helvetica Neue"/>
              </a:defRPr>
            </a:pPr>
            <a:r>
              <a:rPr sz="1875" b="0">
                <a:solidFill>
                  <a:srgbClr val="526B70"/>
                </a:solidFill>
                <a:latin typeface="Helvetica Neue"/>
                <a:ea typeface="Helvetica Neue"/>
                <a:cs typeface="Helvetica Neue"/>
              </a:rPr>
              <a:t>Die beste erlaubte</a:t>
            </a:r>
          </a:p>
          <a:p>
            <a:pPr>
              <a:defRPr sz="1875" b="0">
                <a:solidFill>
                  <a:srgbClr val="526B70"/>
                </a:solidFill>
                <a:latin typeface="Helvetica Neue"/>
                <a:ea typeface="Helvetica Neue"/>
                <a:cs typeface="Helvetica Neue"/>
              </a:defRPr>
            </a:pPr>
            <a:r>
              <a:rPr sz="1875" b="0">
                <a:solidFill>
                  <a:srgbClr val="526B70"/>
                </a:solidFill>
                <a:latin typeface="Helvetica Neue"/>
                <a:ea typeface="Helvetica Neue"/>
                <a:cs typeface="Helvetica Neue"/>
              </a:rPr>
              <a:t>Aktion auswählen.</a:t>
            </a:r>
          </a:p>
        </p:txBody>
      </p:sp>
      <p:sp>
        <p:nvSpPr>
          <p:cNvPr id="23" name="revision-Ablauf beim Spielen · Pseudocode">
            <a:extLst>
              <a:ext uri="{FF2B5EF4-FFF2-40B4-BE49-F238E27FC236}">
                <ns2:creationId id="{4D0143FA-87C7-4A60-86CF-F20C799E4824}"/>
              </a:ext>
            </a:extLst>
          </p:cNvPr>
          <p:cNvSpPr>
            <a:spLocks noGrp="1"/>
          </p:cNvSpPr>
          <p:nvPr/>
        </p:nvSpPr>
        <p:spPr>
          <a:xfrm>
            <a:off x="3943350" y="2028825"/>
            <a:ext cx="7334250" cy="361950"/>
          </a:xfrm>
          <a:prstGeom prst="rect">
            <a:avLst/>
          </a:prstGeom>
          <a:noFill/>
          <a:ln w="0">
            <a:noFill/>
          </a:ln>
        </p:spPr>
        <p:txBody>
          <a:bodyPr>
            <a:noAutofit/>
          </a:bodyPr>
          <a:lstStyle>
            <a:defPPr>
              <a:defRPr sz="1725" b="1">
                <a:solidFill>
                  <a:srgbClr val="526B70"/>
                </a:solidFill>
                <a:latin typeface="Helvetica Neue"/>
                <a:ea typeface="Helvetica Neue"/>
                <a:cs typeface="Helvetica Neue"/>
              </a:defRPr>
            </a:defPPr>
          </a:lstStyle>
          <a:p>
            <a:pPr>
              <a:defRPr sz="1725" b="1">
                <a:solidFill>
                  <a:srgbClr val="526B70"/>
                </a:solidFill>
                <a:latin typeface="Helvetica Neue"/>
                <a:ea typeface="Helvetica Neue"/>
                <a:cs typeface="Helvetica Neue"/>
              </a:defRPr>
            </a:pPr>
            <a:r>
              <a:rPr sz="1725" b="1">
                <a:solidFill>
                  <a:srgbClr val="526B70"/>
                </a:solidFill>
                <a:latin typeface="Helvetica Neue"/>
                <a:ea typeface="Helvetica Neue"/>
                <a:cs typeface="Helvetica Neue"/>
              </a:rPr>
              <a:t>Ablauf beim Spielen · Pseudocode</a:t>
            </a:r>
          </a:p>
        </p:txBody>
      </p:sp>
      <p:sp>
        <p:nvSpPr>
          <p:cNvPr id="24" name="revision-FÜR jeden Spielschritt:">
            <a:extLst>
              <a:ext uri="{FF2B5EF4-FFF2-40B4-BE49-F238E27FC236}">
                <ns2:creationId id="{8AFAFB75-1296-4C53-B33B-6F67F9580352}"/>
              </a:ext>
            </a:extLst>
          </p:cNvPr>
          <p:cNvSpPr>
            <a:spLocks noGrp="1"/>
          </p:cNvSpPr>
          <p:nvPr/>
        </p:nvSpPr>
        <p:spPr>
          <a:xfrm>
            <a:off x="4010025" y="2552700"/>
            <a:ext cx="7334250" cy="323850"/>
          </a:xfrm>
          <a:prstGeom prst="rect">
            <a:avLst/>
          </a:prstGeom>
          <a:noFill/>
          <a:ln w="0">
            <a:noFill/>
          </a:ln>
        </p:spPr>
        <p:txBody>
          <a:bodyPr>
            <a:noAutofit/>
          </a:bodyPr>
          <a:lstStyle>
            <a:defPPr>
              <a:defRPr sz="1800" b="0">
                <a:solidFill>
                  <a:srgbClr val="102D35"/>
                </a:solidFill>
                <a:latin typeface="Courier New"/>
                <a:ea typeface="Courier New"/>
                <a:cs typeface="Courier New"/>
              </a:defRPr>
            </a:defPPr>
          </a:lstStyle>
          <a:p>
            <a:pPr>
              <a:defRPr sz="1800" b="0">
                <a:solidFill>
                  <a:srgbClr val="102D35"/>
                </a:solidFill>
                <a:latin typeface="Courier New"/>
                <a:ea typeface="Courier New"/>
                <a:cs typeface="Courier New"/>
              </a:defRPr>
            </a:pPr>
            <a:r>
              <a:rPr sz="1800" b="0">
                <a:solidFill>
                  <a:srgbClr val="102D35"/>
                </a:solidFill>
                <a:latin typeface="Courier New"/>
                <a:ea typeface="Courier New"/>
                <a:cs typeface="Courier New"/>
              </a:rPr>
              <a:t>FÜR jeden Spielschritt:</a:t>
            </a:r>
          </a:p>
        </p:txBody>
      </p:sp>
      <p:sp>
        <p:nvSpPr>
          <p:cNvPr id="25" name="revision-    Belief mit Beobachtung aktualisieren">
            <a:extLst>
              <a:ext uri="{FF2B5EF4-FFF2-40B4-BE49-F238E27FC236}">
                <ns2:creationId id="{779C5D59-5951-4252-9E69-5567F03FD728}"/>
              </a:ext>
            </a:extLst>
          </p:cNvPr>
          <p:cNvSpPr>
            <a:spLocks noGrp="1"/>
          </p:cNvSpPr>
          <p:nvPr/>
        </p:nvSpPr>
        <p:spPr>
          <a:xfrm>
            <a:off x="4010025" y="2876550"/>
            <a:ext cx="7334250" cy="323850"/>
          </a:xfrm>
          <a:prstGeom prst="rect">
            <a:avLst/>
          </a:prstGeom>
          <a:noFill/>
          <a:ln w="0">
            <a:noFill/>
          </a:ln>
        </p:spPr>
        <p:txBody>
          <a:bodyPr>
            <a:noAutofit/>
          </a:bodyPr>
          <a:lstStyle>
            <a:defPPr>
              <a:defRPr sz="1800" b="0">
                <a:solidFill>
                  <a:srgbClr val="102D35"/>
                </a:solidFill>
                <a:latin typeface="Courier New"/>
                <a:ea typeface="Courier New"/>
                <a:cs typeface="Courier New"/>
              </a:defRPr>
            </a:defPPr>
          </a:lstStyle>
          <a:p>
            <a:pPr>
              <a:defRPr sz="1800" b="0">
                <a:solidFill>
                  <a:srgbClr val="102D35"/>
                </a:solidFill>
                <a:latin typeface="Courier New"/>
                <a:ea typeface="Courier New"/>
                <a:cs typeface="Courier New"/>
              </a:defRPr>
            </a:pPr>
            <a:r>
              <a:rPr sz="1800" b="0">
                <a:solidFill>
                  <a:srgbClr val="102D35"/>
                </a:solidFill>
                <a:latin typeface="Courier New"/>
                <a:ea typeface="Courier New"/>
                <a:cs typeface="Courier New"/>
              </a:rPr>
              <a:t>    Belief mit Beobachtung aktualisieren</a:t>
            </a:r>
          </a:p>
        </p:txBody>
      </p:sp>
      <p:sp>
        <p:nvSpPr>
          <p:cNvPr id="26" name="revision-    FÜR jede aktive eigene Einheit:">
            <a:extLst>
              <a:ext uri="{FF2B5EF4-FFF2-40B4-BE49-F238E27FC236}">
                <ns2:creationId id="{685BEE9F-0852-4F38-A942-A915B37051DB}"/>
              </a:ext>
            </a:extLst>
          </p:cNvPr>
          <p:cNvSpPr>
            <a:spLocks noGrp="1"/>
          </p:cNvSpPr>
          <p:nvPr/>
        </p:nvSpPr>
        <p:spPr>
          <a:xfrm>
            <a:off x="4010025" y="3200400"/>
            <a:ext cx="7334250" cy="323850"/>
          </a:xfrm>
          <a:prstGeom prst="rect">
            <a:avLst/>
          </a:prstGeom>
          <a:noFill/>
          <a:ln w="0">
            <a:noFill/>
          </a:ln>
        </p:spPr>
        <p:txBody>
          <a:bodyPr>
            <a:noAutofit/>
          </a:bodyPr>
          <a:lstStyle>
            <a:defPPr>
              <a:defRPr sz="1800" b="0">
                <a:solidFill>
                  <a:srgbClr val="102D35"/>
                </a:solidFill>
                <a:latin typeface="Courier New"/>
                <a:ea typeface="Courier New"/>
                <a:cs typeface="Courier New"/>
              </a:defRPr>
            </a:defPPr>
          </a:lstStyle>
          <a:p>
            <a:pPr>
              <a:defRPr sz="1800" b="0">
                <a:solidFill>
                  <a:srgbClr val="102D35"/>
                </a:solidFill>
                <a:latin typeface="Courier New"/>
                <a:ea typeface="Courier New"/>
                <a:cs typeface="Courier New"/>
              </a:defRPr>
            </a:pPr>
            <a:r>
              <a:rPr sz="1800" b="0">
                <a:solidFill>
                  <a:srgbClr val="102D35"/>
                </a:solidFill>
                <a:latin typeface="Courier New"/>
                <a:ea typeface="Courier New"/>
                <a:cs typeface="Courier New"/>
              </a:rPr>
              <a:t>    FÜR jede aktive eigene Einheit:</a:t>
            </a:r>
          </a:p>
        </p:txBody>
      </p:sp>
      <p:sp>
        <p:nvSpPr>
          <p:cNvPr id="27" name="revision-        x = 79 Merkmale berechnen">
            <a:extLst>
              <a:ext uri="{FF2B5EF4-FFF2-40B4-BE49-F238E27FC236}">
                <ns2:creationId id="{46190EBE-D59B-4DB8-B354-6C21D5616FC3}"/>
              </a:ext>
            </a:extLst>
          </p:cNvPr>
          <p:cNvSpPr>
            <a:spLocks noGrp="1"/>
          </p:cNvSpPr>
          <p:nvPr/>
        </p:nvSpPr>
        <p:spPr>
          <a:xfrm>
            <a:off x="4010025" y="3524250"/>
            <a:ext cx="7334250" cy="323850"/>
          </a:xfrm>
          <a:prstGeom prst="rect">
            <a:avLst/>
          </a:prstGeom>
          <a:noFill/>
          <a:ln w="0">
            <a:noFill/>
          </a:ln>
        </p:spPr>
        <p:txBody>
          <a:bodyPr>
            <a:noAutofit/>
          </a:bodyPr>
          <a:lstStyle>
            <a:defPPr>
              <a:defRPr sz="1800" b="0">
                <a:solidFill>
                  <a:srgbClr val="102D35"/>
                </a:solidFill>
                <a:latin typeface="Courier New"/>
                <a:ea typeface="Courier New"/>
                <a:cs typeface="Courier New"/>
              </a:defRPr>
            </a:defPPr>
          </a:lstStyle>
          <a:p>
            <a:pPr>
              <a:defRPr sz="1800" b="0">
                <a:solidFill>
                  <a:srgbClr val="102D35"/>
                </a:solidFill>
                <a:latin typeface="Courier New"/>
                <a:ea typeface="Courier New"/>
                <a:cs typeface="Courier New"/>
              </a:defRPr>
            </a:pPr>
            <a:r>
              <a:rPr sz="1800" b="0">
                <a:solidFill>
                  <a:srgbClr val="102D35"/>
                </a:solidFill>
                <a:latin typeface="Courier New"/>
                <a:ea typeface="Courier New"/>
                <a:cs typeface="Courier New"/>
              </a:rPr>
              <a:t>        x = 79 Merkmale berechnen</a:t>
            </a:r>
          </a:p>
        </p:txBody>
      </p:sp>
      <p:sp>
        <p:nvSpPr>
          <p:cNvPr id="28" name="revision-        Q = Mittelwert der sechs Netze(x">
            <a:extLst>
              <a:ext uri="{FF2B5EF4-FFF2-40B4-BE49-F238E27FC236}">
                <ns2:creationId id="{EF630A91-F254-4892-95C3-C5F3BE9F0575}"/>
              </a:ext>
            </a:extLst>
          </p:cNvPr>
          <p:cNvSpPr>
            <a:spLocks noGrp="1"/>
          </p:cNvSpPr>
          <p:nvPr/>
        </p:nvSpPr>
        <p:spPr>
          <a:xfrm>
            <a:off x="4010025" y="3848100"/>
            <a:ext cx="7334250" cy="323850"/>
          </a:xfrm>
          <a:prstGeom prst="rect">
            <a:avLst/>
          </a:prstGeom>
          <a:noFill/>
          <a:ln w="0">
            <a:noFill/>
          </a:ln>
        </p:spPr>
        <p:txBody>
          <a:bodyPr>
            <a:noAutofit/>
          </a:bodyPr>
          <a:lstStyle>
            <a:defPPr>
              <a:defRPr sz="1800" b="0">
                <a:solidFill>
                  <a:srgbClr val="102D35"/>
                </a:solidFill>
                <a:latin typeface="Courier New"/>
                <a:ea typeface="Courier New"/>
                <a:cs typeface="Courier New"/>
              </a:defRPr>
            </a:defPPr>
          </a:lstStyle>
          <a:p>
            <a:pPr>
              <a:defRPr sz="1800" b="0">
                <a:solidFill>
                  <a:srgbClr val="102D35"/>
                </a:solidFill>
                <a:latin typeface="Courier New"/>
                <a:ea typeface="Courier New"/>
                <a:cs typeface="Courier New"/>
              </a:defRPr>
            </a:pPr>
            <a:r>
              <a:rPr sz="1800" b="0">
                <a:solidFill>
                  <a:srgbClr val="102D35"/>
                </a:solidFill>
                <a:latin typeface="Courier New"/>
                <a:ea typeface="Courier New"/>
                <a:cs typeface="Courier New"/>
              </a:rPr>
              <a:t>        Q = Mittelwert der sechs Netze(x)</a:t>
            </a:r>
          </a:p>
        </p:txBody>
      </p:sp>
      <p:sp>
        <p:nvSpPr>
          <p:cNvPr id="29" name="revision-        a = beste erlaubte Aktion aus Q">
            <a:extLst>
              <a:ext uri="{FF2B5EF4-FFF2-40B4-BE49-F238E27FC236}">
                <ns2:creationId id="{F4E09BE0-8537-4C9C-8030-8A49FE5E4DC3}"/>
              </a:ext>
            </a:extLst>
          </p:cNvPr>
          <p:cNvSpPr>
            <a:spLocks noGrp="1"/>
          </p:cNvSpPr>
          <p:nvPr/>
        </p:nvSpPr>
        <p:spPr>
          <a:xfrm>
            <a:off x="4010025" y="4171950"/>
            <a:ext cx="7334250" cy="323850"/>
          </a:xfrm>
          <a:prstGeom prst="rect">
            <a:avLst/>
          </a:prstGeom>
          <a:noFill/>
          <a:ln w="0">
            <a:noFill/>
          </a:ln>
        </p:spPr>
        <p:txBody>
          <a:bodyPr>
            <a:noAutofit/>
          </a:bodyPr>
          <a:lstStyle>
            <a:defPPr>
              <a:defRPr sz="1800" b="0">
                <a:solidFill>
                  <a:srgbClr val="102D35"/>
                </a:solidFill>
                <a:latin typeface="Courier New"/>
                <a:ea typeface="Courier New"/>
                <a:cs typeface="Courier New"/>
              </a:defRPr>
            </a:defPPr>
          </a:lstStyle>
          <a:p>
            <a:pPr>
              <a:defRPr sz="1800" b="0">
                <a:solidFill>
                  <a:srgbClr val="102D35"/>
                </a:solidFill>
                <a:latin typeface="Courier New"/>
                <a:ea typeface="Courier New"/>
                <a:cs typeface="Courier New"/>
              </a:defRPr>
            </a:pPr>
            <a:r>
              <a:rPr sz="1800" b="0">
                <a:solidFill>
                  <a:srgbClr val="102D35"/>
                </a:solidFill>
                <a:latin typeface="Courier New"/>
                <a:ea typeface="Courier New"/>
                <a:cs typeface="Courier New"/>
              </a:rPr>
              <a:t>        a = beste erlaubte Aktion aus Q</a:t>
            </a:r>
          </a:p>
        </p:txBody>
      </p:sp>
      <p:sp>
        <p:nvSpPr>
          <p:cNvPr id="30" name="revision-        Aktion für die Einheit speichern">
            <a:extLst>
              <a:ext uri="{FF2B5EF4-FFF2-40B4-BE49-F238E27FC236}">
                <ns2:creationId id="{48D8B9ED-EB9D-493A-8BF8-FEE33A23B6EC}"/>
              </a:ext>
            </a:extLst>
          </p:cNvPr>
          <p:cNvSpPr>
            <a:spLocks noGrp="1"/>
          </p:cNvSpPr>
          <p:nvPr/>
        </p:nvSpPr>
        <p:spPr>
          <a:xfrm>
            <a:off x="4010025" y="4495800"/>
            <a:ext cx="7334250" cy="323850"/>
          </a:xfrm>
          <a:prstGeom prst="rect">
            <a:avLst/>
          </a:prstGeom>
          <a:noFill/>
          <a:ln w="0">
            <a:noFill/>
          </a:ln>
        </p:spPr>
        <p:txBody>
          <a:bodyPr>
            <a:noAutofit/>
          </a:bodyPr>
          <a:lstStyle>
            <a:defPPr>
              <a:defRPr sz="1800" b="0">
                <a:solidFill>
                  <a:srgbClr val="102D35"/>
                </a:solidFill>
                <a:latin typeface="Courier New"/>
                <a:ea typeface="Courier New"/>
                <a:cs typeface="Courier New"/>
              </a:defRPr>
            </a:defPPr>
          </a:lstStyle>
          <a:p>
            <a:pPr>
              <a:defRPr sz="1800" b="0">
                <a:solidFill>
                  <a:srgbClr val="102D35"/>
                </a:solidFill>
                <a:latin typeface="Courier New"/>
                <a:ea typeface="Courier New"/>
                <a:cs typeface="Courier New"/>
              </a:defRPr>
            </a:pPr>
            <a:r>
              <a:rPr sz="1800" b="0">
                <a:solidFill>
                  <a:srgbClr val="102D35"/>
                </a:solidFill>
                <a:latin typeface="Courier New"/>
                <a:ea typeface="Courier New"/>
                <a:cs typeface="Courier New"/>
              </a:rPr>
              <a:t>        Aktion für die Einheit speichern</a:t>
            </a:r>
          </a:p>
        </p:txBody>
      </p:sp>
      <p:sp>
        <p:nvSpPr>
          <p:cNvPr id="31" name="revision-    Aktionen zurückgeben">
            <a:extLst>
              <a:ext uri="{FF2B5EF4-FFF2-40B4-BE49-F238E27FC236}">
                <ns2:creationId id="{60E7E1AA-33BA-46A1-AAEA-012350AE007B}"/>
              </a:ext>
            </a:extLst>
          </p:cNvPr>
          <p:cNvSpPr>
            <a:spLocks noGrp="1"/>
          </p:cNvSpPr>
          <p:nvPr/>
        </p:nvSpPr>
        <p:spPr>
          <a:xfrm>
            <a:off x="4010025" y="4819650"/>
            <a:ext cx="7334250" cy="323850"/>
          </a:xfrm>
          <a:prstGeom prst="rect">
            <a:avLst/>
          </a:prstGeom>
          <a:noFill/>
          <a:ln w="0">
            <a:noFill/>
          </a:ln>
        </p:spPr>
        <p:txBody>
          <a:bodyPr>
            <a:noAutofit/>
          </a:bodyPr>
          <a:lstStyle>
            <a:defPPr>
              <a:defRPr sz="1800" b="0">
                <a:solidFill>
                  <a:srgbClr val="102D35"/>
                </a:solidFill>
                <a:latin typeface="Courier New"/>
                <a:ea typeface="Courier New"/>
                <a:cs typeface="Courier New"/>
              </a:defRPr>
            </a:defPPr>
          </a:lstStyle>
          <a:p>
            <a:pPr>
              <a:defRPr sz="1800" b="0">
                <a:solidFill>
                  <a:srgbClr val="102D35"/>
                </a:solidFill>
                <a:latin typeface="Courier New"/>
                <a:ea typeface="Courier New"/>
                <a:cs typeface="Courier New"/>
              </a:defRPr>
            </a:pPr>
            <a:r>
              <a:rPr sz="1800" b="0">
                <a:solidFill>
                  <a:srgbClr val="102D35"/>
                </a:solidFill>
                <a:latin typeface="Courier New"/>
                <a:ea typeface="Courier New"/>
                <a:cs typeface="Courier New"/>
              </a:rPr>
              <a:t>    Aktionen zurückgeben</a:t>
            </a:r>
          </a:p>
        </p:txBody>
      </p:sp>
      <p:sp>
        <p:nvSpPr>
          <p:cNvPr id="32" name="revision-# Auswertung: kein Lernen, ε = 0">
            <a:extLst>
              <a:ext uri="{FF2B5EF4-FFF2-40B4-BE49-F238E27FC236}">
                <ns2:creationId id="{DD9B22D8-4C67-4666-AD85-A3C0B837AF44}"/>
              </a:ext>
            </a:extLst>
          </p:cNvPr>
          <p:cNvSpPr>
            <a:spLocks noGrp="1"/>
          </p:cNvSpPr>
          <p:nvPr/>
        </p:nvSpPr>
        <p:spPr>
          <a:xfrm>
            <a:off x="4010025" y="5410200"/>
            <a:ext cx="7334250" cy="304800"/>
          </a:xfrm>
          <a:prstGeom prst="rect">
            <a:avLst/>
          </a:prstGeom>
          <a:noFill/>
          <a:ln w="0">
            <a:noFill/>
          </a:ln>
        </p:spPr>
        <p:txBody>
          <a:bodyPr>
            <a:noAutofit/>
          </a:bodyPr>
          <a:lstStyle>
            <a:defPPr>
              <a:defRPr sz="1575" b="0">
                <a:solidFill>
                  <a:srgbClr val="526B70"/>
                </a:solidFill>
                <a:latin typeface="Courier New"/>
                <a:ea typeface="Courier New"/>
                <a:cs typeface="Courier New"/>
              </a:defRPr>
            </a:defPPr>
          </a:lstStyle>
          <a:p>
            <a:pPr>
              <a:defRPr sz="1575" b="0">
                <a:solidFill>
                  <a:srgbClr val="526B70"/>
                </a:solidFill>
                <a:latin typeface="Courier New"/>
                <a:ea typeface="Courier New"/>
                <a:cs typeface="Courier New"/>
              </a:defRPr>
            </a:pPr>
            <a:r>
              <a:rPr sz="1575" b="0">
                <a:solidFill>
                  <a:srgbClr val="526B70"/>
                </a:solidFill>
                <a:latin typeface="Courier New"/>
                <a:ea typeface="Courier New"/>
                <a:cs typeface="Courier New"/>
              </a:rPr>
              <a:t># Auswertung: kein Lernen, ε = 0</a:t>
            </a:r>
          </a:p>
        </p:txBody>
      </p:sp>
    </p:spTree>
    <p:extLst>
      <p:ext uri="{BB962C8B-B14F-4D97-AF65-F5344CB8AC3E}">
        <ns3:creationId val="1915235498"/>
      </p:ext>
    </p:extLst>
  </p:cSld>
</p:sld>
</file>

<file path=ppt/slides/slide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7F7F0"/>
        </a:solidFill>
      </p:bgPr>
    </p:bg>
    <p:spTree>
      <p:nvGrpSpPr>
        <p:cNvPr id="1" name=""/>
        <p:cNvGrpSpPr/>
        <p:nvPr/>
      </p:nvGrpSpPr>
      <p:grpSpPr>
        <a:xfrm/>
      </p:grpSpPr>
      <p:sp>
        <p:nvSpPr>
          <p:cNvPr id="7" name="SHERLOCK / REVIEW 01">
            <a:extLst>
              <a:ext uri="{FF2B5EF4-FFF2-40B4-BE49-F238E27FC236}">
                <ns2:creationId id="{8E5AC5FE-F045-4507-B73A-1BDDDD053F17}"/>
              </a:ext>
            </a:extLst>
          </p:cNvPr>
          <p:cNvSpPr>
            <a:spLocks noGrp="1"/>
          </p:cNvSpPr>
          <p:nvPr/>
        </p:nvSpPr>
        <p:spPr>
          <a:xfrm>
            <a:off x="609600" y="266700"/>
            <a:ext cx="8572500" cy="304800"/>
          </a:xfrm>
          <a:prstGeom prst="rect">
            <a:avLst/>
          </a:prstGeom>
          <a:noFill/>
          <a:ln w="0">
            <a:noFill/>
          </a:ln>
        </p:spPr>
        <p:txBody>
          <a:bodyPr/>
          <a:lstStyle>
            <a:defPPr>
              <a:defRPr sz="1350" b="1">
                <a:solidFill>
                  <a:srgbClr val="007D7B"/>
                </a:solidFill>
                <a:latin typeface="Helvetica Neue"/>
                <a:ea typeface="Helvetica Neue"/>
                <a:cs typeface="Helvetica Neue"/>
              </a:defRPr>
            </a:defPPr>
          </a:lstStyle>
          <a:p>
            <a:pPr>
              <a:defRPr sz="1350" b="1">
                <a:solidFill>
                  <a:srgbClr val="007D7B"/>
                </a:solidFill>
                <a:latin typeface="Helvetica Neue"/>
                <a:ea typeface="Helvetica Neue"/>
                <a:cs typeface="Helvetica Neue"/>
              </a:defRPr>
            </a:pPr>
            <a:r>
              <a:rPr sz="1350" b="1">
                <a:solidFill>
                  <a:srgbClr val="007D7B"/>
                </a:solidFill>
                <a:latin typeface="Helvetica Neue"/>
                <a:ea typeface="Helvetica Neue"/>
                <a:cs typeface="Helvetica Neue"/>
              </a:rPr>
              <a:t>SHERLOCK / REVIEW 01</a:t>
            </a:r>
          </a:p>
        </p:txBody>
      </p:sp>
      <p:sp>
        <p:nvSpPr>
          <p:cNvPr id="2" name="79 Merkmale machen die Situation greifbar">
            <a:extLst>
              <a:ext uri="{FF2B5EF4-FFF2-40B4-BE49-F238E27FC236}">
                <ns2:creationId id="{1819B007-30CB-4B63-AB73-B65AD1F9EEDA}"/>
              </a:ext>
            </a:extLst>
          </p:cNvPr>
          <p:cNvSpPr>
            <a:spLocks noGrp="1"/>
          </p:cNvSpPr>
          <p:nvPr/>
        </p:nvSpPr>
        <p:spPr>
          <a:xfrm>
            <a:off x="609600" y="781050"/>
            <a:ext cx="10972800" cy="1028700"/>
          </a:xfrm>
          <a:prstGeom prst="rect">
            <a:avLst/>
          </a:prstGeom>
          <a:noFill/>
          <a:ln w="0">
            <a:noFill/>
          </a:ln>
        </p:spPr>
        <p:txBody>
          <a:bodyPr/>
          <a:lstStyle>
            <a:defPPr>
              <a:defRPr sz="3300" b="1">
                <a:solidFill>
                  <a:srgbClr val="102D35"/>
                </a:solidFill>
                <a:latin typeface="Helvetica Neue"/>
                <a:ea typeface="Helvetica Neue"/>
                <a:cs typeface="Helvetica Neue"/>
              </a:defRPr>
            </a:defPPr>
          </a:lstStyle>
          <a:p>
            <a:pPr>
              <a:buNone/>
              <a:defRPr sz="3300" b="1">
                <a:solidFill>
                  <a:srgbClr val="102D35"/>
                </a:solidFill>
                <a:latin typeface="Helvetica Neue"/>
                <a:ea typeface="Helvetica Neue"/>
                <a:cs typeface="Helvetica Neue"/>
              </a:defRPr>
            </a:pPr>
            <a:r>
              <a:rPr sz="3300" b="1">
                <a:solidFill>
                  <a:srgbClr val="102D35"/>
                </a:solidFill>
                <a:latin typeface="Helvetica Neue"/>
                <a:ea typeface="Helvetica Neue"/>
                <a:cs typeface="Helvetica Neue"/>
              </a:rPr>
              <a:t>Merkmale und Gedächtnis</a:t>
            </a:r>
          </a:p>
        </p:txBody>
      </p:sp>
      <p:sp>
        <p:nvSpPr>
          <p:cNvPr id="3" name="Team 15 · Mahmoud El-Hassan &amp; Moayed Shawesh">
            <a:extLst>
              <a:ext uri="{FF2B5EF4-FFF2-40B4-BE49-F238E27FC236}">
                <ns2:creationId id="{8F742ABC-40ED-4485-B98B-FC878F16D2B4}"/>
              </a:ext>
            </a:extLst>
          </p:cNvPr>
          <p:cNvSpPr>
            <a:spLocks noGrp="1"/>
          </p:cNvSpPr>
          <p:nvPr/>
        </p:nvSpPr>
        <p:spPr>
          <a:xfrm>
            <a:off x="609600" y="6419850"/>
            <a:ext cx="9906000" cy="266700"/>
          </a:xfrm>
          <a:prstGeom prst="rect">
            <a:avLst/>
          </a:prstGeom>
          <a:noFill/>
          <a:ln w="0">
            <a:noFill/>
          </a:ln>
        </p:spPr>
        <p:txBody>
          <a:bodyPr/>
          <a:lstStyle>
            <a:defPPr>
              <a:defRPr sz="1200" b="0">
                <a:solidFill>
                  <a:srgbClr val="526B70"/>
                </a:solidFill>
                <a:latin typeface="Helvetica Neue"/>
                <a:ea typeface="Helvetica Neue"/>
                <a:cs typeface="Helvetica Neue"/>
              </a:defRPr>
            </a:defPPr>
          </a:lstStyle>
          <a:p>
            <a:pPr>
              <a:defRPr sz="1200" b="0">
                <a:solidFill>
                  <a:srgbClr val="526B70"/>
                </a:solidFill>
                <a:latin typeface="Helvetica Neue"/>
                <a:ea typeface="Helvetica Neue"/>
                <a:cs typeface="Helvetica Neue"/>
              </a:defRPr>
            </a:pPr>
            <a:r>
              <a:rPr sz="1200" b="0">
                <a:solidFill>
                  <a:srgbClr val="526B70"/>
                </a:solidFill>
                <a:latin typeface="Helvetica Neue"/>
                <a:ea typeface="Helvetica Neue"/>
                <a:cs typeface="Helvetica Neue"/>
              </a:rPr>
              <a:t>Team 15 · Mahmoud El-Hassan &amp; Moayed Shawesh</a:t>
            </a:r>
          </a:p>
        </p:txBody>
      </p:sp>
      <p:sp>
        <p:nvSpPr>
          <p:cNvPr id="4" name="04">
            <a:extLst>
              <a:ext uri="{FF2B5EF4-FFF2-40B4-BE49-F238E27FC236}">
                <ns2:creationId id="{93EB07D1-FB9B-4036-871A-868E95D9A8DE}"/>
              </a:ext>
            </a:extLst>
          </p:cNvPr>
          <p:cNvSpPr>
            <a:spLocks noGrp="1"/>
          </p:cNvSpPr>
          <p:nvPr/>
        </p:nvSpPr>
        <p:spPr>
          <a:xfrm>
            <a:off x="11049000" y="6419850"/>
            <a:ext cx="533400" cy="266700"/>
          </a:xfrm>
          <a:prstGeom prst="rect">
            <a:avLst/>
          </a:prstGeom>
          <a:noFill/>
          <a:ln w="0">
            <a:noFill/>
          </a:ln>
        </p:spPr>
        <p:txBody>
          <a:bodyPr/>
          <a:lstStyle>
            <a:defPPr>
              <a:defRPr sz="1200" b="0">
                <a:solidFill>
                  <a:srgbClr val="526B70"/>
                </a:solidFill>
                <a:latin typeface="Helvetica Neue"/>
                <a:ea typeface="Helvetica Neue"/>
                <a:cs typeface="Helvetica Neue"/>
              </a:defRPr>
            </a:defPPr>
          </a:lstStyle>
          <a:p>
            <a:pPr>
              <a:defRPr sz="1200" b="0">
                <a:solidFill>
                  <a:srgbClr val="526B70"/>
                </a:solidFill>
                <a:latin typeface="Helvetica Neue"/>
                <a:ea typeface="Helvetica Neue"/>
                <a:cs typeface="Helvetica Neue"/>
              </a:defRPr>
            </a:pPr>
            <a:r>
              <a:rPr sz="1200" b="0">
                <a:solidFill>
                  <a:srgbClr val="526B70"/>
                </a:solidFill>
                <a:latin typeface="Helvetica Neue"/>
                <a:ea typeface="Helvetica Neue"/>
                <a:cs typeface="Helvetica Neue"/>
              </a:rPr>
              <a:t>05</a:t>
            </a:r>
          </a:p>
        </p:txBody>
      </p:sp>
      <p:graphicFrame>
        <p:nvGraphicFramePr>
          <p:cNvPr id="5" name="">
            <a:extLst>
              <a:ext uri="{FF2B5EF4-FFF2-40B4-BE49-F238E27FC236}">
                <ns2:creationId id="{599CFDB5-6633-4A71-9E92-826BE0FD5F46}"/>
              </a:ext>
            </a:extLst>
          </p:cNvPr>
          <p:cNvGraphicFramePr/>
          <p:nvPr/>
        </p:nvGraphicFramePr>
        <p:xfrm>
          <a:off x="609600" y="1924050"/>
          <a:ext cx="10972800" cy="3124200"/>
        </p:xfrm>
        <a:graphic>
          <a:graphicData uri="http://schemas.openxmlformats.org/drawingml/2006/table">
            <a:tbl>
              <a:tblPr/>
              <a:tblGrid>
                <a:gridCol w="3429000"/>
                <a:gridCol w="7543800"/>
              </a:tblGrid>
              <a:tr h="624840">
                <a:tc>
                  <a:txBody>
                    <a:bodyPr/>
                    <a:lstStyle/>
                    <a:p>
                      <a:r>
                        <a:rPr sz="2025" b="1">
                          <a:solidFill>
                            <a:srgbClr val="FFFFFF"/>
                          </a:solidFill>
                          <a:latin typeface="Helvetica Neue"/>
                          <a:ea typeface="Helvetica Neue"/>
                          <a:cs typeface="Helvetica Neue"/>
                        </a:rPr>
                        <a:t>Merkmalsgruppe</a:t>
                      </a:r>
                    </a:p>
                  </a:txBody>
                  <a:tcPr marL="91440" marR="91440" marT="45720" marB="45720">
                    <a:lnL w="9525">
                      <a:solidFill>
                        <a:srgbClr val="CFDBD7"/>
                      </a:solidFill>
                      <a:prstDash val="solid"/>
                    </a:lnL>
                    <a:lnR w="9525">
                      <a:solidFill>
                        <a:srgbClr val="CFDBD7"/>
                      </a:solidFill>
                      <a:prstDash val="solid"/>
                    </a:lnR>
                    <a:lnT w="9525">
                      <a:solidFill>
                        <a:srgbClr val="CFDBD7"/>
                      </a:solidFill>
                      <a:prstDash val="solid"/>
                    </a:lnT>
                    <a:lnB w="9525">
                      <a:solidFill>
                        <a:srgbClr val="CFDBD7"/>
                      </a:solidFill>
                      <a:prstDash val="solid"/>
                    </a:lnB>
                    <a:solidFill>
                      <a:srgbClr val="102D35"/>
                    </a:solidFill>
                  </a:tcPr>
                </a:tc>
                <a:tc>
                  <a:txBody>
                    <a:bodyPr/>
                    <a:lstStyle/>
                    <a:p>
                      <a:r>
                        <a:rPr sz="2025" b="1">
                          <a:solidFill>
                            <a:srgbClr val="FFFFFF"/>
                          </a:solidFill>
                          <a:latin typeface="Helvetica Neue"/>
                          <a:ea typeface="Helvetica Neue"/>
                          <a:cs typeface="Helvetica Neue"/>
                        </a:rPr>
                        <a:t>Beispiele</a:t>
                      </a:r>
                    </a:p>
                  </a:txBody>
                  <a:tcPr marL="91440" marR="91440" marT="45720" marB="45720">
                    <a:lnR w="9525">
                      <a:solidFill>
                        <a:srgbClr val="CFDBD7"/>
                      </a:solidFill>
                      <a:prstDash val="solid"/>
                    </a:lnR>
                    <a:lnT w="9525">
                      <a:solidFill>
                        <a:srgbClr val="CFDBD7"/>
                      </a:solidFill>
                      <a:prstDash val="solid"/>
                    </a:lnT>
                    <a:lnB w="9525">
                      <a:solidFill>
                        <a:srgbClr val="CFDBD7"/>
                      </a:solidFill>
                      <a:prstDash val="solid"/>
                    </a:lnB>
                    <a:solidFill>
                      <a:srgbClr val="102D35"/>
                    </a:solidFill>
                  </a:tcPr>
                </a:tc>
              </a:tr>
              <a:tr h="624840">
                <a:tc>
                  <a:txBody>
                    <a:bodyPr/>
                    <a:lstStyle/>
                    <a:p>
                      <a:r>
                        <a:rPr sz="2025" b="0">
                          <a:solidFill>
                            <a:srgbClr val="102D35"/>
                          </a:solidFill>
                          <a:latin typeface="Helvetica Neue"/>
                          <a:ea typeface="Helvetica Neue"/>
                          <a:cs typeface="Helvetica Neue"/>
                        </a:rPr>
                        <a:t>Eigene Einheit</a:t>
                      </a:r>
                    </a:p>
                  </a:txBody>
                  <a:tcPr marL="91440" marR="91440" marT="45720" marB="45720">
                    <a:lnL w="9525">
                      <a:solidFill>
                        <a:srgbClr val="CFDBD7"/>
                      </a:solidFill>
                      <a:prstDash val="solid"/>
                    </a:lnL>
                    <a:lnR w="9525">
                      <a:solidFill>
                        <a:srgbClr val="CFDBD7"/>
                      </a:solidFill>
                      <a:prstDash val="solid"/>
                    </a:lnR>
                    <a:lnB w="9525">
                      <a:solidFill>
                        <a:srgbClr val="CFDBD7"/>
                      </a:solidFill>
                      <a:prstDash val="solid"/>
                    </a:lnB>
                    <a:solidFill>
                      <a:srgbClr val="FFFFFF"/>
                    </a:solidFill>
                  </a:tcPr>
                </a:tc>
                <a:tc>
                  <a:txBody>
                    <a:bodyPr/>
                    <a:lstStyle/>
                    <a:p>
                      <a:r>
                        <a:rPr sz="2025" b="0">
                          <a:solidFill>
                            <a:srgbClr val="102D35"/>
                          </a:solidFill>
                          <a:latin typeface="Helvetica Neue"/>
                          <a:ea typeface="Helvetica Neue"/>
                          <a:cs typeface="Helvetica Neue"/>
                        </a:rPr>
                        <a:t>Position, Energie, mögliche Bewegung</a:t>
                      </a:r>
                    </a:p>
                  </a:txBody>
                  <a:tcPr marL="91440" marR="91440" marT="45720" marB="45720">
                    <a:lnR w="9525">
                      <a:solidFill>
                        <a:srgbClr val="CFDBD7"/>
                      </a:solidFill>
                      <a:prstDash val="solid"/>
                    </a:lnR>
                    <a:lnB w="9525">
                      <a:solidFill>
                        <a:srgbClr val="CFDBD7"/>
                      </a:solidFill>
                      <a:prstDash val="solid"/>
                    </a:lnB>
                    <a:solidFill>
                      <a:srgbClr val="FFFFFF"/>
                    </a:solidFill>
                  </a:tcPr>
                </a:tc>
              </a:tr>
              <a:tr h="624840">
                <a:tc>
                  <a:txBody>
                    <a:bodyPr/>
                    <a:lstStyle/>
                    <a:p>
                      <a:r>
                        <a:rPr sz="2025" b="0">
                          <a:solidFill>
                            <a:srgbClr val="102D35"/>
                          </a:solidFill>
                          <a:latin typeface="Helvetica Neue"/>
                          <a:ea typeface="Helvetica Neue"/>
                          <a:cs typeface="Helvetica Neue"/>
                        </a:rPr>
                        <a:t>Umgebung und Gedächtnis</a:t>
                      </a:r>
                    </a:p>
                  </a:txBody>
                  <a:tcPr marL="91440" marR="91440" marT="45720" marB="45720">
                    <a:lnL w="9525">
                      <a:solidFill>
                        <a:srgbClr val="CFDBD7"/>
                      </a:solidFill>
                      <a:prstDash val="solid"/>
                    </a:lnL>
                    <a:lnR w="9525">
                      <a:solidFill>
                        <a:srgbClr val="CFDBD7"/>
                      </a:solidFill>
                      <a:prstDash val="solid"/>
                    </a:lnR>
                    <a:lnB w="9525">
                      <a:solidFill>
                        <a:srgbClr val="CFDBD7"/>
                      </a:solidFill>
                      <a:prstDash val="solid"/>
                    </a:lnB>
                    <a:solidFill>
                      <a:srgbClr val="EDF2ED"/>
                    </a:solidFill>
                  </a:tcPr>
                </a:tc>
                <a:tc>
                  <a:txBody>
                    <a:bodyPr/>
                    <a:lstStyle/>
                    <a:p>
                      <a:r>
                        <a:rPr sz="2025" b="0">
                          <a:solidFill>
                            <a:srgbClr val="102D35"/>
                          </a:solidFill>
                          <a:latin typeface="Helvetica Neue"/>
                          <a:ea typeface="Helvetica Neue"/>
                          <a:cs typeface="Helvetica Neue"/>
                        </a:rPr>
                        <a:t>Gelände, Relics, bekannte Punktefelder</a:t>
                      </a:r>
                    </a:p>
                  </a:txBody>
                  <a:tcPr marL="91440" marR="91440" marT="45720" marB="45720">
                    <a:lnR w="9525">
                      <a:solidFill>
                        <a:srgbClr val="CFDBD7"/>
                      </a:solidFill>
                      <a:prstDash val="solid"/>
                    </a:lnR>
                    <a:lnB w="9525">
                      <a:solidFill>
                        <a:srgbClr val="CFDBD7"/>
                      </a:solidFill>
                      <a:prstDash val="solid"/>
                    </a:lnB>
                    <a:solidFill>
                      <a:srgbClr val="EDF2ED"/>
                    </a:solidFill>
                  </a:tcPr>
                </a:tc>
              </a:tr>
              <a:tr h="624840">
                <a:tc>
                  <a:txBody>
                    <a:bodyPr/>
                    <a:lstStyle/>
                    <a:p>
                      <a:r>
                        <a:rPr sz="2025" b="0">
                          <a:solidFill>
                            <a:srgbClr val="102D35"/>
                          </a:solidFill>
                          <a:latin typeface="Helvetica Neue"/>
                          <a:ea typeface="Helvetica Neue"/>
                          <a:cs typeface="Helvetica Neue"/>
                        </a:rPr>
                        <a:t>Ziele und Gegner</a:t>
                      </a:r>
                    </a:p>
                  </a:txBody>
                  <a:tcPr marL="91440" marR="91440" marT="45720" marB="45720">
                    <a:lnL w="9525">
                      <a:solidFill>
                        <a:srgbClr val="CFDBD7"/>
                      </a:solidFill>
                      <a:prstDash val="solid"/>
                    </a:lnL>
                    <a:lnR w="9525">
                      <a:solidFill>
                        <a:srgbClr val="CFDBD7"/>
                      </a:solidFill>
                      <a:prstDash val="solid"/>
                    </a:lnR>
                    <a:lnB w="9525">
                      <a:solidFill>
                        <a:srgbClr val="CFDBD7"/>
                      </a:solidFill>
                      <a:prstDash val="solid"/>
                    </a:lnB>
                    <a:solidFill>
                      <a:srgbClr val="FFFFFF"/>
                    </a:solidFill>
                  </a:tcPr>
                </a:tc>
                <a:tc>
                  <a:txBody>
                    <a:bodyPr/>
                    <a:lstStyle/>
                    <a:p>
                      <a:r>
                        <a:rPr sz="2025" b="0">
                          <a:solidFill>
                            <a:srgbClr val="102D35"/>
                          </a:solidFill>
                          <a:latin typeface="Helvetica Neue"/>
                          <a:ea typeface="Helvetica Neue"/>
                          <a:cs typeface="Helvetica Neue"/>
                        </a:rPr>
                        <a:t>Zielrichtung, Belegung, Sap-Möglichkeiten</a:t>
                      </a:r>
                    </a:p>
                  </a:txBody>
                  <a:tcPr marL="91440" marR="91440" marT="45720" marB="45720">
                    <a:lnR w="9525">
                      <a:solidFill>
                        <a:srgbClr val="CFDBD7"/>
                      </a:solidFill>
                      <a:prstDash val="solid"/>
                    </a:lnR>
                    <a:lnB w="9525">
                      <a:solidFill>
                        <a:srgbClr val="CFDBD7"/>
                      </a:solidFill>
                      <a:prstDash val="solid"/>
                    </a:lnB>
                    <a:solidFill>
                      <a:srgbClr val="FFFFFF"/>
                    </a:solidFill>
                  </a:tcPr>
                </a:tc>
              </a:tr>
              <a:tr h="624840">
                <a:tc>
                  <a:txBody>
                    <a:bodyPr/>
                    <a:lstStyle/>
                    <a:p>
                      <a:r>
                        <a:rPr sz="2025" b="0">
                          <a:solidFill>
                            <a:srgbClr val="102D35"/>
                          </a:solidFill>
                          <a:latin typeface="Helvetica Neue"/>
                          <a:ea typeface="Helvetica Neue"/>
                          <a:cs typeface="Helvetica Neue"/>
                        </a:rPr>
                        <a:t>Spielkontext</a:t>
                      </a:r>
                    </a:p>
                  </a:txBody>
                  <a:tcPr marL="91440" marR="91440" marT="45720" marB="45720">
                    <a:lnL w="9525">
                      <a:solidFill>
                        <a:srgbClr val="CFDBD7"/>
                      </a:solidFill>
                      <a:prstDash val="solid"/>
                    </a:lnL>
                    <a:lnR w="9525">
                      <a:solidFill>
                        <a:srgbClr val="CFDBD7"/>
                      </a:solidFill>
                      <a:prstDash val="solid"/>
                    </a:lnR>
                    <a:lnB w="9525">
                      <a:solidFill>
                        <a:srgbClr val="CFDBD7"/>
                      </a:solidFill>
                      <a:prstDash val="solid"/>
                    </a:lnB>
                    <a:solidFill>
                      <a:srgbClr val="EDF2ED"/>
                    </a:solidFill>
                  </a:tcPr>
                </a:tc>
                <a:tc>
                  <a:txBody>
                    <a:bodyPr/>
                    <a:lstStyle/>
                    <a:p>
                      <a:r>
                        <a:rPr sz="2025" b="0">
                          <a:solidFill>
                            <a:srgbClr val="102D35"/>
                          </a:solidFill>
                          <a:latin typeface="Helvetica Neue"/>
                          <a:ea typeface="Helvetica Neue"/>
                          <a:cs typeface="Helvetica Neue"/>
                        </a:rPr>
                        <a:t>Matchfortschritt und Teamzustand</a:t>
                      </a:r>
                    </a:p>
                  </a:txBody>
                  <a:tcPr marL="91440" marR="91440" marT="45720" marB="45720">
                    <a:lnR w="9525">
                      <a:solidFill>
                        <a:srgbClr val="CFDBD7"/>
                      </a:solidFill>
                      <a:prstDash val="solid"/>
                    </a:lnR>
                    <a:lnB w="9525">
                      <a:solidFill>
                        <a:srgbClr val="CFDBD7"/>
                      </a:solidFill>
                      <a:prstDash val="solid"/>
                    </a:lnB>
                    <a:solidFill>
                      <a:srgbClr val="EDF2ED"/>
                    </a:solidFill>
                  </a:tcPr>
                </a:tc>
              </a:tr>
            </a:tbl>
          </a:graphicData>
        </a:graphic>
      </p:graphicFrame>
      <p:sp>
        <p:nvSpPr>
          <p:cNvPr id="6" name="Belief: aus dem Punktezuwachs ableiten">
            <a:extLst>
              <a:ext uri="{FF2B5EF4-FFF2-40B4-BE49-F238E27FC236}">
                <ns2:creationId id="{7BB15468-0F41-4F95-B835-1637FFF8AD61}"/>
              </a:ext>
            </a:extLst>
          </p:cNvPr>
          <p:cNvSpPr>
            <a:spLocks noGrp="1"/>
          </p:cNvSpPr>
          <p:nvPr/>
        </p:nvSpPr>
        <p:spPr>
          <a:xfrm>
            <a:off x="609600" y="5334000"/>
            <a:ext cx="10972800" cy="762000"/>
          </a:xfrm>
          <a:prstGeom prst="rect">
            <a:avLst/>
          </a:prstGeom>
          <a:noFill/>
          <a:ln w="0">
            <a:noFill/>
          </a:ln>
        </p:spPr>
        <p:txBody>
          <a:bodyPr/>
          <a:lstStyle>
            <a:defPPr>
              <a:defRPr sz="2250" b="1">
                <a:solidFill>
                  <a:srgbClr val="007D7B"/>
                </a:solidFill>
                <a:latin typeface="Helvetica Neue"/>
                <a:ea typeface="Helvetica Neue"/>
                <a:cs typeface="Helvetica Neue"/>
              </a:defRPr>
            </a:defPPr>
          </a:lstStyle>
          <a:p>
            <a:pPr>
              <a:defRPr sz="2250" b="1">
                <a:solidFill>
                  <a:srgbClr val="007D7B"/>
                </a:solidFill>
                <a:latin typeface="Helvetica Neue"/>
                <a:ea typeface="Helvetica Neue"/>
                <a:cs typeface="Helvetica Neue"/>
              </a:defRPr>
            </a:pPr>
            <a:r>
              <a:rPr sz="2250" b="1">
                <a:solidFill>
                  <a:srgbClr val="007D7B"/>
                </a:solidFill>
                <a:latin typeface="Helvetica Neue"/>
                <a:ea typeface="Helvetica Neue"/>
                <a:cs typeface="Helvetica Neue"/>
              </a:rPr>
              <a:t>Belief: aus dem Punktezuwachs ableiten, welche Felder Punkte bringen.</a:t>
            </a:r>
          </a:p>
        </p:txBody>
      </p:sp>
    </p:spTree>
    <p:extLst>
      <p:ext uri="{BB962C8B-B14F-4D97-AF65-F5344CB8AC3E}">
        <ns3:creationId val="1757940146"/>
      </p:ext>
    </p:extLst>
  </p:cSld>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7F7F0"/>
        </a:solidFill>
      </p:bgPr>
    </p:bg>
    <p:spTree>
      <p:nvGrpSpPr>
        <p:cNvPr id="1" name=""/>
        <p:cNvGrpSpPr/>
        <p:nvPr/>
      </p:nvGrpSpPr>
      <p:grpSpPr>
        <a:xfrm/>
      </p:grpSpPr>
      <p:sp>
        <p:nvSpPr>
          <p:cNvPr id="9" name="SHERLOCK / REVIEW 01">
            <a:extLst>
              <a:ext uri="{FF2B5EF4-FFF2-40B4-BE49-F238E27FC236}">
                <ns2:creationId id="{F559B7CA-7D14-4786-B366-D9E113D666BB}"/>
              </a:ext>
            </a:extLst>
          </p:cNvPr>
          <p:cNvSpPr>
            <a:spLocks noGrp="1"/>
          </p:cNvSpPr>
          <p:nvPr/>
        </p:nvSpPr>
        <p:spPr>
          <a:xfrm>
            <a:off x="609600" y="266700"/>
            <a:ext cx="8572500" cy="304800"/>
          </a:xfrm>
          <a:prstGeom prst="rect">
            <a:avLst/>
          </a:prstGeom>
          <a:noFill/>
          <a:ln w="0">
            <a:noFill/>
          </a:ln>
        </p:spPr>
        <p:txBody>
          <a:bodyPr/>
          <a:lstStyle>
            <a:defPPr>
              <a:defRPr sz="1350" b="1">
                <a:solidFill>
                  <a:srgbClr val="007D7B"/>
                </a:solidFill>
                <a:latin typeface="Helvetica Neue"/>
                <a:ea typeface="Helvetica Neue"/>
                <a:cs typeface="Helvetica Neue"/>
              </a:defRPr>
            </a:defPPr>
          </a:lstStyle>
          <a:p>
            <a:pPr>
              <a:defRPr sz="1350" b="1">
                <a:solidFill>
                  <a:srgbClr val="007D7B"/>
                </a:solidFill>
                <a:latin typeface="Helvetica Neue"/>
                <a:ea typeface="Helvetica Neue"/>
                <a:cs typeface="Helvetica Neue"/>
              </a:defRPr>
            </a:pPr>
            <a:r>
              <a:rPr sz="1350" b="1">
                <a:solidFill>
                  <a:srgbClr val="007D7B"/>
                </a:solidFill>
                <a:latin typeface="Helvetica Neue"/>
                <a:ea typeface="Helvetica Neue"/>
                <a:cs typeface="Helvetica Neue"/>
              </a:rPr>
              <a:t>SHERLOCK / REVIEW 01</a:t>
            </a:r>
          </a:p>
        </p:txBody>
      </p:sp>
      <p:sp>
        <p:nvSpPr>
          <p:cNvPr id="2" name="Sechs Netze bewerten dieselben sechs Aktionen">
            <a:extLst>
              <a:ext uri="{FF2B5EF4-FFF2-40B4-BE49-F238E27FC236}">
                <ns2:creationId id="{3B0BDC30-043E-41FB-9ECF-90F1793EA5E4}"/>
              </a:ext>
            </a:extLst>
          </p:cNvPr>
          <p:cNvSpPr>
            <a:spLocks noGrp="1"/>
          </p:cNvSpPr>
          <p:nvPr/>
        </p:nvSpPr>
        <p:spPr>
          <a:xfrm>
            <a:off x="609600" y="781050"/>
            <a:ext cx="10972800" cy="1028700"/>
          </a:xfrm>
          <a:prstGeom prst="rect">
            <a:avLst/>
          </a:prstGeom>
          <a:noFill/>
          <a:ln w="0">
            <a:noFill/>
          </a:ln>
        </p:spPr>
        <p:txBody>
          <a:bodyPr/>
          <a:lstStyle>
            <a:defPPr>
              <a:defRPr sz="3300" b="1">
                <a:solidFill>
                  <a:srgbClr val="102D35"/>
                </a:solidFill>
                <a:latin typeface="Helvetica Neue"/>
                <a:ea typeface="Helvetica Neue"/>
                <a:cs typeface="Helvetica Neue"/>
              </a:defRPr>
            </a:defPPr>
          </a:lstStyle>
          <a:p>
            <a:pPr>
              <a:buNone/>
              <a:defRPr sz="3300" b="1">
                <a:solidFill>
                  <a:srgbClr val="102D35"/>
                </a:solidFill>
                <a:latin typeface="Helvetica Neue"/>
                <a:ea typeface="Helvetica Neue"/>
                <a:cs typeface="Helvetica Neue"/>
              </a:defRPr>
            </a:pPr>
            <a:r>
              <a:rPr sz="3300" b="1">
                <a:solidFill>
                  <a:srgbClr val="102D35"/>
                </a:solidFill>
                <a:latin typeface="Helvetica Neue"/>
                <a:ea typeface="Helvetica Neue"/>
                <a:cs typeface="Helvetica Neue"/>
              </a:rPr>
              <a:t>Netzarchitektur und Ensemble</a:t>
            </a:r>
          </a:p>
        </p:txBody>
      </p:sp>
      <p:sp>
        <p:nvSpPr>
          <p:cNvPr id="3" name="Team 15 · Mahmoud El-Hassan &amp; Moayed Shawesh">
            <a:extLst>
              <a:ext uri="{FF2B5EF4-FFF2-40B4-BE49-F238E27FC236}">
                <ns2:creationId id="{2989CE1B-2CFF-483B-97DA-4D05EFE33DC6}"/>
              </a:ext>
            </a:extLst>
          </p:cNvPr>
          <p:cNvSpPr>
            <a:spLocks noGrp="1"/>
          </p:cNvSpPr>
          <p:nvPr/>
        </p:nvSpPr>
        <p:spPr>
          <a:xfrm>
            <a:off x="609600" y="6419850"/>
            <a:ext cx="9906000" cy="266700"/>
          </a:xfrm>
          <a:prstGeom prst="rect">
            <a:avLst/>
          </a:prstGeom>
          <a:noFill/>
          <a:ln w="0">
            <a:noFill/>
          </a:ln>
        </p:spPr>
        <p:txBody>
          <a:bodyPr/>
          <a:lstStyle>
            <a:defPPr>
              <a:defRPr sz="1200" b="0">
                <a:solidFill>
                  <a:srgbClr val="526B70"/>
                </a:solidFill>
                <a:latin typeface="Helvetica Neue"/>
                <a:ea typeface="Helvetica Neue"/>
                <a:cs typeface="Helvetica Neue"/>
              </a:defRPr>
            </a:defPPr>
          </a:lstStyle>
          <a:p>
            <a:pPr>
              <a:defRPr sz="1200" b="0">
                <a:solidFill>
                  <a:srgbClr val="526B70"/>
                </a:solidFill>
                <a:latin typeface="Helvetica Neue"/>
                <a:ea typeface="Helvetica Neue"/>
                <a:cs typeface="Helvetica Neue"/>
              </a:defRPr>
            </a:pPr>
            <a:r>
              <a:rPr sz="1200" b="0">
                <a:solidFill>
                  <a:srgbClr val="526B70"/>
                </a:solidFill>
                <a:latin typeface="Helvetica Neue"/>
                <a:ea typeface="Helvetica Neue"/>
                <a:cs typeface="Helvetica Neue"/>
              </a:rPr>
              <a:t>Team 15 · Mahmoud El-Hassan &amp; Moayed Shawesh</a:t>
            </a:r>
          </a:p>
        </p:txBody>
      </p:sp>
      <p:sp>
        <p:nvSpPr>
          <p:cNvPr id="4" name="05">
            <a:extLst>
              <a:ext uri="{FF2B5EF4-FFF2-40B4-BE49-F238E27FC236}">
                <ns2:creationId id="{4E0CCA43-757B-4329-934D-ADFC8CF66D17}"/>
              </a:ext>
            </a:extLst>
          </p:cNvPr>
          <p:cNvSpPr>
            <a:spLocks noGrp="1"/>
          </p:cNvSpPr>
          <p:nvPr/>
        </p:nvSpPr>
        <p:spPr>
          <a:xfrm>
            <a:off x="11049000" y="6419850"/>
            <a:ext cx="533400" cy="266700"/>
          </a:xfrm>
          <a:prstGeom prst="rect">
            <a:avLst/>
          </a:prstGeom>
          <a:noFill/>
          <a:ln w="0">
            <a:noFill/>
          </a:ln>
        </p:spPr>
        <p:txBody>
          <a:bodyPr/>
          <a:lstStyle>
            <a:defPPr>
              <a:defRPr sz="1200" b="0">
                <a:solidFill>
                  <a:srgbClr val="526B70"/>
                </a:solidFill>
                <a:latin typeface="Helvetica Neue"/>
                <a:ea typeface="Helvetica Neue"/>
                <a:cs typeface="Helvetica Neue"/>
              </a:defRPr>
            </a:defPPr>
          </a:lstStyle>
          <a:p>
            <a:pPr>
              <a:defRPr sz="1200" b="0">
                <a:solidFill>
                  <a:srgbClr val="526B70"/>
                </a:solidFill>
                <a:latin typeface="Helvetica Neue"/>
                <a:ea typeface="Helvetica Neue"/>
                <a:cs typeface="Helvetica Neue"/>
              </a:defRPr>
            </a:pPr>
            <a:r>
              <a:rPr sz="1200" b="0">
                <a:solidFill>
                  <a:srgbClr val="526B70"/>
                </a:solidFill>
                <a:latin typeface="Helvetica Neue"/>
                <a:ea typeface="Helvetica Neue"/>
                <a:cs typeface="Helvetica Neue"/>
              </a:rPr>
              <a:t>06</a:t>
            </a:r>
          </a:p>
        </p:txBody>
      </p:sp>
      <p:sp>
        <p:nvSpPr>
          <p:cNvPr id="5" name="79  →  256  →  256">
            <a:extLst>
              <a:ext uri="{FF2B5EF4-FFF2-40B4-BE49-F238E27FC236}">
                <ns2:creationId id="{D383602B-C859-45D7-A75D-0F0BD984A959}"/>
              </a:ext>
            </a:extLst>
          </p:cNvPr>
          <p:cNvSpPr>
            <a:spLocks noGrp="1"/>
          </p:cNvSpPr>
          <p:nvPr/>
        </p:nvSpPr>
        <p:spPr>
          <a:xfrm>
            <a:off x="609600" y="1952625"/>
            <a:ext cx="10972800" cy="704850"/>
          </a:xfrm>
          <a:prstGeom prst="rect">
            <a:avLst/>
          </a:prstGeom>
          <a:noFill/>
          <a:ln w="0">
            <a:noFill/>
          </a:ln>
        </p:spPr>
        <p:txBody>
          <a:bodyPr/>
          <a:lstStyle>
            <a:defPPr>
              <a:defRPr sz="4050" b="1">
                <a:solidFill>
                  <a:srgbClr val="007D7B"/>
                </a:solidFill>
                <a:latin typeface="Helvetica Neue"/>
                <a:ea typeface="Helvetica Neue"/>
                <a:cs typeface="Helvetica Neue"/>
              </a:defRPr>
            </a:defPPr>
          </a:lstStyle>
          <a:p>
            <a:pPr>
              <a:defRPr sz="4050" b="1">
                <a:solidFill>
                  <a:srgbClr val="007D7B"/>
                </a:solidFill>
                <a:latin typeface="Helvetica Neue"/>
                <a:ea typeface="Helvetica Neue"/>
                <a:cs typeface="Helvetica Neue"/>
              </a:defRPr>
            </a:pPr>
            <a:r>
              <a:rPr sz="4050" b="1">
                <a:solidFill>
                  <a:srgbClr val="007D7B"/>
                </a:solidFill>
                <a:latin typeface="Helvetica Neue"/>
                <a:ea typeface="Helvetica Neue"/>
                <a:cs typeface="Helvetica Neue"/>
              </a:rPr>
              <a:t>79  →  256  →  256</a:t>
            </a:r>
          </a:p>
        </p:txBody>
      </p:sp>
      <p:sp>
        <p:nvSpPr>
          <p:cNvPr id="6" name="Pro Einheit · gemeinsame MLP-Schichten mit Re">
            <a:extLst>
              <a:ext uri="{FF2B5EF4-FFF2-40B4-BE49-F238E27FC236}">
                <ns2:creationId id="{609808A7-CA9B-4752-BC9B-7750F1810D23}"/>
              </a:ext>
            </a:extLst>
          </p:cNvPr>
          <p:cNvSpPr>
            <a:spLocks noGrp="1"/>
          </p:cNvSpPr>
          <p:nvPr/>
        </p:nvSpPr>
        <p:spPr>
          <a:xfrm>
            <a:off x="609600" y="2705100"/>
            <a:ext cx="10972800" cy="457200"/>
          </a:xfrm>
          <a:prstGeom prst="rect">
            <a:avLst/>
          </a:prstGeom>
          <a:noFill/>
          <a:ln w="0">
            <a:noFill/>
          </a:ln>
        </p:spPr>
        <p:txBody>
          <a:bodyPr/>
          <a:lstStyle>
            <a:defPPr>
              <a:defRPr sz="2025" b="0">
                <a:solidFill>
                  <a:srgbClr val="526B70"/>
                </a:solidFill>
                <a:latin typeface="Helvetica Neue"/>
                <a:ea typeface="Helvetica Neue"/>
                <a:cs typeface="Helvetica Neue"/>
              </a:defRPr>
            </a:defPPr>
          </a:lstStyle>
          <a:p>
            <a:pPr>
              <a:defRPr sz="2025" b="0">
                <a:solidFill>
                  <a:srgbClr val="526B70"/>
                </a:solidFill>
                <a:latin typeface="Helvetica Neue"/>
                <a:ea typeface="Helvetica Neue"/>
                <a:cs typeface="Helvetica Neue"/>
              </a:defRPr>
            </a:pPr>
            <a:r>
              <a:rPr sz="2025" b="0">
                <a:solidFill>
                  <a:srgbClr val="526B70"/>
                </a:solidFill>
                <a:latin typeface="Helvetica Neue"/>
                <a:ea typeface="Helvetica Neue"/>
                <a:cs typeface="Helvetica Neue"/>
              </a:rPr>
              <a:t>Pro Einheit · gemeinsame MLP-Schichten mit ReLU</a:t>
            </a:r>
          </a:p>
        </p:txBody>
      </p:sp>
      <p:graphicFrame>
        <p:nvGraphicFramePr>
          <p:cNvPr id="7" name="">
            <a:extLst>
              <a:ext uri="{FF2B5EF4-FFF2-40B4-BE49-F238E27FC236}">
                <ns2:creationId id="{1E859834-6787-4F2C-9FBC-54104F0DA635}"/>
              </a:ext>
            </a:extLst>
          </p:cNvPr>
          <p:cNvGraphicFramePr/>
          <p:nvPr/>
        </p:nvGraphicFramePr>
        <p:xfrm>
          <a:off x="609600" y="3390900"/>
          <a:ext cx="10972800" cy="1924050"/>
        </p:xfrm>
        <a:graphic>
          <a:graphicData uri="http://schemas.openxmlformats.org/drawingml/2006/table">
            <a:tbl>
              <a:tblPr/>
              <a:tblGrid>
                <a:gridCol w="3048000"/>
                <a:gridCol w="3143250"/>
                <a:gridCol w="4781550"/>
              </a:tblGrid>
              <a:tr h="641350">
                <a:tc>
                  <a:txBody>
                    <a:bodyPr/>
                    <a:lstStyle/>
                    <a:p>
                      <a:r>
                        <a:rPr sz="2025" b="1">
                          <a:solidFill>
                            <a:srgbClr val="FFFFFF"/>
                          </a:solidFill>
                          <a:latin typeface="Helvetica Neue"/>
                          <a:ea typeface="Helvetica Neue"/>
                          <a:cs typeface="Helvetica Neue"/>
                        </a:rPr>
                        <a:t>Dueling-Kopf</a:t>
                      </a:r>
                    </a:p>
                  </a:txBody>
                  <a:tcPr marL="91440" marR="91440" marT="45720" marB="45720">
                    <a:lnL w="9525">
                      <a:solidFill>
                        <a:srgbClr val="CFDBD7"/>
                      </a:solidFill>
                      <a:prstDash val="solid"/>
                    </a:lnL>
                    <a:lnR w="9525">
                      <a:solidFill>
                        <a:srgbClr val="CFDBD7"/>
                      </a:solidFill>
                      <a:prstDash val="solid"/>
                    </a:lnR>
                    <a:lnT w="9525">
                      <a:solidFill>
                        <a:srgbClr val="CFDBD7"/>
                      </a:solidFill>
                      <a:prstDash val="solid"/>
                    </a:lnT>
                    <a:lnB w="9525">
                      <a:solidFill>
                        <a:srgbClr val="CFDBD7"/>
                      </a:solidFill>
                      <a:prstDash val="solid"/>
                    </a:lnB>
                    <a:solidFill>
                      <a:srgbClr val="102D35"/>
                    </a:solidFill>
                  </a:tcPr>
                </a:tc>
                <a:tc>
                  <a:txBody>
                    <a:bodyPr/>
                    <a:lstStyle/>
                    <a:p>
                      <a:r>
                        <a:rPr sz="2025" b="1">
                          <a:solidFill>
                            <a:srgbClr val="FFFFFF"/>
                          </a:solidFill>
                          <a:latin typeface="Helvetica Neue"/>
                          <a:ea typeface="Helvetica Neue"/>
                          <a:cs typeface="Helvetica Neue"/>
                        </a:rPr>
                        <a:t>Schichten</a:t>
                      </a:r>
                    </a:p>
                  </a:txBody>
                  <a:tcPr marL="91440" marR="91440" marT="45720" marB="45720">
                    <a:lnR w="9525">
                      <a:solidFill>
                        <a:srgbClr val="CFDBD7"/>
                      </a:solidFill>
                      <a:prstDash val="solid"/>
                    </a:lnR>
                    <a:lnT w="9525">
                      <a:solidFill>
                        <a:srgbClr val="CFDBD7"/>
                      </a:solidFill>
                      <a:prstDash val="solid"/>
                    </a:lnT>
                    <a:lnB w="9525">
                      <a:solidFill>
                        <a:srgbClr val="CFDBD7"/>
                      </a:solidFill>
                      <a:prstDash val="solid"/>
                    </a:lnB>
                    <a:solidFill>
                      <a:srgbClr val="102D35"/>
                    </a:solidFill>
                  </a:tcPr>
                </a:tc>
                <a:tc>
                  <a:txBody>
                    <a:bodyPr/>
                    <a:lstStyle/>
                    <a:p>
                      <a:r>
                        <a:rPr sz="2025" b="1">
                          <a:solidFill>
                            <a:srgbClr val="FFFFFF"/>
                          </a:solidFill>
                          <a:latin typeface="Helvetica Neue"/>
                          <a:ea typeface="Helvetica Neue"/>
                          <a:cs typeface="Helvetica Neue"/>
                        </a:rPr>
                        <a:t>Ausgabe</a:t>
                      </a:r>
                    </a:p>
                  </a:txBody>
                  <a:tcPr marL="91440" marR="91440" marT="45720" marB="45720">
                    <a:lnR w="9525">
                      <a:solidFill>
                        <a:srgbClr val="CFDBD7"/>
                      </a:solidFill>
                      <a:prstDash val="solid"/>
                    </a:lnR>
                    <a:lnT w="9525">
                      <a:solidFill>
                        <a:srgbClr val="CFDBD7"/>
                      </a:solidFill>
                      <a:prstDash val="solid"/>
                    </a:lnT>
                    <a:lnB w="9525">
                      <a:solidFill>
                        <a:srgbClr val="CFDBD7"/>
                      </a:solidFill>
                      <a:prstDash val="solid"/>
                    </a:lnB>
                    <a:solidFill>
                      <a:srgbClr val="102D35"/>
                    </a:solidFill>
                  </a:tcPr>
                </a:tc>
              </a:tr>
              <a:tr h="641350">
                <a:tc>
                  <a:txBody>
                    <a:bodyPr/>
                    <a:lstStyle/>
                    <a:p>
                      <a:r>
                        <a:rPr sz="2025" b="0">
                          <a:solidFill>
                            <a:srgbClr val="102D35"/>
                          </a:solidFill>
                          <a:latin typeface="Helvetica Neue"/>
                          <a:ea typeface="Helvetica Neue"/>
                          <a:cs typeface="Helvetica Neue"/>
                        </a:rPr>
                        <a:t>Zustandswert V</a:t>
                      </a:r>
                    </a:p>
                  </a:txBody>
                  <a:tcPr marL="91440" marR="91440" marT="45720" marB="45720">
                    <a:lnL w="9525">
                      <a:solidFill>
                        <a:srgbClr val="CFDBD7"/>
                      </a:solidFill>
                      <a:prstDash val="solid"/>
                    </a:lnL>
                    <a:lnR w="9525">
                      <a:solidFill>
                        <a:srgbClr val="CFDBD7"/>
                      </a:solidFill>
                      <a:prstDash val="solid"/>
                    </a:lnR>
                    <a:lnB w="9525">
                      <a:solidFill>
                        <a:srgbClr val="CFDBD7"/>
                      </a:solidFill>
                      <a:prstDash val="solid"/>
                    </a:lnB>
                    <a:solidFill>
                      <a:srgbClr val="FFFFFF"/>
                    </a:solidFill>
                  </a:tcPr>
                </a:tc>
                <a:tc>
                  <a:txBody>
                    <a:bodyPr/>
                    <a:lstStyle/>
                    <a:p>
                      <a:r>
                        <a:rPr sz="2025" b="0">
                          <a:solidFill>
                            <a:srgbClr val="102D35"/>
                          </a:solidFill>
                          <a:latin typeface="Helvetica Neue"/>
                          <a:ea typeface="Helvetica Neue"/>
                          <a:cs typeface="Helvetica Neue"/>
                        </a:rPr>
                        <a:t>256 → 128 → 1</a:t>
                      </a:r>
                    </a:p>
                  </a:txBody>
                  <a:tcPr marL="91440" marR="91440" marT="45720" marB="45720">
                    <a:lnR w="9525">
                      <a:solidFill>
                        <a:srgbClr val="CFDBD7"/>
                      </a:solidFill>
                      <a:prstDash val="solid"/>
                    </a:lnR>
                    <a:lnB w="9525">
                      <a:solidFill>
                        <a:srgbClr val="CFDBD7"/>
                      </a:solidFill>
                      <a:prstDash val="solid"/>
                    </a:lnB>
                    <a:solidFill>
                      <a:srgbClr val="FFFFFF"/>
                    </a:solidFill>
                  </a:tcPr>
                </a:tc>
                <a:tc>
                  <a:txBody>
                    <a:bodyPr/>
                    <a:lstStyle/>
                    <a:p>
                      <a:r>
                        <a:rPr sz="2025" b="0">
                          <a:solidFill>
                            <a:srgbClr val="102D35"/>
                          </a:solidFill>
                          <a:latin typeface="Helvetica Neue"/>
                          <a:ea typeface="Helvetica Neue"/>
                          <a:cs typeface="Helvetica Neue"/>
                        </a:rPr>
                        <a:t>Ein Wert für die Situation</a:t>
                      </a:r>
                    </a:p>
                  </a:txBody>
                  <a:tcPr marL="91440" marR="91440" marT="45720" marB="45720">
                    <a:lnR w="9525">
                      <a:solidFill>
                        <a:srgbClr val="CFDBD7"/>
                      </a:solidFill>
                      <a:prstDash val="solid"/>
                    </a:lnR>
                    <a:lnB w="9525">
                      <a:solidFill>
                        <a:srgbClr val="CFDBD7"/>
                      </a:solidFill>
                      <a:prstDash val="solid"/>
                    </a:lnB>
                    <a:solidFill>
                      <a:srgbClr val="FFFFFF"/>
                    </a:solidFill>
                  </a:tcPr>
                </a:tc>
              </a:tr>
              <a:tr h="641350">
                <a:tc>
                  <a:txBody>
                    <a:bodyPr/>
                    <a:lstStyle/>
                    <a:p>
                      <a:r>
                        <a:rPr sz="2025" b="0">
                          <a:solidFill>
                            <a:srgbClr val="102D35"/>
                          </a:solidFill>
                          <a:latin typeface="Helvetica Neue"/>
                          <a:ea typeface="Helvetica Neue"/>
                          <a:cs typeface="Helvetica Neue"/>
                        </a:rPr>
                        <a:t>Aktionsvorteil A</a:t>
                      </a:r>
                    </a:p>
                  </a:txBody>
                  <a:tcPr marL="91440" marR="91440" marT="45720" marB="45720">
                    <a:lnL w="9525">
                      <a:solidFill>
                        <a:srgbClr val="CFDBD7"/>
                      </a:solidFill>
                      <a:prstDash val="solid"/>
                    </a:lnL>
                    <a:lnR w="9525">
                      <a:solidFill>
                        <a:srgbClr val="CFDBD7"/>
                      </a:solidFill>
                      <a:prstDash val="solid"/>
                    </a:lnR>
                    <a:lnB w="9525">
                      <a:solidFill>
                        <a:srgbClr val="CFDBD7"/>
                      </a:solidFill>
                      <a:prstDash val="solid"/>
                    </a:lnB>
                    <a:solidFill>
                      <a:srgbClr val="EDF2ED"/>
                    </a:solidFill>
                  </a:tcPr>
                </a:tc>
                <a:tc>
                  <a:txBody>
                    <a:bodyPr/>
                    <a:lstStyle/>
                    <a:p>
                      <a:r>
                        <a:rPr sz="2025" b="0">
                          <a:solidFill>
                            <a:srgbClr val="102D35"/>
                          </a:solidFill>
                          <a:latin typeface="Helvetica Neue"/>
                          <a:ea typeface="Helvetica Neue"/>
                          <a:cs typeface="Helvetica Neue"/>
                        </a:rPr>
                        <a:t>256 → 128 → 6</a:t>
                      </a:r>
                    </a:p>
                  </a:txBody>
                  <a:tcPr marL="91440" marR="91440" marT="45720" marB="45720">
                    <a:lnR w="9525">
                      <a:solidFill>
                        <a:srgbClr val="CFDBD7"/>
                      </a:solidFill>
                      <a:prstDash val="solid"/>
                    </a:lnR>
                    <a:lnB w="9525">
                      <a:solidFill>
                        <a:srgbClr val="CFDBD7"/>
                      </a:solidFill>
                      <a:prstDash val="solid"/>
                    </a:lnB>
                    <a:solidFill>
                      <a:srgbClr val="EDF2ED"/>
                    </a:solidFill>
                  </a:tcPr>
                </a:tc>
                <a:tc>
                  <a:txBody>
                    <a:bodyPr/>
                    <a:lstStyle/>
                    <a:p>
                      <a:r>
                        <a:rPr sz="2025" b="0">
                          <a:solidFill>
                            <a:srgbClr val="102D35"/>
                          </a:solidFill>
                          <a:latin typeface="Helvetica Neue"/>
                          <a:ea typeface="Helvetica Neue"/>
                          <a:cs typeface="Helvetica Neue"/>
                        </a:rPr>
                        <a:t>Ein Wert pro Aktion</a:t>
                      </a:r>
                    </a:p>
                  </a:txBody>
                  <a:tcPr marL="91440" marR="91440" marT="45720" marB="45720">
                    <a:lnR w="9525">
                      <a:solidFill>
                        <a:srgbClr val="CFDBD7"/>
                      </a:solidFill>
                      <a:prstDash val="solid"/>
                    </a:lnR>
                    <a:lnB w="9525">
                      <a:solidFill>
                        <a:srgbClr val="CFDBD7"/>
                      </a:solidFill>
                      <a:prstDash val="solid"/>
                    </a:lnB>
                    <a:solidFill>
                      <a:srgbClr val="EDF2ED"/>
                    </a:solidFill>
                  </a:tcPr>
                </a:tc>
              </a:tr>
            </a:tbl>
          </a:graphicData>
        </a:graphic>
      </p:graphicFrame>
      <p:sp>
        <p:nvSpPr>
          <p:cNvPr id="8" name="Ensemble: 6 Netze → Q-Mittelwert">
            <a:extLst>
              <a:ext uri="{FF2B5EF4-FFF2-40B4-BE49-F238E27FC236}">
                <ns2:creationId id="{DD4376FB-0FF7-4608-9C9E-293F0DA546E3}"/>
              </a:ext>
            </a:extLst>
          </p:cNvPr>
          <p:cNvSpPr>
            <a:spLocks noGrp="1"/>
          </p:cNvSpPr>
          <p:nvPr/>
        </p:nvSpPr>
        <p:spPr>
          <a:xfrm>
            <a:off x="609600" y="5610225"/>
            <a:ext cx="10972800" cy="571500"/>
          </a:xfrm>
          <a:prstGeom prst="rect">
            <a:avLst/>
          </a:prstGeom>
          <a:noFill/>
          <a:ln w="0">
            <a:noFill/>
          </a:ln>
        </p:spPr>
        <p:txBody>
          <a:bodyPr/>
          <a:lstStyle>
            <a:defPPr>
              <a:defRPr sz="2025" b="1">
                <a:solidFill>
                  <a:srgbClr val="007D7B"/>
                </a:solidFill>
                <a:latin typeface="Helvetica Neue"/>
                <a:ea typeface="Helvetica Neue"/>
                <a:cs typeface="Helvetica Neue"/>
              </a:defRPr>
            </a:defPPr>
          </a:lstStyle>
          <a:p>
            <a:pPr>
              <a:defRPr sz="2025" b="1">
                <a:solidFill>
                  <a:srgbClr val="007D7B"/>
                </a:solidFill>
                <a:latin typeface="Helvetica Neue"/>
                <a:ea typeface="Helvetica Neue"/>
                <a:cs typeface="Helvetica Neue"/>
              </a:defRPr>
            </a:pPr>
            <a:r>
              <a:rPr sz="2025" b="1">
                <a:solidFill>
                  <a:srgbClr val="007D7B"/>
                </a:solidFill>
                <a:latin typeface="Helvetica Neue"/>
                <a:ea typeface="Helvetica Neue"/>
                <a:cs typeface="Helvetica Neue"/>
              </a:rPr>
              <a:t>Ensemble: 6 Netze (3 + 3 mit Symmetrie) → Q-Mittelwert → Aktionsmaske</a:t>
            </a:r>
          </a:p>
        </p:txBody>
      </p:sp>
    </p:spTree>
    <p:extLst>
      <p:ext uri="{BB962C8B-B14F-4D97-AF65-F5344CB8AC3E}">
        <ns3:creationId val="663061882"/>
      </p:ext>
    </p:extLst>
  </p:cSld>
</p:sld>
</file>

<file path=ppt/slides/slide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7F7F0"/>
        </a:solidFill>
      </p:bgPr>
    </p:bg>
    <p:spTree>
      <p:nvGrpSpPr>
        <p:cNvPr id="1" name=""/>
        <p:cNvGrpSpPr/>
        <p:nvPr/>
      </p:nvGrpSpPr>
      <p:grpSpPr>
        <a:xfrm/>
      </p:grpSpPr>
      <p:sp>
        <p:nvSpPr>
          <p:cNvPr id="8" name="SHERLOCK / REVIEW 01">
            <a:extLst>
              <a:ext uri="{FF2B5EF4-FFF2-40B4-BE49-F238E27FC236}">
                <ns2:creationId id="{CD87C596-8699-4590-B5AB-F23DB5AE8DF8}"/>
              </a:ext>
            </a:extLst>
          </p:cNvPr>
          <p:cNvSpPr>
            <a:spLocks noGrp="1"/>
          </p:cNvSpPr>
          <p:nvPr/>
        </p:nvSpPr>
        <p:spPr>
          <a:xfrm>
            <a:off x="609600" y="266700"/>
            <a:ext cx="8572500" cy="304800"/>
          </a:xfrm>
          <a:prstGeom prst="rect">
            <a:avLst/>
          </a:prstGeom>
          <a:noFill/>
          <a:ln w="0">
            <a:noFill/>
          </a:ln>
        </p:spPr>
        <p:txBody>
          <a:bodyPr/>
          <a:lstStyle>
            <a:defPPr>
              <a:defRPr sz="1350" b="1">
                <a:solidFill>
                  <a:srgbClr val="007D7B"/>
                </a:solidFill>
                <a:latin typeface="Helvetica Neue"/>
                <a:ea typeface="Helvetica Neue"/>
                <a:cs typeface="Helvetica Neue"/>
              </a:defRPr>
            </a:defPPr>
          </a:lstStyle>
          <a:p>
            <a:pPr>
              <a:defRPr sz="1350" b="1">
                <a:solidFill>
                  <a:srgbClr val="007D7B"/>
                </a:solidFill>
                <a:latin typeface="Helvetica Neue"/>
                <a:ea typeface="Helvetica Neue"/>
                <a:cs typeface="Helvetica Neue"/>
              </a:defRPr>
            </a:pPr>
            <a:r>
              <a:rPr sz="1350" b="1">
                <a:solidFill>
                  <a:srgbClr val="007D7B"/>
                </a:solidFill>
                <a:latin typeface="Helvetica Neue"/>
                <a:ea typeface="Helvetica Neue"/>
                <a:cs typeface="Helvetica Neue"/>
              </a:rPr>
              <a:t>SHERLOCK / REVIEW 01</a:t>
            </a:r>
          </a:p>
        </p:txBody>
      </p:sp>
      <p:sp>
        <p:nvSpPr>
          <p:cNvPr id="2" name="Double DQN: auswählen und bewerten trennen">
            <a:extLst>
              <a:ext uri="{FF2B5EF4-FFF2-40B4-BE49-F238E27FC236}">
                <ns2:creationId id="{FA2650E1-09AD-42F1-9051-9E2260AADF41}"/>
              </a:ext>
            </a:extLst>
          </p:cNvPr>
          <p:cNvSpPr>
            <a:spLocks noGrp="1"/>
          </p:cNvSpPr>
          <p:nvPr/>
        </p:nvSpPr>
        <p:spPr>
          <a:xfrm>
            <a:off x="609600" y="781050"/>
            <a:ext cx="10972800" cy="1028700"/>
          </a:xfrm>
          <a:prstGeom prst="rect">
            <a:avLst/>
          </a:prstGeom>
          <a:noFill/>
          <a:ln w="0">
            <a:noFill/>
          </a:ln>
        </p:spPr>
        <p:txBody>
          <a:bodyPr/>
          <a:lstStyle>
            <a:defPPr>
              <a:defRPr sz="3300" b="1">
                <a:solidFill>
                  <a:srgbClr val="102D35"/>
                </a:solidFill>
                <a:latin typeface="Helvetica Neue"/>
                <a:ea typeface="Helvetica Neue"/>
                <a:cs typeface="Helvetica Neue"/>
              </a:defRPr>
            </a:defPPr>
          </a:lstStyle>
          <a:p>
            <a:pPr>
              <a:buNone/>
              <a:defRPr sz="3300" b="1">
                <a:solidFill>
                  <a:srgbClr val="102D35"/>
                </a:solidFill>
                <a:latin typeface="Helvetica Neue"/>
                <a:ea typeface="Helvetica Neue"/>
                <a:cs typeface="Helvetica Neue"/>
              </a:defRPr>
            </a:pPr>
            <a:r>
              <a:rPr sz="3300" b="1">
                <a:solidFill>
                  <a:srgbClr val="102D35"/>
                </a:solidFill>
                <a:latin typeface="Helvetica Neue"/>
                <a:ea typeface="Helvetica Neue"/>
                <a:cs typeface="Helvetica Neue"/>
              </a:rPr>
              <a:t>Double DQN</a:t>
            </a:r>
          </a:p>
        </p:txBody>
      </p:sp>
      <p:sp>
        <p:nvSpPr>
          <p:cNvPr id="3" name="Team 15 · Mahmoud El-Hassan &amp; Moayed Shawesh">
            <a:extLst>
              <a:ext uri="{FF2B5EF4-FFF2-40B4-BE49-F238E27FC236}">
                <ns2:creationId id="{C36A35F7-6738-4156-A017-68EA16095B23}"/>
              </a:ext>
            </a:extLst>
          </p:cNvPr>
          <p:cNvSpPr>
            <a:spLocks noGrp="1"/>
          </p:cNvSpPr>
          <p:nvPr/>
        </p:nvSpPr>
        <p:spPr>
          <a:xfrm>
            <a:off x="609600" y="6419850"/>
            <a:ext cx="9906000" cy="266700"/>
          </a:xfrm>
          <a:prstGeom prst="rect">
            <a:avLst/>
          </a:prstGeom>
          <a:noFill/>
          <a:ln w="0">
            <a:noFill/>
          </a:ln>
        </p:spPr>
        <p:txBody>
          <a:bodyPr/>
          <a:lstStyle>
            <a:defPPr>
              <a:defRPr sz="1200" b="0">
                <a:solidFill>
                  <a:srgbClr val="526B70"/>
                </a:solidFill>
                <a:latin typeface="Helvetica Neue"/>
                <a:ea typeface="Helvetica Neue"/>
                <a:cs typeface="Helvetica Neue"/>
              </a:defRPr>
            </a:defPPr>
          </a:lstStyle>
          <a:p>
            <a:pPr>
              <a:defRPr sz="1200" b="0">
                <a:solidFill>
                  <a:srgbClr val="526B70"/>
                </a:solidFill>
                <a:latin typeface="Helvetica Neue"/>
                <a:ea typeface="Helvetica Neue"/>
                <a:cs typeface="Helvetica Neue"/>
              </a:defRPr>
            </a:pPr>
            <a:r>
              <a:rPr sz="1200" b="0">
                <a:solidFill>
                  <a:srgbClr val="526B70"/>
                </a:solidFill>
                <a:latin typeface="Helvetica Neue"/>
                <a:ea typeface="Helvetica Neue"/>
                <a:cs typeface="Helvetica Neue"/>
              </a:rPr>
              <a:t>Team 15 · Mahmoud El-Hassan &amp; Moayed Shawesh</a:t>
            </a:r>
          </a:p>
        </p:txBody>
      </p:sp>
      <p:sp>
        <p:nvSpPr>
          <p:cNvPr id="4" name="06">
            <a:extLst>
              <a:ext uri="{FF2B5EF4-FFF2-40B4-BE49-F238E27FC236}">
                <ns2:creationId id="{35D71D06-A7EF-44E5-84DF-B2F1AEC6847C}"/>
              </a:ext>
            </a:extLst>
          </p:cNvPr>
          <p:cNvSpPr>
            <a:spLocks noGrp="1"/>
          </p:cNvSpPr>
          <p:nvPr/>
        </p:nvSpPr>
        <p:spPr>
          <a:xfrm>
            <a:off x="11049000" y="6419850"/>
            <a:ext cx="533400" cy="266700"/>
          </a:xfrm>
          <a:prstGeom prst="rect">
            <a:avLst/>
          </a:prstGeom>
          <a:noFill/>
          <a:ln w="0">
            <a:noFill/>
          </a:ln>
        </p:spPr>
        <p:txBody>
          <a:bodyPr/>
          <a:lstStyle>
            <a:defPPr>
              <a:defRPr sz="1200" b="0">
                <a:solidFill>
                  <a:srgbClr val="526B70"/>
                </a:solidFill>
                <a:latin typeface="Helvetica Neue"/>
                <a:ea typeface="Helvetica Neue"/>
                <a:cs typeface="Helvetica Neue"/>
              </a:defRPr>
            </a:defPPr>
          </a:lstStyle>
          <a:p>
            <a:pPr>
              <a:defRPr sz="1200" b="0">
                <a:solidFill>
                  <a:srgbClr val="526B70"/>
                </a:solidFill>
                <a:latin typeface="Helvetica Neue"/>
                <a:ea typeface="Helvetica Neue"/>
                <a:cs typeface="Helvetica Neue"/>
              </a:defRPr>
            </a:pPr>
            <a:r>
              <a:rPr sz="1200" b="0">
                <a:solidFill>
                  <a:srgbClr val="526B70"/>
                </a:solidFill>
                <a:latin typeface="Helvetica Neue"/>
                <a:ea typeface="Helvetica Neue"/>
                <a:cs typeface="Helvetica Neue"/>
              </a:rPr>
              <a:t>07</a:t>
            </a:r>
          </a:p>
        </p:txBody>
      </p:sp>
      <p:sp>
        <p:nvSpPr>
          <p:cNvPr id="9" name="revision-code-panel">
            <a:extLst>
              <a:ext uri="{FF2B5EF4-FFF2-40B4-BE49-F238E27FC236}">
                <ns2:creationId id="{31916FFF-E749-417D-9080-2C442A44ACB1}"/>
              </a:ext>
            </a:extLst>
          </p:cNvPr>
          <p:cNvSpPr>
            <a:spLocks noGrp="1"/>
          </p:cNvSpPr>
          <p:nvPr/>
        </p:nvSpPr>
        <p:spPr>
          <a:xfrm>
            <a:off x="3714750" y="1847850"/>
            <a:ext cx="7867650" cy="4000500"/>
          </a:xfrm>
          <a:prstGeom prst="roundRect">
            <a:avLst>
              <a:gd name="adj" fmla="val 1905"/>
            </a:avLst>
          </a:prstGeom>
          <a:solidFill>
            <a:srgbClr val="EDF2F2"/>
          </a:solidFill>
          <a:ln w="11430">
            <a:solidFill>
              <a:srgbClr val="CFDBD7"/>
            </a:solidFill>
          </a:ln>
        </p:spPr>
      </p:sp>
      <p:sp>
        <p:nvSpPr>
          <p:cNvPr id="10" name="revision-Erfahrungen">
            <a:extLst>
              <a:ext uri="{FF2B5EF4-FFF2-40B4-BE49-F238E27FC236}">
                <ns2:creationId id="{AF51FF84-4A61-4137-8EF6-D9BFABF22566}"/>
              </a:ext>
            </a:extLst>
          </p:cNvPr>
          <p:cNvSpPr>
            <a:spLocks noGrp="1"/>
          </p:cNvSpPr>
          <p:nvPr/>
        </p:nvSpPr>
        <p:spPr>
          <a:xfrm>
            <a:off x="609600" y="2028825"/>
            <a:ext cx="2714625" cy="400050"/>
          </a:xfrm>
          <a:prstGeom prst="rect">
            <a:avLst/>
          </a:prstGeom>
          <a:noFill/>
          <a:ln w="0">
            <a:noFill/>
          </a:ln>
        </p:spPr>
        <p:txBody>
          <a:bodyPr>
            <a:noAutofit/>
          </a:bodyPr>
          <a:lstStyle>
            <a:defPPr>
              <a:defRPr sz="2175" b="1">
                <a:solidFill>
                  <a:srgbClr val="007D7B"/>
                </a:solidFill>
                <a:latin typeface="Helvetica Neue"/>
                <a:ea typeface="Helvetica Neue"/>
                <a:cs typeface="Helvetica Neue"/>
              </a:defRPr>
            </a:defPPr>
          </a:lstStyle>
          <a:p>
            <a:pPr>
              <a:defRPr sz="2175" b="1">
                <a:solidFill>
                  <a:srgbClr val="007D7B"/>
                </a:solidFill>
                <a:latin typeface="Helvetica Neue"/>
                <a:ea typeface="Helvetica Neue"/>
                <a:cs typeface="Helvetica Neue"/>
              </a:defRPr>
            </a:pPr>
            <a:r>
              <a:rPr sz="2175" b="1">
                <a:solidFill>
                  <a:srgbClr val="007D7B"/>
                </a:solidFill>
                <a:latin typeface="Helvetica Neue"/>
                <a:ea typeface="Helvetica Neue"/>
                <a:cs typeface="Helvetica Neue"/>
              </a:rPr>
              <a:t>Erfahrungen</a:t>
            </a:r>
          </a:p>
        </p:txBody>
      </p:sp>
      <p:sp>
        <p:nvSpPr>
          <p:cNvPr id="11" name="revision-Zufällige Erfahrungen&#10;aus dem Buffer zie">
            <a:extLst>
              <a:ext uri="{FF2B5EF4-FFF2-40B4-BE49-F238E27FC236}">
                <ns2:creationId id="{384F6DC7-46F7-4483-993F-A78FBA893216}"/>
              </a:ext>
            </a:extLst>
          </p:cNvPr>
          <p:cNvSpPr>
            <a:spLocks noGrp="1"/>
          </p:cNvSpPr>
          <p:nvPr/>
        </p:nvSpPr>
        <p:spPr>
          <a:xfrm>
            <a:off x="609600" y="2476500"/>
            <a:ext cx="2714625" cy="742950"/>
          </a:xfrm>
          <a:prstGeom prst="rect">
            <a:avLst/>
          </a:prstGeom>
          <a:noFill/>
          <a:ln w="0">
            <a:noFill/>
          </a:ln>
        </p:spPr>
        <p:txBody>
          <a:bodyPr>
            <a:noAutofit/>
          </a:bodyPr>
          <a:lstStyle>
            <a:defPPr>
              <a:defRPr sz="1875" b="0">
                <a:solidFill>
                  <a:srgbClr val="526B70"/>
                </a:solidFill>
                <a:latin typeface="Helvetica Neue"/>
                <a:ea typeface="Helvetica Neue"/>
                <a:cs typeface="Helvetica Neue"/>
              </a:defRPr>
            </a:defPPr>
          </a:lstStyle>
          <a:p>
            <a:pPr>
              <a:defRPr sz="1875" b="0">
                <a:solidFill>
                  <a:srgbClr val="526B70"/>
                </a:solidFill>
                <a:latin typeface="Helvetica Neue"/>
                <a:ea typeface="Helvetica Neue"/>
                <a:cs typeface="Helvetica Neue"/>
              </a:defRPr>
            </a:pPr>
            <a:r>
              <a:rPr sz="1875" b="0">
                <a:solidFill>
                  <a:srgbClr val="526B70"/>
                </a:solidFill>
                <a:latin typeface="Helvetica Neue"/>
                <a:ea typeface="Helvetica Neue"/>
                <a:cs typeface="Helvetica Neue"/>
              </a:rPr>
              <a:t>Zufällige Erfahrungen</a:t>
            </a:r>
          </a:p>
          <a:p>
            <a:pPr>
              <a:defRPr sz="1875" b="0">
                <a:solidFill>
                  <a:srgbClr val="526B70"/>
                </a:solidFill>
                <a:latin typeface="Helvetica Neue"/>
                <a:ea typeface="Helvetica Neue"/>
                <a:cs typeface="Helvetica Neue"/>
              </a:defRPr>
            </a:pPr>
            <a:r>
              <a:rPr sz="1875" b="0">
                <a:solidFill>
                  <a:srgbClr val="526B70"/>
                </a:solidFill>
                <a:latin typeface="Helvetica Neue"/>
                <a:ea typeface="Helvetica Neue"/>
                <a:cs typeface="Helvetica Neue"/>
              </a:rPr>
              <a:t>aus dem Buffer ziehen.</a:t>
            </a:r>
          </a:p>
        </p:txBody>
      </p:sp>
      <p:sp>
        <p:nvSpPr>
          <p:cNvPr id="12" name="revision-Lernen">
            <a:extLst>
              <a:ext uri="{FF2B5EF4-FFF2-40B4-BE49-F238E27FC236}">
                <ns2:creationId id="{FA940F2B-2912-4133-8F25-C27913D241D8}"/>
              </a:ext>
            </a:extLst>
          </p:cNvPr>
          <p:cNvSpPr>
            <a:spLocks noGrp="1"/>
          </p:cNvSpPr>
          <p:nvPr/>
        </p:nvSpPr>
        <p:spPr>
          <a:xfrm>
            <a:off x="609600" y="3371850"/>
            <a:ext cx="2714625" cy="400050"/>
          </a:xfrm>
          <a:prstGeom prst="rect">
            <a:avLst/>
          </a:prstGeom>
          <a:noFill/>
          <a:ln w="0">
            <a:noFill/>
          </a:ln>
        </p:spPr>
        <p:txBody>
          <a:bodyPr>
            <a:noAutofit/>
          </a:bodyPr>
          <a:lstStyle>
            <a:defPPr>
              <a:defRPr sz="2175" b="1">
                <a:solidFill>
                  <a:srgbClr val="007D7B"/>
                </a:solidFill>
                <a:latin typeface="Helvetica Neue"/>
                <a:ea typeface="Helvetica Neue"/>
                <a:cs typeface="Helvetica Neue"/>
              </a:defRPr>
            </a:defPPr>
          </a:lstStyle>
          <a:p>
            <a:pPr>
              <a:defRPr sz="2175" b="1">
                <a:solidFill>
                  <a:srgbClr val="007D7B"/>
                </a:solidFill>
                <a:latin typeface="Helvetica Neue"/>
                <a:ea typeface="Helvetica Neue"/>
                <a:cs typeface="Helvetica Neue"/>
              </a:defRPr>
            </a:pPr>
            <a:r>
              <a:rPr sz="2175" b="1">
                <a:solidFill>
                  <a:srgbClr val="007D7B"/>
                </a:solidFill>
                <a:latin typeface="Helvetica Neue"/>
                <a:ea typeface="Helvetica Neue"/>
                <a:cs typeface="Helvetica Neue"/>
              </a:rPr>
              <a:t>Lernen</a:t>
            </a:r>
          </a:p>
        </p:txBody>
      </p:sp>
      <p:sp>
        <p:nvSpPr>
          <p:cNvPr id="13" name="revision-Online-Netz wählt;&#10;Target-Netz bewertet.">
            <a:extLst>
              <a:ext uri="{FF2B5EF4-FFF2-40B4-BE49-F238E27FC236}">
                <ns2:creationId id="{66586737-48FF-484D-B1B9-FDF87B6B2237}"/>
              </a:ext>
            </a:extLst>
          </p:cNvPr>
          <p:cNvSpPr>
            <a:spLocks noGrp="1"/>
          </p:cNvSpPr>
          <p:nvPr/>
        </p:nvSpPr>
        <p:spPr>
          <a:xfrm>
            <a:off x="609600" y="3819525"/>
            <a:ext cx="2714625" cy="742950"/>
          </a:xfrm>
          <a:prstGeom prst="rect">
            <a:avLst/>
          </a:prstGeom>
          <a:noFill/>
          <a:ln w="0">
            <a:noFill/>
          </a:ln>
        </p:spPr>
        <p:txBody>
          <a:bodyPr>
            <a:noAutofit/>
          </a:bodyPr>
          <a:lstStyle>
            <a:defPPr>
              <a:defRPr sz="1875" b="0">
                <a:solidFill>
                  <a:srgbClr val="526B70"/>
                </a:solidFill>
                <a:latin typeface="Helvetica Neue"/>
                <a:ea typeface="Helvetica Neue"/>
                <a:cs typeface="Helvetica Neue"/>
              </a:defRPr>
            </a:defPPr>
          </a:lstStyle>
          <a:p>
            <a:pPr>
              <a:defRPr sz="1875" b="0">
                <a:solidFill>
                  <a:srgbClr val="526B70"/>
                </a:solidFill>
                <a:latin typeface="Helvetica Neue"/>
                <a:ea typeface="Helvetica Neue"/>
                <a:cs typeface="Helvetica Neue"/>
              </a:defRPr>
            </a:pPr>
            <a:r>
              <a:rPr sz="1875" b="0">
                <a:solidFill>
                  <a:srgbClr val="526B70"/>
                </a:solidFill>
                <a:latin typeface="Helvetica Neue"/>
                <a:ea typeface="Helvetica Neue"/>
                <a:cs typeface="Helvetica Neue"/>
              </a:rPr>
              <a:t>Online-Netz wählt;</a:t>
            </a:r>
          </a:p>
          <a:p>
            <a:pPr>
              <a:defRPr sz="1875" b="0">
                <a:solidFill>
                  <a:srgbClr val="526B70"/>
                </a:solidFill>
                <a:latin typeface="Helvetica Neue"/>
                <a:ea typeface="Helvetica Neue"/>
                <a:cs typeface="Helvetica Neue"/>
              </a:defRPr>
            </a:pPr>
            <a:r>
              <a:rPr sz="1875" b="0">
                <a:solidFill>
                  <a:srgbClr val="526B70"/>
                </a:solidFill>
                <a:latin typeface="Helvetica Neue"/>
                <a:ea typeface="Helvetica Neue"/>
                <a:cs typeface="Helvetica Neue"/>
              </a:rPr>
              <a:t>Target-Netz bewertet.</a:t>
            </a:r>
          </a:p>
        </p:txBody>
      </p:sp>
      <p:sp>
        <p:nvSpPr>
          <p:cNvPr id="14" name="revision-Belohnung">
            <a:extLst>
              <a:ext uri="{FF2B5EF4-FFF2-40B4-BE49-F238E27FC236}">
                <ns2:creationId id="{43FE2FA4-8653-4290-963D-21B57DA63D90}"/>
              </a:ext>
            </a:extLst>
          </p:cNvPr>
          <p:cNvSpPr>
            <a:spLocks noGrp="1"/>
          </p:cNvSpPr>
          <p:nvPr/>
        </p:nvSpPr>
        <p:spPr>
          <a:xfrm>
            <a:off x="609600" y="4714875"/>
            <a:ext cx="2714625" cy="400050"/>
          </a:xfrm>
          <a:prstGeom prst="rect">
            <a:avLst/>
          </a:prstGeom>
          <a:noFill/>
          <a:ln w="0">
            <a:noFill/>
          </a:ln>
        </p:spPr>
        <p:txBody>
          <a:bodyPr>
            <a:noAutofit/>
          </a:bodyPr>
          <a:lstStyle>
            <a:defPPr>
              <a:defRPr sz="2175" b="1">
                <a:solidFill>
                  <a:srgbClr val="007D7B"/>
                </a:solidFill>
                <a:latin typeface="Helvetica Neue"/>
                <a:ea typeface="Helvetica Neue"/>
                <a:cs typeface="Helvetica Neue"/>
              </a:defRPr>
            </a:defPPr>
          </a:lstStyle>
          <a:p>
            <a:pPr>
              <a:defRPr sz="2175" b="1">
                <a:solidFill>
                  <a:srgbClr val="007D7B"/>
                </a:solidFill>
                <a:latin typeface="Helvetica Neue"/>
                <a:ea typeface="Helvetica Neue"/>
                <a:cs typeface="Helvetica Neue"/>
              </a:defRPr>
            </a:pPr>
            <a:r>
              <a:rPr sz="2175" b="1">
                <a:solidFill>
                  <a:srgbClr val="007D7B"/>
                </a:solidFill>
                <a:latin typeface="Helvetica Neue"/>
                <a:ea typeface="Helvetica Neue"/>
                <a:cs typeface="Helvetica Neue"/>
              </a:rPr>
              <a:t>Belohnung</a:t>
            </a:r>
          </a:p>
        </p:txBody>
      </p:sp>
      <p:sp>
        <p:nvSpPr>
          <p:cNvPr id="15" name="revision-Punkte, Matchsieg&#10;und Shaping-Signale.">
            <a:extLst>
              <a:ext uri="{FF2B5EF4-FFF2-40B4-BE49-F238E27FC236}">
                <ns2:creationId id="{26925455-EFF4-45B4-9562-A68EA5E8F199}"/>
              </a:ext>
            </a:extLst>
          </p:cNvPr>
          <p:cNvSpPr>
            <a:spLocks noGrp="1"/>
          </p:cNvSpPr>
          <p:nvPr/>
        </p:nvSpPr>
        <p:spPr>
          <a:xfrm>
            <a:off x="609600" y="5162550"/>
            <a:ext cx="2714625" cy="742950"/>
          </a:xfrm>
          <a:prstGeom prst="rect">
            <a:avLst/>
          </a:prstGeom>
          <a:noFill/>
          <a:ln w="0">
            <a:noFill/>
          </a:ln>
        </p:spPr>
        <p:txBody>
          <a:bodyPr>
            <a:noAutofit/>
          </a:bodyPr>
          <a:lstStyle>
            <a:defPPr>
              <a:defRPr sz="1875" b="0">
                <a:solidFill>
                  <a:srgbClr val="526B70"/>
                </a:solidFill>
                <a:latin typeface="Helvetica Neue"/>
                <a:ea typeface="Helvetica Neue"/>
                <a:cs typeface="Helvetica Neue"/>
              </a:defRPr>
            </a:defPPr>
          </a:lstStyle>
          <a:p>
            <a:pPr>
              <a:defRPr sz="1875" b="0">
                <a:solidFill>
                  <a:srgbClr val="526B70"/>
                </a:solidFill>
                <a:latin typeface="Helvetica Neue"/>
                <a:ea typeface="Helvetica Neue"/>
                <a:cs typeface="Helvetica Neue"/>
              </a:defRPr>
            </a:pPr>
            <a:r>
              <a:rPr sz="1875" b="0">
                <a:solidFill>
                  <a:srgbClr val="526B70"/>
                </a:solidFill>
                <a:latin typeface="Helvetica Neue"/>
                <a:ea typeface="Helvetica Neue"/>
                <a:cs typeface="Helvetica Neue"/>
              </a:rPr>
              <a:t>Punkte, Matchsieg</a:t>
            </a:r>
          </a:p>
          <a:p>
            <a:pPr>
              <a:defRPr sz="1875" b="0">
                <a:solidFill>
                  <a:srgbClr val="526B70"/>
                </a:solidFill>
                <a:latin typeface="Helvetica Neue"/>
                <a:ea typeface="Helvetica Neue"/>
                <a:cs typeface="Helvetica Neue"/>
              </a:defRPr>
            </a:pPr>
            <a:r>
              <a:rPr sz="1875" b="0">
                <a:solidFill>
                  <a:srgbClr val="526B70"/>
                </a:solidFill>
                <a:latin typeface="Helvetica Neue"/>
                <a:ea typeface="Helvetica Neue"/>
                <a:cs typeface="Helvetica Neue"/>
              </a:rPr>
              <a:t>und Shaping-Signale.</a:t>
            </a:r>
          </a:p>
        </p:txBody>
      </p:sp>
      <p:sp>
        <p:nvSpPr>
          <p:cNvPr id="16" name="revision-Double DQN · Pseudocode">
            <a:extLst>
              <a:ext uri="{FF2B5EF4-FFF2-40B4-BE49-F238E27FC236}">
                <ns2:creationId id="{048EE7C3-8DE3-4F42-8DBA-A291D22D142B}"/>
              </a:ext>
            </a:extLst>
          </p:cNvPr>
          <p:cNvSpPr>
            <a:spLocks noGrp="1"/>
          </p:cNvSpPr>
          <p:nvPr/>
        </p:nvSpPr>
        <p:spPr>
          <a:xfrm>
            <a:off x="3943350" y="2028825"/>
            <a:ext cx="7334250" cy="361950"/>
          </a:xfrm>
          <a:prstGeom prst="rect">
            <a:avLst/>
          </a:prstGeom>
          <a:noFill/>
          <a:ln w="0">
            <a:noFill/>
          </a:ln>
        </p:spPr>
        <p:txBody>
          <a:bodyPr>
            <a:noAutofit/>
          </a:bodyPr>
          <a:lstStyle>
            <a:defPPr>
              <a:defRPr sz="1725" b="1">
                <a:solidFill>
                  <a:srgbClr val="526B70"/>
                </a:solidFill>
                <a:latin typeface="Helvetica Neue"/>
                <a:ea typeface="Helvetica Neue"/>
                <a:cs typeface="Helvetica Neue"/>
              </a:defRPr>
            </a:defPPr>
          </a:lstStyle>
          <a:p>
            <a:pPr>
              <a:defRPr sz="1725" b="1">
                <a:solidFill>
                  <a:srgbClr val="526B70"/>
                </a:solidFill>
                <a:latin typeface="Helvetica Neue"/>
                <a:ea typeface="Helvetica Neue"/>
                <a:cs typeface="Helvetica Neue"/>
              </a:defRPr>
            </a:pPr>
            <a:r>
              <a:rPr sz="1725" b="1">
                <a:solidFill>
                  <a:srgbClr val="526B70"/>
                </a:solidFill>
                <a:latin typeface="Helvetica Neue"/>
                <a:ea typeface="Helvetica Neue"/>
                <a:cs typeface="Helvetica Neue"/>
              </a:rPr>
              <a:t>Double DQN · Pseudocode</a:t>
            </a:r>
          </a:p>
        </p:txBody>
      </p:sp>
      <p:sp>
        <p:nvSpPr>
          <p:cNvPr id="17" name="revision-BEI jedem Lernupdate:">
            <a:extLst>
              <a:ext uri="{FF2B5EF4-FFF2-40B4-BE49-F238E27FC236}">
                <ns2:creationId id="{4B31EEA0-CB12-4D3C-A400-9725F2E8C7C7}"/>
              </a:ext>
            </a:extLst>
          </p:cNvPr>
          <p:cNvSpPr>
            <a:spLocks noGrp="1"/>
          </p:cNvSpPr>
          <p:nvPr/>
        </p:nvSpPr>
        <p:spPr>
          <a:xfrm>
            <a:off x="4010025" y="2552700"/>
            <a:ext cx="7334250" cy="323850"/>
          </a:xfrm>
          <a:prstGeom prst="rect">
            <a:avLst/>
          </a:prstGeom>
          <a:noFill/>
          <a:ln w="0">
            <a:noFill/>
          </a:ln>
        </p:spPr>
        <p:txBody>
          <a:bodyPr>
            <a:noAutofit/>
          </a:bodyPr>
          <a:lstStyle>
            <a:defPPr>
              <a:defRPr sz="1800" b="0">
                <a:solidFill>
                  <a:srgbClr val="102D35"/>
                </a:solidFill>
                <a:latin typeface="Courier New"/>
                <a:ea typeface="Courier New"/>
                <a:cs typeface="Courier New"/>
              </a:defRPr>
            </a:defPPr>
          </a:lstStyle>
          <a:p>
            <a:pPr>
              <a:defRPr sz="1800" b="0">
                <a:solidFill>
                  <a:srgbClr val="102D35"/>
                </a:solidFill>
                <a:latin typeface="Courier New"/>
                <a:ea typeface="Courier New"/>
                <a:cs typeface="Courier New"/>
              </a:defRPr>
            </a:pPr>
            <a:r>
              <a:rPr sz="1800" b="0">
                <a:solidFill>
                  <a:srgbClr val="102D35"/>
                </a:solidFill>
                <a:latin typeface="Courier New"/>
                <a:ea typeface="Courier New"/>
                <a:cs typeface="Courier New"/>
              </a:rPr>
              <a:t>BEI jedem Lernupdate:</a:t>
            </a:r>
          </a:p>
        </p:txBody>
      </p:sp>
      <p:sp>
        <p:nvSpPr>
          <p:cNvPr id="18" name="revision-    Batch = 256 Übergänge aus dem Buffer">
            <a:extLst>
              <a:ext uri="{FF2B5EF4-FFF2-40B4-BE49-F238E27FC236}">
                <ns2:creationId id="{BFAA9AA4-8C49-4579-A94F-9E87C22FCCE7}"/>
              </a:ext>
            </a:extLst>
          </p:cNvPr>
          <p:cNvSpPr>
            <a:spLocks noGrp="1"/>
          </p:cNvSpPr>
          <p:nvPr/>
        </p:nvSpPr>
        <p:spPr>
          <a:xfrm>
            <a:off x="4010025" y="2867025"/>
            <a:ext cx="7334250" cy="323850"/>
          </a:xfrm>
          <a:prstGeom prst="rect">
            <a:avLst/>
          </a:prstGeom>
          <a:noFill/>
          <a:ln w="0">
            <a:noFill/>
          </a:ln>
        </p:spPr>
        <p:txBody>
          <a:bodyPr>
            <a:noAutofit/>
          </a:bodyPr>
          <a:lstStyle>
            <a:defPPr>
              <a:defRPr sz="1800" b="0">
                <a:solidFill>
                  <a:srgbClr val="102D35"/>
                </a:solidFill>
                <a:latin typeface="Courier New"/>
                <a:ea typeface="Courier New"/>
                <a:cs typeface="Courier New"/>
              </a:defRPr>
            </a:defPPr>
          </a:lstStyle>
          <a:p>
            <a:pPr>
              <a:defRPr sz="1800" b="0">
                <a:solidFill>
                  <a:srgbClr val="102D35"/>
                </a:solidFill>
                <a:latin typeface="Courier New"/>
                <a:ea typeface="Courier New"/>
                <a:cs typeface="Courier New"/>
              </a:defRPr>
            </a:pPr>
            <a:r>
              <a:rPr sz="1800" b="0">
                <a:solidFill>
                  <a:srgbClr val="102D35"/>
                </a:solidFill>
                <a:latin typeface="Courier New"/>
                <a:ea typeface="Courier New"/>
                <a:cs typeface="Courier New"/>
              </a:rPr>
              <a:t>    Batch = 256 Übergänge aus dem Buffer</a:t>
            </a:r>
          </a:p>
        </p:txBody>
      </p:sp>
      <p:sp>
        <p:nvSpPr>
          <p:cNvPr id="19" name="revision-    FÜR jeden Übergang (s, a, r, s', End">
            <a:extLst>
              <a:ext uri="{FF2B5EF4-FFF2-40B4-BE49-F238E27FC236}">
                <ns2:creationId id="{FF609B7D-55EF-4289-94D3-F86DFA94EDFB}"/>
              </a:ext>
            </a:extLst>
          </p:cNvPr>
          <p:cNvSpPr>
            <a:spLocks noGrp="1"/>
          </p:cNvSpPr>
          <p:nvPr/>
        </p:nvSpPr>
        <p:spPr>
          <a:xfrm>
            <a:off x="4010025" y="3181350"/>
            <a:ext cx="7334250" cy="323850"/>
          </a:xfrm>
          <a:prstGeom prst="rect">
            <a:avLst/>
          </a:prstGeom>
          <a:noFill/>
          <a:ln w="0">
            <a:noFill/>
          </a:ln>
        </p:spPr>
        <p:txBody>
          <a:bodyPr>
            <a:noAutofit/>
          </a:bodyPr>
          <a:lstStyle>
            <a:defPPr>
              <a:defRPr sz="1800" b="0">
                <a:solidFill>
                  <a:srgbClr val="102D35"/>
                </a:solidFill>
                <a:latin typeface="Courier New"/>
                <a:ea typeface="Courier New"/>
                <a:cs typeface="Courier New"/>
              </a:defRPr>
            </a:defPPr>
          </a:lstStyle>
          <a:p>
            <a:pPr>
              <a:defRPr sz="1800" b="0">
                <a:solidFill>
                  <a:srgbClr val="102D35"/>
                </a:solidFill>
                <a:latin typeface="Courier New"/>
                <a:ea typeface="Courier New"/>
                <a:cs typeface="Courier New"/>
              </a:defRPr>
            </a:pPr>
            <a:r>
              <a:rPr sz="1800" b="0">
                <a:solidFill>
                  <a:srgbClr val="102D35"/>
                </a:solidFill>
                <a:latin typeface="Courier New"/>
                <a:ea typeface="Courier New"/>
                <a:cs typeface="Courier New"/>
              </a:rPr>
              <a:t>    FÜR jeden Übergang (s, a, r, s', Ende):</a:t>
            </a:r>
          </a:p>
        </p:txBody>
      </p:sp>
      <p:sp>
        <p:nvSpPr>
          <p:cNvPr id="20" name="revision-        a* = beste erlaubte Folgeaktion">
            <a:extLst>
              <a:ext uri="{FF2B5EF4-FFF2-40B4-BE49-F238E27FC236}">
                <ns2:creationId id="{83735135-0A41-49D4-BB53-FFBB4709A50E}"/>
              </a:ext>
            </a:extLst>
          </p:cNvPr>
          <p:cNvSpPr>
            <a:spLocks noGrp="1"/>
          </p:cNvSpPr>
          <p:nvPr/>
        </p:nvSpPr>
        <p:spPr>
          <a:xfrm>
            <a:off x="4010025" y="3495675"/>
            <a:ext cx="7334250" cy="323850"/>
          </a:xfrm>
          <a:prstGeom prst="rect">
            <a:avLst/>
          </a:prstGeom>
          <a:noFill/>
          <a:ln w="0">
            <a:noFill/>
          </a:ln>
        </p:spPr>
        <p:txBody>
          <a:bodyPr>
            <a:noAutofit/>
          </a:bodyPr>
          <a:lstStyle>
            <a:defPPr>
              <a:defRPr sz="1800" b="0">
                <a:solidFill>
                  <a:srgbClr val="102D35"/>
                </a:solidFill>
                <a:latin typeface="Courier New"/>
                <a:ea typeface="Courier New"/>
                <a:cs typeface="Courier New"/>
              </a:defRPr>
            </a:defPPr>
          </a:lstStyle>
          <a:p>
            <a:pPr>
              <a:defRPr sz="1800" b="0">
                <a:solidFill>
                  <a:srgbClr val="102D35"/>
                </a:solidFill>
                <a:latin typeface="Courier New"/>
                <a:ea typeface="Courier New"/>
                <a:cs typeface="Courier New"/>
              </a:defRPr>
            </a:pPr>
            <a:r>
              <a:rPr sz="1800" b="0">
                <a:solidFill>
                  <a:srgbClr val="102D35"/>
                </a:solidFill>
                <a:latin typeface="Courier New"/>
                <a:ea typeface="Courier New"/>
                <a:cs typeface="Courier New"/>
              </a:rPr>
              <a:t>        a* = beste erlaubte Folgeaktion</a:t>
            </a:r>
          </a:p>
        </p:txBody>
      </p:sp>
      <p:sp>
        <p:nvSpPr>
          <p:cNvPr id="21" name="revision-             laut Online-Netz">
            <a:extLst>
              <a:ext uri="{FF2B5EF4-FFF2-40B4-BE49-F238E27FC236}">
                <ns2:creationId id="{0B17DB1A-03D1-4792-869E-11C4A5D35C33}"/>
              </a:ext>
            </a:extLst>
          </p:cNvPr>
          <p:cNvSpPr>
            <a:spLocks noGrp="1"/>
          </p:cNvSpPr>
          <p:nvPr/>
        </p:nvSpPr>
        <p:spPr>
          <a:xfrm>
            <a:off x="4010025" y="3810000"/>
            <a:ext cx="7334250" cy="323850"/>
          </a:xfrm>
          <a:prstGeom prst="rect">
            <a:avLst/>
          </a:prstGeom>
          <a:noFill/>
          <a:ln w="0">
            <a:noFill/>
          </a:ln>
        </p:spPr>
        <p:txBody>
          <a:bodyPr>
            <a:noAutofit/>
          </a:bodyPr>
          <a:lstStyle>
            <a:defPPr>
              <a:defRPr sz="1800" b="0">
                <a:solidFill>
                  <a:srgbClr val="102D35"/>
                </a:solidFill>
                <a:latin typeface="Courier New"/>
                <a:ea typeface="Courier New"/>
                <a:cs typeface="Courier New"/>
              </a:defRPr>
            </a:defPPr>
          </a:lstStyle>
          <a:p>
            <a:pPr>
              <a:defRPr sz="1800" b="0">
                <a:solidFill>
                  <a:srgbClr val="102D35"/>
                </a:solidFill>
                <a:latin typeface="Courier New"/>
                <a:ea typeface="Courier New"/>
                <a:cs typeface="Courier New"/>
              </a:defRPr>
            </a:pPr>
            <a:r>
              <a:rPr sz="1800" b="0">
                <a:solidFill>
                  <a:srgbClr val="102D35"/>
                </a:solidFill>
                <a:latin typeface="Courier New"/>
                <a:ea typeface="Courier New"/>
                <a:cs typeface="Courier New"/>
              </a:rPr>
              <a:t>             laut Online-Netz</a:t>
            </a:r>
          </a:p>
        </p:txBody>
      </p:sp>
      <p:sp>
        <p:nvSpPr>
          <p:cNvPr id="22" name="revision-        Ziel = r, falls Ende">
            <a:extLst>
              <a:ext uri="{FF2B5EF4-FFF2-40B4-BE49-F238E27FC236}">
                <ns2:creationId id="{BAB1719A-526D-44C9-8415-17625F7C25DC}"/>
              </a:ext>
            </a:extLst>
          </p:cNvPr>
          <p:cNvSpPr>
            <a:spLocks noGrp="1"/>
          </p:cNvSpPr>
          <p:nvPr/>
        </p:nvSpPr>
        <p:spPr>
          <a:xfrm>
            <a:off x="4010025" y="4124325"/>
            <a:ext cx="7334250" cy="323850"/>
          </a:xfrm>
          <a:prstGeom prst="rect">
            <a:avLst/>
          </a:prstGeom>
          <a:noFill/>
          <a:ln w="0">
            <a:noFill/>
          </a:ln>
        </p:spPr>
        <p:txBody>
          <a:bodyPr>
            <a:noAutofit/>
          </a:bodyPr>
          <a:lstStyle>
            <a:defPPr>
              <a:defRPr sz="1800" b="0">
                <a:solidFill>
                  <a:srgbClr val="102D35"/>
                </a:solidFill>
                <a:latin typeface="Courier New"/>
                <a:ea typeface="Courier New"/>
                <a:cs typeface="Courier New"/>
              </a:defRPr>
            </a:defPPr>
          </a:lstStyle>
          <a:p>
            <a:pPr>
              <a:defRPr sz="1800" b="0">
                <a:solidFill>
                  <a:srgbClr val="102D35"/>
                </a:solidFill>
                <a:latin typeface="Courier New"/>
                <a:ea typeface="Courier New"/>
                <a:cs typeface="Courier New"/>
              </a:defRPr>
            </a:pPr>
            <a:r>
              <a:rPr sz="1800" b="0">
                <a:solidFill>
                  <a:srgbClr val="102D35"/>
                </a:solidFill>
                <a:latin typeface="Courier New"/>
                <a:ea typeface="Courier New"/>
                <a:cs typeface="Courier New"/>
              </a:rPr>
              <a:t>        Ziel = r, falls Ende</a:t>
            </a:r>
          </a:p>
        </p:txBody>
      </p:sp>
      <p:sp>
        <p:nvSpPr>
          <p:cNvPr id="23" name="revision-        SONST: Ziel = r + γ · Q_Target(s">
            <a:extLst>
              <a:ext uri="{FF2B5EF4-FFF2-40B4-BE49-F238E27FC236}">
                <ns2:creationId id="{B0858CA5-F652-4669-B92F-D5D93637AE16}"/>
              </a:ext>
            </a:extLst>
          </p:cNvPr>
          <p:cNvSpPr>
            <a:spLocks noGrp="1"/>
          </p:cNvSpPr>
          <p:nvPr/>
        </p:nvSpPr>
        <p:spPr>
          <a:xfrm>
            <a:off x="4010025" y="4438650"/>
            <a:ext cx="7334250" cy="323850"/>
          </a:xfrm>
          <a:prstGeom prst="rect">
            <a:avLst/>
          </a:prstGeom>
          <a:noFill/>
          <a:ln w="0">
            <a:noFill/>
          </a:ln>
        </p:spPr>
        <p:txBody>
          <a:bodyPr>
            <a:noAutofit/>
          </a:bodyPr>
          <a:lstStyle>
            <a:defPPr>
              <a:defRPr sz="1800" b="0">
                <a:solidFill>
                  <a:srgbClr val="102D35"/>
                </a:solidFill>
                <a:latin typeface="Courier New"/>
                <a:ea typeface="Courier New"/>
                <a:cs typeface="Courier New"/>
              </a:defRPr>
            </a:defPPr>
          </a:lstStyle>
          <a:p>
            <a:pPr>
              <a:defRPr sz="1800" b="0">
                <a:solidFill>
                  <a:srgbClr val="102D35"/>
                </a:solidFill>
                <a:latin typeface="Courier New"/>
                <a:ea typeface="Courier New"/>
                <a:cs typeface="Courier New"/>
              </a:defRPr>
            </a:pPr>
            <a:r>
              <a:rPr sz="1800" b="0">
                <a:solidFill>
                  <a:srgbClr val="102D35"/>
                </a:solidFill>
                <a:latin typeface="Courier New"/>
                <a:ea typeface="Courier New"/>
                <a:cs typeface="Courier New"/>
              </a:rPr>
              <a:t>        SONST: Ziel = r + γ · Q_Target(s', a*)</a:t>
            </a:r>
          </a:p>
        </p:txBody>
      </p:sp>
      <p:sp>
        <p:nvSpPr>
          <p:cNvPr id="24" name="revision-    Online-Netz an die Ziele anpassen">
            <a:extLst>
              <a:ext uri="{FF2B5EF4-FFF2-40B4-BE49-F238E27FC236}">
                <ns2:creationId id="{7BFD4AEE-E9A9-4B13-9061-1B1F24A7E399}"/>
              </a:ext>
            </a:extLst>
          </p:cNvPr>
          <p:cNvSpPr>
            <a:spLocks noGrp="1"/>
          </p:cNvSpPr>
          <p:nvPr/>
        </p:nvSpPr>
        <p:spPr>
          <a:xfrm>
            <a:off x="4010025" y="4752975"/>
            <a:ext cx="7334250" cy="323850"/>
          </a:xfrm>
          <a:prstGeom prst="rect">
            <a:avLst/>
          </a:prstGeom>
          <a:noFill/>
          <a:ln w="0">
            <a:noFill/>
          </a:ln>
        </p:spPr>
        <p:txBody>
          <a:bodyPr>
            <a:noAutofit/>
          </a:bodyPr>
          <a:lstStyle>
            <a:defPPr>
              <a:defRPr sz="1800" b="0">
                <a:solidFill>
                  <a:srgbClr val="102D35"/>
                </a:solidFill>
                <a:latin typeface="Courier New"/>
                <a:ea typeface="Courier New"/>
                <a:cs typeface="Courier New"/>
              </a:defRPr>
            </a:defPPr>
          </a:lstStyle>
          <a:p>
            <a:pPr>
              <a:defRPr sz="1800" b="0">
                <a:solidFill>
                  <a:srgbClr val="102D35"/>
                </a:solidFill>
                <a:latin typeface="Courier New"/>
                <a:ea typeface="Courier New"/>
                <a:cs typeface="Courier New"/>
              </a:defRPr>
            </a:pPr>
            <a:r>
              <a:rPr sz="1800" b="0">
                <a:solidFill>
                  <a:srgbClr val="102D35"/>
                </a:solidFill>
                <a:latin typeface="Courier New"/>
                <a:ea typeface="Courier New"/>
                <a:cs typeface="Courier New"/>
              </a:rPr>
              <a:t>    Online-Netz an die Ziele anpassen</a:t>
            </a:r>
          </a:p>
        </p:txBody>
      </p:sp>
      <p:sp>
        <p:nvSpPr>
          <p:cNvPr id="25" name="revision-    ALLE 500 Updates: Target = Online">
            <a:extLst>
              <a:ext uri="{FF2B5EF4-FFF2-40B4-BE49-F238E27FC236}">
                <ns2:creationId id="{11E73118-01BB-4673-A71B-0C0ACEEB2696}"/>
              </a:ext>
            </a:extLst>
          </p:cNvPr>
          <p:cNvSpPr>
            <a:spLocks noGrp="1"/>
          </p:cNvSpPr>
          <p:nvPr/>
        </p:nvSpPr>
        <p:spPr>
          <a:xfrm>
            <a:off x="4010025" y="5067300"/>
            <a:ext cx="7334250" cy="323850"/>
          </a:xfrm>
          <a:prstGeom prst="rect">
            <a:avLst/>
          </a:prstGeom>
          <a:noFill/>
          <a:ln w="0">
            <a:noFill/>
          </a:ln>
        </p:spPr>
        <p:txBody>
          <a:bodyPr>
            <a:noAutofit/>
          </a:bodyPr>
          <a:lstStyle>
            <a:defPPr>
              <a:defRPr sz="1800" b="0">
                <a:solidFill>
                  <a:srgbClr val="102D35"/>
                </a:solidFill>
                <a:latin typeface="Courier New"/>
                <a:ea typeface="Courier New"/>
                <a:cs typeface="Courier New"/>
              </a:defRPr>
            </a:defPPr>
          </a:lstStyle>
          <a:p>
            <a:pPr>
              <a:defRPr sz="1800" b="0">
                <a:solidFill>
                  <a:srgbClr val="102D35"/>
                </a:solidFill>
                <a:latin typeface="Courier New"/>
                <a:ea typeface="Courier New"/>
                <a:cs typeface="Courier New"/>
              </a:defRPr>
            </a:pPr>
            <a:r>
              <a:rPr sz="1800" b="0">
                <a:solidFill>
                  <a:srgbClr val="102D35"/>
                </a:solidFill>
                <a:latin typeface="Courier New"/>
                <a:ea typeface="Courier New"/>
                <a:cs typeface="Courier New"/>
              </a:rPr>
              <a:t>    ALLE 500 Updates: Target = Online</a:t>
            </a:r>
          </a:p>
        </p:txBody>
      </p:sp>
      <p:sp>
        <p:nvSpPr>
          <p:cNvPr id="26" name="revision-# Online wählt, Target bewertet">
            <a:extLst>
              <a:ext uri="{FF2B5EF4-FFF2-40B4-BE49-F238E27FC236}">
                <ns2:creationId id="{F43E4925-E5B1-44A2-B250-15C62AE0F985}"/>
              </a:ext>
            </a:extLst>
          </p:cNvPr>
          <p:cNvSpPr>
            <a:spLocks noGrp="1"/>
          </p:cNvSpPr>
          <p:nvPr/>
        </p:nvSpPr>
        <p:spPr>
          <a:xfrm>
            <a:off x="4010025" y="5505450"/>
            <a:ext cx="7334250" cy="285750"/>
          </a:xfrm>
          <a:prstGeom prst="rect">
            <a:avLst/>
          </a:prstGeom>
          <a:noFill/>
          <a:ln w="0">
            <a:noFill/>
          </a:ln>
        </p:spPr>
        <p:txBody>
          <a:bodyPr>
            <a:noAutofit/>
          </a:bodyPr>
          <a:lstStyle>
            <a:defPPr>
              <a:defRPr sz="1575" b="0">
                <a:solidFill>
                  <a:srgbClr val="526B70"/>
                </a:solidFill>
                <a:latin typeface="Courier New"/>
                <a:ea typeface="Courier New"/>
                <a:cs typeface="Courier New"/>
              </a:defRPr>
            </a:defPPr>
          </a:lstStyle>
          <a:p>
            <a:pPr>
              <a:defRPr sz="1575" b="0">
                <a:solidFill>
                  <a:srgbClr val="526B70"/>
                </a:solidFill>
                <a:latin typeface="Courier New"/>
                <a:ea typeface="Courier New"/>
                <a:cs typeface="Courier New"/>
              </a:defRPr>
            </a:pPr>
            <a:r>
              <a:rPr sz="1575" b="0">
                <a:solidFill>
                  <a:srgbClr val="526B70"/>
                </a:solidFill>
                <a:latin typeface="Courier New"/>
                <a:ea typeface="Courier New"/>
                <a:cs typeface="Courier New"/>
              </a:rPr>
              <a:t># Online wählt, Target bewertet</a:t>
            </a:r>
          </a:p>
        </p:txBody>
      </p:sp>
    </p:spTree>
    <p:extLst>
      <p:ext uri="{BB962C8B-B14F-4D97-AF65-F5344CB8AC3E}">
        <ns3:creationId val="2012567408"/>
      </p:ext>
    </p:extLst>
  </p:cSld>
</p:sld>
</file>

<file path=ppt/slides/slide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7F7F0"/>
        </a:solidFill>
      </p:bgPr>
    </p:bg>
    <p:spTree>
      <p:nvGrpSpPr>
        <p:cNvPr id="9" name=""/>
        <p:cNvGrpSpPr/>
        <p:nvPr/>
      </p:nvGrpSpPr>
      <p:grpSpPr>
        <a:xfrm/>
      </p:grpSpPr>
      <p:sp>
        <p:nvSpPr>
          <p:cNvPr id="8" name="SHERLOCK / REVIEW 01">
            <a:extLst>
              <a:ext uri="{FF2B5EF4-FFF2-40B4-BE49-F238E27FC236}">
                <ns2:creationId id="{61090A13-2EF2-43A2-A7D8-5A7BFE45E879}"/>
              </a:ext>
            </a:extLst>
          </p:cNvPr>
          <p:cNvSpPr>
            <a:spLocks noGrp="1"/>
          </p:cNvSpPr>
          <p:nvPr/>
        </p:nvSpPr>
        <p:spPr>
          <a:xfrm>
            <a:off x="609600" y="266700"/>
            <a:ext cx="8572500" cy="304800"/>
          </a:xfrm>
          <a:prstGeom prst="rect">
            <a:avLst/>
          </a:prstGeom>
          <a:noFill/>
          <a:ln w="0">
            <a:noFill/>
          </a:ln>
        </p:spPr>
        <p:txBody>
          <a:bodyPr/>
          <a:lstStyle>
            <a:defPPr>
              <a:defRPr sz="1350" b="1">
                <a:solidFill>
                  <a:srgbClr val="007D7B"/>
                </a:solidFill>
                <a:latin typeface="Helvetica Neue"/>
                <a:ea typeface="Helvetica Neue"/>
                <a:cs typeface="Helvetica Neue"/>
              </a:defRPr>
            </a:defPPr>
          </a:lstStyle>
          <a:p>
            <a:pPr>
              <a:defRPr sz="1350" b="1">
                <a:solidFill>
                  <a:srgbClr val="007D7B"/>
                </a:solidFill>
                <a:latin typeface="Helvetica Neue"/>
                <a:ea typeface="Helvetica Neue"/>
                <a:cs typeface="Helvetica Neue"/>
              </a:defRPr>
            </a:pPr>
            <a:r>
              <a:rPr sz="1350" b="1">
                <a:solidFill>
                  <a:srgbClr val="007D7B"/>
                </a:solidFill>
                <a:latin typeface="Helvetica Neue"/>
                <a:ea typeface="Helvetica Neue"/>
                <a:cs typeface="Helvetica Neue"/>
              </a:rPr>
              <a:t>SHERLOCK / REVIEW 01</a:t>
            </a:r>
          </a:p>
        </p:txBody>
      </p:sp>
      <p:sp>
        <p:nvSpPr>
          <p:cNvPr id="2" name="Sechs Trainingsläufe, danach feste Gewichte">
            <a:extLst>
              <a:ext uri="{FF2B5EF4-FFF2-40B4-BE49-F238E27FC236}">
                <ns2:creationId id="{68147D5A-06E0-4685-B507-E509E026E141}"/>
              </a:ext>
            </a:extLst>
          </p:cNvPr>
          <p:cNvSpPr>
            <a:spLocks noGrp="1"/>
          </p:cNvSpPr>
          <p:nvPr/>
        </p:nvSpPr>
        <p:spPr>
          <a:xfrm>
            <a:off x="609600" y="781050"/>
            <a:ext cx="10972800" cy="1028700"/>
          </a:xfrm>
          <a:prstGeom prst="rect">
            <a:avLst/>
          </a:prstGeom>
          <a:noFill/>
          <a:ln w="0">
            <a:noFill/>
          </a:ln>
        </p:spPr>
        <p:txBody>
          <a:bodyPr/>
          <a:lstStyle>
            <a:defPPr>
              <a:defRPr sz="3300" b="1">
                <a:solidFill>
                  <a:srgbClr val="102D35"/>
                </a:solidFill>
                <a:latin typeface="Helvetica Neue"/>
                <a:ea typeface="Helvetica Neue"/>
                <a:cs typeface="Helvetica Neue"/>
              </a:defRPr>
            </a:defPPr>
          </a:lstStyle>
          <a:p>
            <a:pPr>
              <a:buNone/>
              <a:defRPr sz="3300" b="1">
                <a:solidFill>
                  <a:srgbClr val="102D35"/>
                </a:solidFill>
                <a:latin typeface="Helvetica Neue"/>
                <a:ea typeface="Helvetica Neue"/>
                <a:cs typeface="Helvetica Neue"/>
              </a:defRPr>
            </a:pPr>
            <a:r>
              <a:rPr sz="3300" b="1">
                <a:solidFill>
                  <a:srgbClr val="102D35"/>
                </a:solidFill>
                <a:latin typeface="Helvetica Neue"/>
                <a:ea typeface="Helvetica Neue"/>
                <a:cs typeface="Helvetica Neue"/>
              </a:rPr>
              <a:t>Training und Auswertung</a:t>
            </a:r>
          </a:p>
        </p:txBody>
      </p:sp>
      <p:sp>
        <p:nvSpPr>
          <p:cNvPr id="3" name="Team 15 · Mahmoud El-Hassan &amp; Moayed Shawesh">
            <a:extLst>
              <a:ext uri="{FF2B5EF4-FFF2-40B4-BE49-F238E27FC236}">
                <ns2:creationId id="{4DD744E3-9890-407C-B701-A0F0238D5D43}"/>
              </a:ext>
            </a:extLst>
          </p:cNvPr>
          <p:cNvSpPr>
            <a:spLocks noGrp="1"/>
          </p:cNvSpPr>
          <p:nvPr/>
        </p:nvSpPr>
        <p:spPr>
          <a:xfrm>
            <a:off x="609600" y="6419850"/>
            <a:ext cx="9906000" cy="266700"/>
          </a:xfrm>
          <a:prstGeom prst="rect">
            <a:avLst/>
          </a:prstGeom>
          <a:noFill/>
          <a:ln w="0">
            <a:noFill/>
          </a:ln>
        </p:spPr>
        <p:txBody>
          <a:bodyPr/>
          <a:lstStyle>
            <a:defPPr>
              <a:defRPr sz="1200" b="0">
                <a:solidFill>
                  <a:srgbClr val="526B70"/>
                </a:solidFill>
                <a:latin typeface="Helvetica Neue"/>
                <a:ea typeface="Helvetica Neue"/>
                <a:cs typeface="Helvetica Neue"/>
              </a:defRPr>
            </a:defPPr>
          </a:lstStyle>
          <a:p>
            <a:pPr>
              <a:defRPr sz="1200" b="0">
                <a:solidFill>
                  <a:srgbClr val="526B70"/>
                </a:solidFill>
                <a:latin typeface="Helvetica Neue"/>
                <a:ea typeface="Helvetica Neue"/>
                <a:cs typeface="Helvetica Neue"/>
              </a:defRPr>
            </a:pPr>
            <a:r>
              <a:rPr sz="1200" b="0">
                <a:solidFill>
                  <a:srgbClr val="526B70"/>
                </a:solidFill>
                <a:latin typeface="Helvetica Neue"/>
                <a:ea typeface="Helvetica Neue"/>
                <a:cs typeface="Helvetica Neue"/>
              </a:rPr>
              <a:t>Team 15 · Mahmoud El-Hassan &amp; Moayed Shawesh</a:t>
            </a:r>
          </a:p>
        </p:txBody>
      </p:sp>
      <p:sp>
        <p:nvSpPr>
          <p:cNvPr id="4" name="07">
            <a:extLst>
              <a:ext uri="{FF2B5EF4-FFF2-40B4-BE49-F238E27FC236}">
                <ns2:creationId id="{FFCC985A-7711-4D44-B812-A9455C15353B}"/>
              </a:ext>
            </a:extLst>
          </p:cNvPr>
          <p:cNvSpPr>
            <a:spLocks noGrp="1"/>
          </p:cNvSpPr>
          <p:nvPr/>
        </p:nvSpPr>
        <p:spPr>
          <a:xfrm>
            <a:off x="11049000" y="6419850"/>
            <a:ext cx="533400" cy="266700"/>
          </a:xfrm>
          <a:prstGeom prst="rect">
            <a:avLst/>
          </a:prstGeom>
          <a:noFill/>
          <a:ln w="0">
            <a:noFill/>
          </a:ln>
        </p:spPr>
        <p:txBody>
          <a:bodyPr/>
          <a:lstStyle>
            <a:defPPr>
              <a:defRPr sz="1200" b="0">
                <a:solidFill>
                  <a:srgbClr val="526B70"/>
                </a:solidFill>
                <a:latin typeface="Helvetica Neue"/>
                <a:ea typeface="Helvetica Neue"/>
                <a:cs typeface="Helvetica Neue"/>
              </a:defRPr>
            </a:defPPr>
          </a:lstStyle>
          <a:p>
            <a:pPr>
              <a:defRPr sz="1200" b="0">
                <a:solidFill>
                  <a:srgbClr val="526B70"/>
                </a:solidFill>
                <a:latin typeface="Helvetica Neue"/>
                <a:ea typeface="Helvetica Neue"/>
                <a:cs typeface="Helvetica Neue"/>
              </a:defRPr>
            </a:pPr>
            <a:r>
              <a:rPr sz="1200" b="0">
                <a:solidFill>
                  <a:srgbClr val="526B70"/>
                </a:solidFill>
                <a:latin typeface="Helvetica Neue"/>
                <a:ea typeface="Helvetica Neue"/>
                <a:cs typeface="Helvetica Neue"/>
              </a:rPr>
              <a:t>08</a:t>
            </a:r>
          </a:p>
        </p:txBody>
      </p:sp>
      <p:sp>
        <p:nvSpPr>
          <p:cNvPr id="10" name="revision-6 × 3.000 = 18.000">
            <a:extLst>
              <a:ext uri="{FF2B5EF4-FFF2-40B4-BE49-F238E27FC236}">
                <ns2:creationId id="{4A88757F-4863-4249-B890-50B26A2C99D5}"/>
              </a:ext>
            </a:extLst>
          </p:cNvPr>
          <p:cNvSpPr>
            <a:spLocks noGrp="1"/>
          </p:cNvSpPr>
          <p:nvPr/>
        </p:nvSpPr>
        <p:spPr>
          <a:xfrm>
            <a:off x="609600" y="1762125"/>
            <a:ext cx="10972800" cy="628650"/>
          </a:xfrm>
          <a:prstGeom prst="rect">
            <a:avLst/>
          </a:prstGeom>
          <a:noFill/>
          <a:ln w="0">
            <a:noFill/>
          </a:ln>
        </p:spPr>
        <p:txBody>
          <a:bodyPr>
            <a:noAutofit/>
          </a:bodyPr>
          <a:lstStyle>
            <a:defPPr>
              <a:defRPr sz="3900" b="1">
                <a:solidFill>
                  <a:srgbClr val="007D7B"/>
                </a:solidFill>
                <a:latin typeface="Helvetica Neue"/>
                <a:ea typeface="Helvetica Neue"/>
                <a:cs typeface="Helvetica Neue"/>
              </a:defRPr>
            </a:defPPr>
          </a:lstStyle>
          <a:p>
            <a:pPr>
              <a:defRPr sz="3900" b="1">
                <a:solidFill>
                  <a:srgbClr val="007D7B"/>
                </a:solidFill>
                <a:latin typeface="Helvetica Neue"/>
                <a:ea typeface="Helvetica Neue"/>
                <a:cs typeface="Helvetica Neue"/>
              </a:defRPr>
            </a:pPr>
            <a:r>
              <a:rPr sz="3900" b="1">
                <a:solidFill>
                  <a:srgbClr val="007D7B"/>
                </a:solidFill>
                <a:latin typeface="Helvetica Neue"/>
                <a:ea typeface="Helvetica Neue"/>
                <a:cs typeface="Helvetica Neue"/>
              </a:rPr>
              <a:t>6 × 3.000 = 18.000</a:t>
            </a:r>
          </a:p>
        </p:txBody>
      </p:sp>
      <p:sp>
        <p:nvSpPr>
          <p:cNvPr id="11" name="revision-Trainingsspiele der sechs Basisläufe des">
            <a:extLst>
              <a:ext uri="{FF2B5EF4-FFF2-40B4-BE49-F238E27FC236}">
                <ns2:creationId id="{1304225F-3324-4D09-89C9-6C6C60280466}"/>
              </a:ext>
            </a:extLst>
          </p:cNvPr>
          <p:cNvSpPr>
            <a:spLocks noGrp="1"/>
          </p:cNvSpPr>
          <p:nvPr/>
        </p:nvSpPr>
        <p:spPr>
          <a:xfrm>
            <a:off x="609600" y="2457450"/>
            <a:ext cx="10972800" cy="381000"/>
          </a:xfrm>
          <a:prstGeom prst="rect">
            <a:avLst/>
          </a:prstGeom>
          <a:noFill/>
          <a:ln w="0">
            <a:noFill/>
          </a:ln>
        </p:spPr>
        <p:txBody>
          <a:bodyPr>
            <a:noAutofit/>
          </a:bodyPr>
          <a:lstStyle>
            <a:defPPr>
              <a:defRPr sz="2025" b="0">
                <a:solidFill>
                  <a:srgbClr val="526B70"/>
                </a:solidFill>
                <a:latin typeface="Helvetica Neue"/>
                <a:ea typeface="Helvetica Neue"/>
                <a:cs typeface="Helvetica Neue"/>
              </a:defRPr>
            </a:defPPr>
          </a:lstStyle>
          <a:p>
            <a:pPr>
              <a:defRPr sz="2025" b="0">
                <a:solidFill>
                  <a:srgbClr val="526B70"/>
                </a:solidFill>
                <a:latin typeface="Helvetica Neue"/>
                <a:ea typeface="Helvetica Neue"/>
                <a:cs typeface="Helvetica Neue"/>
              </a:defRPr>
            </a:pPr>
            <a:r>
              <a:rPr sz="2025" b="0">
                <a:solidFill>
                  <a:srgbClr val="526B70"/>
                </a:solidFill>
                <a:latin typeface="Helvetica Neue"/>
                <a:ea typeface="Helvetica Neue"/>
                <a:cs typeface="Helvetica Neue"/>
              </a:rPr>
              <a:t>Trainingsspiele der sechs Basisläufe des aktuellen Ensembles</a:t>
            </a:r>
          </a:p>
        </p:txBody>
      </p:sp>
      <p:graphicFrame>
        <p:nvGraphicFramePr>
          <p:cNvPr id="13" name="">
            <a:extLst>
              <a:ext uri="{FF2B5EF4-FFF2-40B4-BE49-F238E27FC236}">
                <ns2:creationId id="{837EE017-2FAA-40E9-B2FA-4F859F1CED9A}"/>
              </a:ext>
            </a:extLst>
          </p:cNvPr>
          <p:cNvGraphicFramePr/>
          <p:nvPr/>
        </p:nvGraphicFramePr>
        <p:xfrm>
          <a:off x="609600" y="3105150"/>
          <a:ext cx="5295900" cy="2857500"/>
        </p:xfrm>
        <a:graphic>
          <a:graphicData uri="http://schemas.openxmlformats.org/drawingml/2006/table">
            <a:tbl>
              <a:tblPr/>
              <a:tblGrid>
                <a:gridCol w="1619250"/>
                <a:gridCol w="3676650"/>
              </a:tblGrid>
              <a:tr h="495300">
                <a:tc>
                  <a:txBody>
                    <a:bodyPr/>
                    <a:lstStyle/>
                    <a:p>
                      <a:r>
                        <a:rPr sz="1800" b="1">
                          <a:solidFill>
                            <a:srgbClr val="FFFFFF"/>
                          </a:solidFill>
                          <a:latin typeface="Helvetica Neue"/>
                          <a:ea typeface="Helvetica Neue"/>
                          <a:cs typeface="Helvetica Neue"/>
                        </a:rPr>
                        <a:t>Phase</a:t>
                      </a:r>
                    </a:p>
                  </a:txBody>
                  <a:tcPr marL="91440" marR="91440" marT="45720" marB="45720">
                    <a:lnL w="9525">
                      <a:solidFill>
                        <a:srgbClr val="CFDBD7"/>
                      </a:solidFill>
                      <a:prstDash val="solid"/>
                    </a:lnL>
                    <a:lnR w="9525">
                      <a:solidFill>
                        <a:srgbClr val="CFDBD7"/>
                      </a:solidFill>
                      <a:prstDash val="solid"/>
                    </a:lnR>
                    <a:lnT w="9525">
                      <a:solidFill>
                        <a:srgbClr val="CFDBD7"/>
                      </a:solidFill>
                      <a:prstDash val="solid"/>
                    </a:lnT>
                    <a:lnB w="9525">
                      <a:solidFill>
                        <a:srgbClr val="CFDBD7"/>
                      </a:solidFill>
                      <a:prstDash val="solid"/>
                    </a:lnB>
                    <a:solidFill>
                      <a:srgbClr val="102D35"/>
                    </a:solidFill>
                  </a:tcPr>
                </a:tc>
                <a:tc>
                  <a:txBody>
                    <a:bodyPr/>
                    <a:lstStyle/>
                    <a:p>
                      <a:r>
                        <a:rPr sz="1800" b="1">
                          <a:solidFill>
                            <a:srgbClr val="FFFFFF"/>
                          </a:solidFill>
                          <a:latin typeface="Helvetica Neue"/>
                          <a:ea typeface="Helvetica Neue"/>
                          <a:cs typeface="Helvetica Neue"/>
                        </a:rPr>
                        <a:t>Vorgehen</a:t>
                      </a:r>
                    </a:p>
                  </a:txBody>
                  <a:tcPr marL="91440" marR="91440" marT="45720" marB="45720">
                    <a:lnR w="9525">
                      <a:solidFill>
                        <a:srgbClr val="CFDBD7"/>
                      </a:solidFill>
                      <a:prstDash val="solid"/>
                    </a:lnR>
                    <a:lnT w="9525">
                      <a:solidFill>
                        <a:srgbClr val="CFDBD7"/>
                      </a:solidFill>
                      <a:prstDash val="solid"/>
                    </a:lnT>
                    <a:lnB w="9525">
                      <a:solidFill>
                        <a:srgbClr val="CFDBD7"/>
                      </a:solidFill>
                      <a:prstDash val="solid"/>
                    </a:lnB>
                    <a:solidFill>
                      <a:srgbClr val="102D35"/>
                    </a:solidFill>
                  </a:tcPr>
                </a:tc>
              </a:tr>
              <a:tr h="781050">
                <a:tc>
                  <a:txBody>
                    <a:bodyPr/>
                    <a:lstStyle/>
                    <a:p>
                      <a:r>
                        <a:rPr sz="1800" b="0">
                          <a:solidFill>
                            <a:srgbClr val="102D35"/>
                          </a:solidFill>
                          <a:latin typeface="Helvetica Neue"/>
                          <a:ea typeface="Helvetica Neue"/>
                          <a:cs typeface="Helvetica Neue"/>
                        </a:rPr>
                        <a:t>Training</a:t>
                      </a:r>
                    </a:p>
                  </a:txBody>
                  <a:tcPr marL="91440" marR="91440" marT="45720" marB="45720">
                    <a:lnL w="9525">
                      <a:solidFill>
                        <a:srgbClr val="CFDBD7"/>
                      </a:solidFill>
                      <a:prstDash val="solid"/>
                    </a:lnL>
                    <a:lnR w="9525">
                      <a:solidFill>
                        <a:srgbClr val="CFDBD7"/>
                      </a:solidFill>
                      <a:prstDash val="solid"/>
                    </a:lnR>
                    <a:lnB w="9525">
                      <a:solidFill>
                        <a:srgbClr val="CFDBD7"/>
                      </a:solidFill>
                      <a:prstDash val="solid"/>
                    </a:lnB>
                    <a:solidFill>
                      <a:srgbClr val="FFFFFF"/>
                    </a:solidFill>
                  </a:tcPr>
                </a:tc>
                <a:tc>
                  <a:txBody>
                    <a:bodyPr/>
                    <a:lstStyle/>
                    <a:p>
                      <a:r>
                        <a:rPr sz="1800" b="0">
                          <a:solidFill>
                            <a:srgbClr val="102D35"/>
                          </a:solidFill>
                          <a:latin typeface="Helvetica Neue"/>
                          <a:ea typeface="Helvetica Neue"/>
                          <a:cs typeface="Helvetica Neue"/>
                        </a:rPr>
                        <a:t>Erst default; danach default</a:t>
                      </a:r>
                    </a:p>
                    <a:p>
                      <a:r>
                        <a:rPr sz="1800" b="0">
                          <a:solidFill>
                            <a:srgbClr val="102D35"/>
                          </a:solidFill>
                          <a:latin typeface="Helvetica Neue"/>
                          <a:ea typeface="Helvetica Neue"/>
                          <a:cs typeface="Helvetica Neue"/>
                        </a:rPr>
                        <a:t>und Solution_92 im Wechsel</a:t>
                      </a:r>
                    </a:p>
                  </a:txBody>
                  <a:tcPr marL="91440" marR="91440" marT="45720" marB="45720">
                    <a:lnR w="9525">
                      <a:solidFill>
                        <a:srgbClr val="CFDBD7"/>
                      </a:solidFill>
                      <a:prstDash val="solid"/>
                    </a:lnR>
                    <a:lnB w="9525">
                      <a:solidFill>
                        <a:srgbClr val="CFDBD7"/>
                      </a:solidFill>
                      <a:prstDash val="solid"/>
                    </a:lnB>
                    <a:solidFill>
                      <a:srgbClr val="FFFFFF"/>
                    </a:solidFill>
                  </a:tcPr>
                </a:tc>
              </a:tr>
              <a:tr h="790575">
                <a:tc>
                  <a:txBody>
                    <a:bodyPr/>
                    <a:lstStyle/>
                    <a:p>
                      <a:r>
                        <a:rPr sz="1800" b="0">
                          <a:solidFill>
                            <a:srgbClr val="102D35"/>
                          </a:solidFill>
                          <a:latin typeface="Helvetica Neue"/>
                          <a:ea typeface="Helvetica Neue"/>
                          <a:cs typeface="Helvetica Neue"/>
                        </a:rPr>
                        <a:t>Validierung</a:t>
                      </a:r>
                    </a:p>
                  </a:txBody>
                  <a:tcPr marL="91440" marR="91440" marT="45720" marB="45720">
                    <a:lnL w="9525">
                      <a:solidFill>
                        <a:srgbClr val="CFDBD7"/>
                      </a:solidFill>
                      <a:prstDash val="solid"/>
                    </a:lnL>
                    <a:lnR w="9525">
                      <a:solidFill>
                        <a:srgbClr val="CFDBD7"/>
                      </a:solidFill>
                      <a:prstDash val="solid"/>
                    </a:lnR>
                    <a:lnB w="9525">
                      <a:solidFill>
                        <a:srgbClr val="CFDBD7"/>
                      </a:solidFill>
                      <a:prstDash val="solid"/>
                    </a:lnB>
                    <a:solidFill>
                      <a:srgbClr val="EDF2ED"/>
                    </a:solidFill>
                  </a:tcPr>
                </a:tc>
                <a:tc>
                  <a:txBody>
                    <a:bodyPr/>
                    <a:lstStyle/>
                    <a:p>
                      <a:r>
                        <a:rPr sz="1800" b="0">
                          <a:solidFill>
                            <a:srgbClr val="102D35"/>
                          </a:solidFill>
                          <a:latin typeface="Helvetica Neue"/>
                          <a:ea typeface="Helvetica Neue"/>
                          <a:cs typeface="Helvetica Neue"/>
                        </a:rPr>
                        <a:t>Getrennte Karten;</a:t>
                      </a:r>
                    </a:p>
                    <a:p>
                      <a:r>
                        <a:rPr sz="1800" b="0">
                          <a:solidFill>
                            <a:srgbClr val="102D35"/>
                          </a:solidFill>
                          <a:latin typeface="Helvetica Neue"/>
                          <a:ea typeface="Helvetica Neue"/>
                          <a:cs typeface="Helvetica Neue"/>
                        </a:rPr>
                        <a:t>Checkpoints vergleichen</a:t>
                      </a:r>
                    </a:p>
                  </a:txBody>
                  <a:tcPr marL="91440" marR="91440" marT="45720" marB="45720">
                    <a:lnR w="9525">
                      <a:solidFill>
                        <a:srgbClr val="CFDBD7"/>
                      </a:solidFill>
                      <a:prstDash val="solid"/>
                    </a:lnR>
                    <a:lnB w="9525">
                      <a:solidFill>
                        <a:srgbClr val="CFDBD7"/>
                      </a:solidFill>
                      <a:prstDash val="solid"/>
                    </a:lnB>
                    <a:solidFill>
                      <a:srgbClr val="EDF2ED"/>
                    </a:solidFill>
                  </a:tcPr>
                </a:tc>
              </a:tr>
              <a:tr h="790575">
                <a:tc>
                  <a:txBody>
                    <a:bodyPr/>
                    <a:lstStyle/>
                    <a:p>
                      <a:r>
                        <a:rPr sz="1800" b="0">
                          <a:solidFill>
                            <a:srgbClr val="102D35"/>
                          </a:solidFill>
                          <a:latin typeface="Helvetica Neue"/>
                          <a:ea typeface="Helvetica Neue"/>
                          <a:cs typeface="Helvetica Neue"/>
                        </a:rPr>
                        <a:t>Auswertung</a:t>
                      </a:r>
                    </a:p>
                  </a:txBody>
                  <a:tcPr marL="91440" marR="91440" marT="45720" marB="45720">
                    <a:lnL w="9525">
                      <a:solidFill>
                        <a:srgbClr val="CFDBD7"/>
                      </a:solidFill>
                      <a:prstDash val="solid"/>
                    </a:lnL>
                    <a:lnR w="9525">
                      <a:solidFill>
                        <a:srgbClr val="CFDBD7"/>
                      </a:solidFill>
                      <a:prstDash val="solid"/>
                    </a:lnR>
                    <a:lnB w="9525">
                      <a:solidFill>
                        <a:srgbClr val="CFDBD7"/>
                      </a:solidFill>
                      <a:prstDash val="solid"/>
                    </a:lnB>
                    <a:solidFill>
                      <a:srgbClr val="FFFFFF"/>
                    </a:solidFill>
                  </a:tcPr>
                </a:tc>
                <a:tc>
                  <a:txBody>
                    <a:bodyPr/>
                    <a:lstStyle/>
                    <a:p>
                      <a:r>
                        <a:rPr sz="1800" b="0">
                          <a:solidFill>
                            <a:srgbClr val="102D35"/>
                          </a:solidFill>
                          <a:latin typeface="Helvetica Neue"/>
                          <a:ea typeface="Helvetica Neue"/>
                          <a:cs typeface="Helvetica Neue"/>
                        </a:rPr>
                        <a:t>Beide Seiten; ε = 0;</a:t>
                      </a:r>
                    </a:p>
                    <a:p>
                      <a:r>
                        <a:rPr sz="1800" b="0">
                          <a:solidFill>
                            <a:srgbClr val="102D35"/>
                          </a:solidFill>
                          <a:latin typeface="Helvetica Neue"/>
                          <a:ea typeface="Helvetica Neue"/>
                          <a:cs typeface="Helvetica Neue"/>
                        </a:rPr>
                        <a:t>kein weiteres Lernen</a:t>
                      </a:r>
                    </a:p>
                  </a:txBody>
                  <a:tcPr marL="91440" marR="91440" marT="45720" marB="45720">
                    <a:lnR w="9525">
                      <a:solidFill>
                        <a:srgbClr val="CFDBD7"/>
                      </a:solidFill>
                      <a:prstDash val="solid"/>
                    </a:lnR>
                    <a:lnB w="9525">
                      <a:solidFill>
                        <a:srgbClr val="CFDBD7"/>
                      </a:solidFill>
                      <a:prstDash val="solid"/>
                    </a:lnB>
                    <a:solidFill>
                      <a:srgbClr val="FFFFFF"/>
                    </a:solidFill>
                  </a:tcPr>
                </a:tc>
              </a:tr>
            </a:tbl>
          </a:graphicData>
        </a:graphic>
      </p:graphicFrame>
      <p:graphicFrame>
        <p:nvGraphicFramePr>
          <p:cNvPr id="14" name="">
            <a:extLst>
              <a:ext uri="{FF2B5EF4-FFF2-40B4-BE49-F238E27FC236}">
                <ns2:creationId id="{2B94D99E-4265-4049-BBD7-C4073FC3BAF1}"/>
              </a:ext>
            </a:extLst>
          </p:cNvPr>
          <p:cNvGraphicFramePr/>
          <p:nvPr/>
        </p:nvGraphicFramePr>
        <p:xfrm>
          <a:off x="6286500" y="3105150"/>
          <a:ext cx="5295900" cy="2857500"/>
        </p:xfrm>
        <a:graphic>
          <a:graphicData uri="http://schemas.openxmlformats.org/drawingml/2006/table">
            <a:tbl>
              <a:tblPr/>
              <a:tblGrid>
                <a:gridCol w="1619250"/>
                <a:gridCol w="3676650"/>
              </a:tblGrid>
              <a:tr h="495300">
                <a:tc>
                  <a:txBody>
                    <a:bodyPr/>
                    <a:lstStyle/>
                    <a:p>
                      <a:r>
                        <a:rPr sz="1800" b="1">
                          <a:solidFill>
                            <a:srgbClr val="FFFFFF"/>
                          </a:solidFill>
                          <a:latin typeface="Helvetica Neue"/>
                          <a:ea typeface="Helvetica Neue"/>
                          <a:cs typeface="Helvetica Neue"/>
                        </a:rPr>
                        <a:t>Parameter</a:t>
                      </a:r>
                    </a:p>
                  </a:txBody>
                  <a:tcPr marL="91440" marR="91440" marT="45720" marB="45720">
                    <a:lnL w="9525">
                      <a:solidFill>
                        <a:srgbClr val="CFDBD7"/>
                      </a:solidFill>
                      <a:prstDash val="solid"/>
                    </a:lnL>
                    <a:lnR w="9525">
                      <a:solidFill>
                        <a:srgbClr val="CFDBD7"/>
                      </a:solidFill>
                      <a:prstDash val="solid"/>
                    </a:lnR>
                    <a:lnT w="9525">
                      <a:solidFill>
                        <a:srgbClr val="CFDBD7"/>
                      </a:solidFill>
                      <a:prstDash val="solid"/>
                    </a:lnT>
                    <a:lnB w="9525">
                      <a:solidFill>
                        <a:srgbClr val="CFDBD7"/>
                      </a:solidFill>
                      <a:prstDash val="solid"/>
                    </a:lnB>
                    <a:solidFill>
                      <a:srgbClr val="102D35"/>
                    </a:solidFill>
                  </a:tcPr>
                </a:tc>
                <a:tc>
                  <a:txBody>
                    <a:bodyPr/>
                    <a:lstStyle/>
                    <a:p>
                      <a:r>
                        <a:rPr sz="1800" b="1">
                          <a:solidFill>
                            <a:srgbClr val="FFFFFF"/>
                          </a:solidFill>
                          <a:latin typeface="Helvetica Neue"/>
                          <a:ea typeface="Helvetica Neue"/>
                          <a:cs typeface="Helvetica Neue"/>
                        </a:rPr>
                        <a:t>Wert</a:t>
                      </a:r>
                    </a:p>
                  </a:txBody>
                  <a:tcPr marL="91440" marR="91440" marT="45720" marB="45720">
                    <a:lnR w="9525">
                      <a:solidFill>
                        <a:srgbClr val="CFDBD7"/>
                      </a:solidFill>
                      <a:prstDash val="solid"/>
                    </a:lnR>
                    <a:lnT w="9525">
                      <a:solidFill>
                        <a:srgbClr val="CFDBD7"/>
                      </a:solidFill>
                      <a:prstDash val="solid"/>
                    </a:lnT>
                    <a:lnB w="9525">
                      <a:solidFill>
                        <a:srgbClr val="CFDBD7"/>
                      </a:solidFill>
                      <a:prstDash val="solid"/>
                    </a:lnB>
                    <a:solidFill>
                      <a:srgbClr val="102D35"/>
                    </a:solidFill>
                  </a:tcPr>
                </a:tc>
              </a:tr>
              <a:tr h="552450">
                <a:tc>
                  <a:txBody>
                    <a:bodyPr/>
                    <a:lstStyle/>
                    <a:p>
                      <a:r>
                        <a:rPr sz="1800" b="0">
                          <a:solidFill>
                            <a:srgbClr val="102D35"/>
                          </a:solidFill>
                          <a:latin typeface="Helvetica Neue"/>
                          <a:ea typeface="Helvetica Neue"/>
                          <a:cs typeface="Helvetica Neue"/>
                        </a:rPr>
                        <a:t>Lernrate / γ</a:t>
                      </a:r>
                    </a:p>
                  </a:txBody>
                  <a:tcPr marL="91440" marR="91440" marT="45720" marB="45720">
                    <a:lnL w="9525">
                      <a:solidFill>
                        <a:srgbClr val="CFDBD7"/>
                      </a:solidFill>
                      <a:prstDash val="solid"/>
                    </a:lnL>
                    <a:lnR w="9525">
                      <a:solidFill>
                        <a:srgbClr val="CFDBD7"/>
                      </a:solidFill>
                      <a:prstDash val="solid"/>
                    </a:lnR>
                    <a:lnB w="9525">
                      <a:solidFill>
                        <a:srgbClr val="CFDBD7"/>
                      </a:solidFill>
                      <a:prstDash val="solid"/>
                    </a:lnB>
                    <a:solidFill>
                      <a:srgbClr val="FFFFFF"/>
                    </a:solidFill>
                  </a:tcPr>
                </a:tc>
                <a:tc>
                  <a:txBody>
                    <a:bodyPr/>
                    <a:lstStyle/>
                    <a:p>
                      <a:r>
                        <a:rPr sz="1800" b="0">
                          <a:solidFill>
                            <a:srgbClr val="102D35"/>
                          </a:solidFill>
                          <a:latin typeface="Helvetica Neue"/>
                          <a:ea typeface="Helvetica Neue"/>
                          <a:cs typeface="Helvetica Neue"/>
                        </a:rPr>
                        <a:t>0,0003 / 0,99</a:t>
                      </a:r>
                    </a:p>
                  </a:txBody>
                  <a:tcPr marL="91440" marR="91440" marT="45720" marB="45720">
                    <a:lnR w="9525">
                      <a:solidFill>
                        <a:srgbClr val="CFDBD7"/>
                      </a:solidFill>
                      <a:prstDash val="solid"/>
                    </a:lnR>
                    <a:lnB w="9525">
                      <a:solidFill>
                        <a:srgbClr val="CFDBD7"/>
                      </a:solidFill>
                      <a:prstDash val="solid"/>
                    </a:lnB>
                    <a:solidFill>
                      <a:srgbClr val="FFFFFF"/>
                    </a:solidFill>
                  </a:tcPr>
                </a:tc>
              </a:tr>
              <a:tr h="552450">
                <a:tc>
                  <a:txBody>
                    <a:bodyPr/>
                    <a:lstStyle/>
                    <a:p>
                      <a:r>
                        <a:rPr sz="1800" b="0">
                          <a:solidFill>
                            <a:srgbClr val="102D35"/>
                          </a:solidFill>
                          <a:latin typeface="Helvetica Neue"/>
                          <a:ea typeface="Helvetica Neue"/>
                          <a:cs typeface="Helvetica Neue"/>
                        </a:rPr>
                        <a:t>Batch / Buffer</a:t>
                      </a:r>
                    </a:p>
                  </a:txBody>
                  <a:tcPr marL="91440" marR="91440" marT="45720" marB="45720">
                    <a:lnL w="9525">
                      <a:solidFill>
                        <a:srgbClr val="CFDBD7"/>
                      </a:solidFill>
                      <a:prstDash val="solid"/>
                    </a:lnL>
                    <a:lnR w="9525">
                      <a:solidFill>
                        <a:srgbClr val="CFDBD7"/>
                      </a:solidFill>
                      <a:prstDash val="solid"/>
                    </a:lnR>
                    <a:lnB w="9525">
                      <a:solidFill>
                        <a:srgbClr val="CFDBD7"/>
                      </a:solidFill>
                      <a:prstDash val="solid"/>
                    </a:lnB>
                    <a:solidFill>
                      <a:srgbClr val="EDF2ED"/>
                    </a:solidFill>
                  </a:tcPr>
                </a:tc>
                <a:tc>
                  <a:txBody>
                    <a:bodyPr/>
                    <a:lstStyle/>
                    <a:p>
                      <a:r>
                        <a:rPr sz="1800" b="0">
                          <a:solidFill>
                            <a:srgbClr val="102D35"/>
                          </a:solidFill>
                          <a:latin typeface="Helvetica Neue"/>
                          <a:ea typeface="Helvetica Neue"/>
                          <a:cs typeface="Helvetica Neue"/>
                        </a:rPr>
                        <a:t>256 / 300.000 Übergänge</a:t>
                      </a:r>
                    </a:p>
                  </a:txBody>
                  <a:tcPr marL="91440" marR="91440" marT="45720" marB="45720">
                    <a:lnR w="9525">
                      <a:solidFill>
                        <a:srgbClr val="CFDBD7"/>
                      </a:solidFill>
                      <a:prstDash val="solid"/>
                    </a:lnR>
                    <a:lnB w="9525">
                      <a:solidFill>
                        <a:srgbClr val="CFDBD7"/>
                      </a:solidFill>
                      <a:prstDash val="solid"/>
                    </a:lnB>
                    <a:solidFill>
                      <a:srgbClr val="EDF2ED"/>
                    </a:solidFill>
                  </a:tcPr>
                </a:tc>
              </a:tr>
              <a:tr h="704850">
                <a:tc>
                  <a:txBody>
                    <a:bodyPr/>
                    <a:lstStyle/>
                    <a:p>
                      <a:r>
                        <a:rPr sz="1800" b="0">
                          <a:solidFill>
                            <a:srgbClr val="102D35"/>
                          </a:solidFill>
                          <a:latin typeface="Helvetica Neue"/>
                          <a:ea typeface="Helvetica Neue"/>
                          <a:cs typeface="Helvetica Neue"/>
                        </a:rPr>
                        <a:t>Exploration ε</a:t>
                      </a:r>
                    </a:p>
                  </a:txBody>
                  <a:tcPr marL="91440" marR="91440" marT="45720" marB="45720">
                    <a:lnL w="9525">
                      <a:solidFill>
                        <a:srgbClr val="CFDBD7"/>
                      </a:solidFill>
                      <a:prstDash val="solid"/>
                    </a:lnL>
                    <a:lnR w="9525">
                      <a:solidFill>
                        <a:srgbClr val="CFDBD7"/>
                      </a:solidFill>
                      <a:prstDash val="solid"/>
                    </a:lnR>
                    <a:lnB w="9525">
                      <a:solidFill>
                        <a:srgbClr val="CFDBD7"/>
                      </a:solidFill>
                      <a:prstDash val="solid"/>
                    </a:lnB>
                    <a:solidFill>
                      <a:srgbClr val="FFFFFF"/>
                    </a:solidFill>
                  </a:tcPr>
                </a:tc>
                <a:tc>
                  <a:txBody>
                    <a:bodyPr/>
                    <a:lstStyle/>
                    <a:p>
                      <a:r>
                        <a:rPr sz="1800" b="0">
                          <a:solidFill>
                            <a:srgbClr val="102D35"/>
                          </a:solidFill>
                          <a:latin typeface="Helvetica Neue"/>
                          <a:ea typeface="Helvetica Neue"/>
                          <a:cs typeface="Helvetica Neue"/>
                        </a:rPr>
                        <a:t>1,0 → 0,05 in 60.000</a:t>
                      </a:r>
                    </a:p>
                    <a:p>
                      <a:r>
                        <a:rPr sz="1800" b="0">
                          <a:solidFill>
                            <a:srgbClr val="102D35"/>
                          </a:solidFill>
                          <a:latin typeface="Helvetica Neue"/>
                          <a:ea typeface="Helvetica Neue"/>
                          <a:cs typeface="Helvetica Neue"/>
                        </a:rPr>
                        <a:t>Umgebungsschritten</a:t>
                      </a:r>
                    </a:p>
                  </a:txBody>
                  <a:tcPr marL="91440" marR="91440" marT="45720" marB="45720">
                    <a:lnR w="9525">
                      <a:solidFill>
                        <a:srgbClr val="CFDBD7"/>
                      </a:solidFill>
                      <a:prstDash val="solid"/>
                    </a:lnR>
                    <a:lnB w="9525">
                      <a:solidFill>
                        <a:srgbClr val="CFDBD7"/>
                      </a:solidFill>
                      <a:prstDash val="solid"/>
                    </a:lnB>
                    <a:solidFill>
                      <a:srgbClr val="FFFFFF"/>
                    </a:solidFill>
                  </a:tcPr>
                </a:tc>
              </a:tr>
              <a:tr h="552450">
                <a:tc>
                  <a:txBody>
                    <a:bodyPr/>
                    <a:lstStyle/>
                    <a:p>
                      <a:r>
                        <a:rPr sz="1800" b="0">
                          <a:solidFill>
                            <a:srgbClr val="102D35"/>
                          </a:solidFill>
                          <a:latin typeface="Helvetica Neue"/>
                          <a:ea typeface="Helvetica Neue"/>
                          <a:cs typeface="Helvetica Neue"/>
                        </a:rPr>
                        <a:t>Target-Kopie</a:t>
                      </a:r>
                    </a:p>
                  </a:txBody>
                  <a:tcPr marL="91440" marR="91440" marT="45720" marB="45720">
                    <a:lnL w="9525">
                      <a:solidFill>
                        <a:srgbClr val="CFDBD7"/>
                      </a:solidFill>
                      <a:prstDash val="solid"/>
                    </a:lnL>
                    <a:lnR w="9525">
                      <a:solidFill>
                        <a:srgbClr val="CFDBD7"/>
                      </a:solidFill>
                      <a:prstDash val="solid"/>
                    </a:lnR>
                    <a:lnB w="9525">
                      <a:solidFill>
                        <a:srgbClr val="CFDBD7"/>
                      </a:solidFill>
                      <a:prstDash val="solid"/>
                    </a:lnB>
                    <a:solidFill>
                      <a:srgbClr val="EDF2ED"/>
                    </a:solidFill>
                  </a:tcPr>
                </a:tc>
                <a:tc>
                  <a:txBody>
                    <a:bodyPr/>
                    <a:lstStyle/>
                    <a:p>
                      <a:r>
                        <a:rPr sz="1800" b="0">
                          <a:solidFill>
                            <a:srgbClr val="102D35"/>
                          </a:solidFill>
                          <a:latin typeface="Helvetica Neue"/>
                          <a:ea typeface="Helvetica Neue"/>
                          <a:cs typeface="Helvetica Neue"/>
                        </a:rPr>
                        <a:t>Alle 500 Lernupdates</a:t>
                      </a:r>
                    </a:p>
                  </a:txBody>
                  <a:tcPr marL="91440" marR="91440" marT="45720" marB="45720">
                    <a:lnR w="9525">
                      <a:solidFill>
                        <a:srgbClr val="CFDBD7"/>
                      </a:solidFill>
                      <a:prstDash val="solid"/>
                    </a:lnR>
                    <a:lnB w="9525">
                      <a:solidFill>
                        <a:srgbClr val="CFDBD7"/>
                      </a:solidFill>
                      <a:prstDash val="solid"/>
                    </a:lnB>
                    <a:solidFill>
                      <a:srgbClr val="EDF2ED"/>
                    </a:solidFill>
                  </a:tcPr>
                </a:tc>
              </a:tr>
            </a:tbl>
          </a:graphicData>
        </a:graphic>
      </p:graphicFrame>
    </p:spTree>
    <p:extLst>
      <p:ext uri="{BB962C8B-B14F-4D97-AF65-F5344CB8AC3E}">
        <ns3:creationId val="2029611600"/>
      </p:ext>
    </p:extLst>
  </p:cSld>
</p:sld>
</file>

<file path=ppt/slides/slide9.xml><?xml version="1.0" encoding="utf-8"?>
<p:sld xmlns:a="http://schemas.openxmlformats.org/drawingml/2006/main" xmlns:ns2="http://schemas.microsoft.com/office/drawing/2014/main" xmlns:ns3="http://schemas.openxmlformats.org/drawingml/2006/chart" xmlns:ns5="http://schemas.microsoft.com/office/powerpoint/2010/main" xmlns:p="http://schemas.openxmlformats.org/presentationml/2006/main" xmlns:r="http://schemas.openxmlformats.org/officeDocument/2006/relationships">
  <p:cSld>
    <p:bg>
      <p:bgPr>
        <a:solidFill>
          <a:srgbClr val="F7F7F0"/>
        </a:solidFill>
      </p:bgPr>
    </p:bg>
    <p:spTree>
      <p:nvGrpSpPr>
        <p:cNvPr id="1" name=""/>
        <p:cNvGrpSpPr/>
        <p:nvPr/>
      </p:nvGrpSpPr>
      <p:grpSpPr>
        <a:xfrm/>
      </p:grpSpPr>
      <p:sp>
        <p:nvSpPr>
          <p:cNvPr id="9" name="SHERLOCK / REVIEW 01">
            <a:extLst>
              <a:ext uri="{FF2B5EF4-FFF2-40B4-BE49-F238E27FC236}">
                <ns2:creationId id="{9DE6700D-25C4-4074-A736-65C0F47086D5}"/>
              </a:ext>
            </a:extLst>
          </p:cNvPr>
          <p:cNvSpPr>
            <a:spLocks noGrp="1"/>
          </p:cNvSpPr>
          <p:nvPr/>
        </p:nvSpPr>
        <p:spPr>
          <a:xfrm>
            <a:off x="609600" y="266700"/>
            <a:ext cx="8572500" cy="304800"/>
          </a:xfrm>
          <a:prstGeom prst="rect">
            <a:avLst/>
          </a:prstGeom>
          <a:noFill/>
          <a:ln w="0">
            <a:noFill/>
          </a:ln>
        </p:spPr>
        <p:txBody>
          <a:bodyPr/>
          <a:lstStyle>
            <a:defPPr>
              <a:defRPr sz="1350" b="1">
                <a:solidFill>
                  <a:srgbClr val="007D7B"/>
                </a:solidFill>
                <a:latin typeface="Helvetica Neue"/>
                <a:ea typeface="Helvetica Neue"/>
                <a:cs typeface="Helvetica Neue"/>
              </a:defRPr>
            </a:defPPr>
          </a:lstStyle>
          <a:p>
            <a:pPr>
              <a:defRPr sz="1350" b="1">
                <a:solidFill>
                  <a:srgbClr val="007D7B"/>
                </a:solidFill>
                <a:latin typeface="Helvetica Neue"/>
                <a:ea typeface="Helvetica Neue"/>
                <a:cs typeface="Helvetica Neue"/>
              </a:defRPr>
            </a:pPr>
            <a:r>
              <a:rPr sz="1350" b="1">
                <a:solidFill>
                  <a:srgbClr val="007D7B"/>
                </a:solidFill>
                <a:latin typeface="Helvetica Neue"/>
                <a:ea typeface="Helvetica Neue"/>
                <a:cs typeface="Helvetica Neue"/>
              </a:rPr>
              <a:t>SHERLOCK / REVIEW 01</a:t>
            </a:r>
          </a:p>
        </p:txBody>
      </p:sp>
      <p:sp>
        <p:nvSpPr>
          <p:cNvPr id="2" name="Stark gegen default – der stärkere Gegner ble">
            <a:extLst>
              <a:ext uri="{FF2B5EF4-FFF2-40B4-BE49-F238E27FC236}">
                <ns2:creationId id="{4E667264-4180-43DA-A8C3-B96A6374C6ED}"/>
              </a:ext>
            </a:extLst>
          </p:cNvPr>
          <p:cNvSpPr>
            <a:spLocks noGrp="1"/>
          </p:cNvSpPr>
          <p:nvPr/>
        </p:nvSpPr>
        <p:spPr>
          <a:xfrm>
            <a:off x="609600" y="781050"/>
            <a:ext cx="10972800" cy="1028700"/>
          </a:xfrm>
          <a:prstGeom prst="rect">
            <a:avLst/>
          </a:prstGeom>
          <a:noFill/>
          <a:ln w="0">
            <a:noFill/>
          </a:ln>
        </p:spPr>
        <p:txBody>
          <a:bodyPr/>
          <a:lstStyle>
            <a:defPPr>
              <a:defRPr sz="3300" b="1">
                <a:solidFill>
                  <a:srgbClr val="102D35"/>
                </a:solidFill>
                <a:latin typeface="Helvetica Neue"/>
                <a:ea typeface="Helvetica Neue"/>
                <a:cs typeface="Helvetica Neue"/>
              </a:defRPr>
            </a:defPPr>
          </a:lstStyle>
          <a:p>
            <a:pPr>
              <a:buNone/>
              <a:defRPr sz="3300" b="1">
                <a:solidFill>
                  <a:srgbClr val="102D35"/>
                </a:solidFill>
                <a:latin typeface="Helvetica Neue"/>
                <a:ea typeface="Helvetica Neue"/>
                <a:cs typeface="Helvetica Neue"/>
              </a:defRPr>
            </a:pPr>
            <a:r>
              <a:rPr sz="3300" b="1">
                <a:solidFill>
                  <a:srgbClr val="102D35"/>
                </a:solidFill>
                <a:latin typeface="Helvetica Neue"/>
                <a:ea typeface="Helvetica Neue"/>
                <a:cs typeface="Helvetica Neue"/>
              </a:rPr>
              <a:t>Benchmark-Ergebnisse</a:t>
            </a:r>
          </a:p>
        </p:txBody>
      </p:sp>
      <p:sp>
        <p:nvSpPr>
          <p:cNvPr id="3" name="Team 15 · Mahmoud El-Hassan &amp; Moayed Shawesh">
            <a:extLst>
              <a:ext uri="{FF2B5EF4-FFF2-40B4-BE49-F238E27FC236}">
                <ns2:creationId id="{21F1CF2C-D3C7-49C8-95C8-379845550E68}"/>
              </a:ext>
            </a:extLst>
          </p:cNvPr>
          <p:cNvSpPr>
            <a:spLocks noGrp="1"/>
          </p:cNvSpPr>
          <p:nvPr/>
        </p:nvSpPr>
        <p:spPr>
          <a:xfrm>
            <a:off x="609600" y="6419850"/>
            <a:ext cx="9906000" cy="266700"/>
          </a:xfrm>
          <a:prstGeom prst="rect">
            <a:avLst/>
          </a:prstGeom>
          <a:noFill/>
          <a:ln w="0">
            <a:noFill/>
          </a:ln>
        </p:spPr>
        <p:txBody>
          <a:bodyPr/>
          <a:lstStyle>
            <a:defPPr>
              <a:defRPr sz="1200" b="0">
                <a:solidFill>
                  <a:srgbClr val="526B70"/>
                </a:solidFill>
                <a:latin typeface="Helvetica Neue"/>
                <a:ea typeface="Helvetica Neue"/>
                <a:cs typeface="Helvetica Neue"/>
              </a:defRPr>
            </a:defPPr>
          </a:lstStyle>
          <a:p>
            <a:pPr>
              <a:defRPr sz="1200" b="0">
                <a:solidFill>
                  <a:srgbClr val="526B70"/>
                </a:solidFill>
                <a:latin typeface="Helvetica Neue"/>
                <a:ea typeface="Helvetica Neue"/>
                <a:cs typeface="Helvetica Neue"/>
              </a:defRPr>
            </a:pPr>
            <a:r>
              <a:rPr sz="1200" b="0">
                <a:solidFill>
                  <a:srgbClr val="526B70"/>
                </a:solidFill>
                <a:latin typeface="Helvetica Neue"/>
                <a:ea typeface="Helvetica Neue"/>
                <a:cs typeface="Helvetica Neue"/>
              </a:rPr>
              <a:t>Team 15 · Mahmoud El-Hassan &amp; Moayed Shawesh</a:t>
            </a:r>
          </a:p>
        </p:txBody>
      </p:sp>
      <p:sp>
        <p:nvSpPr>
          <p:cNvPr id="4" name="08">
            <a:extLst>
              <a:ext uri="{FF2B5EF4-FFF2-40B4-BE49-F238E27FC236}">
                <ns2:creationId id="{6A2ADC49-233E-4D8F-B365-5BFC6D99D1EB}"/>
              </a:ext>
            </a:extLst>
          </p:cNvPr>
          <p:cNvSpPr>
            <a:spLocks noGrp="1"/>
          </p:cNvSpPr>
          <p:nvPr/>
        </p:nvSpPr>
        <p:spPr>
          <a:xfrm>
            <a:off x="11049000" y="6419850"/>
            <a:ext cx="533400" cy="266700"/>
          </a:xfrm>
          <a:prstGeom prst="rect">
            <a:avLst/>
          </a:prstGeom>
          <a:noFill/>
          <a:ln w="0">
            <a:noFill/>
          </a:ln>
        </p:spPr>
        <p:txBody>
          <a:bodyPr/>
          <a:lstStyle>
            <a:defPPr>
              <a:defRPr sz="1200" b="0">
                <a:solidFill>
                  <a:srgbClr val="526B70"/>
                </a:solidFill>
                <a:latin typeface="Helvetica Neue"/>
                <a:ea typeface="Helvetica Neue"/>
                <a:cs typeface="Helvetica Neue"/>
              </a:defRPr>
            </a:defPPr>
          </a:lstStyle>
          <a:p>
            <a:pPr>
              <a:defRPr sz="1200" b="0">
                <a:solidFill>
                  <a:srgbClr val="526B70"/>
                </a:solidFill>
                <a:latin typeface="Helvetica Neue"/>
                <a:ea typeface="Helvetica Neue"/>
                <a:cs typeface="Helvetica Neue"/>
              </a:defRPr>
            </a:pPr>
            <a:r>
              <a:rPr sz="1200" b="0">
                <a:solidFill>
                  <a:srgbClr val="526B70"/>
                </a:solidFill>
                <a:latin typeface="Helvetica Neue"/>
                <a:ea typeface="Helvetica Neue"/>
                <a:cs typeface="Helvetica Neue"/>
              </a:rPr>
              <a:t>09</a:t>
            </a:r>
          </a:p>
        </p:txBody>
      </p:sp>
      <p:graphicFrame>
        <p:nvGraphicFramePr>
          <p:cNvPr id="5" name="Chart">
            <a:extLst>
              <a:ext uri="{FF2B5EF4-FFF2-40B4-BE49-F238E27FC236}">
                <ns2:creationId id="{2E4EBE12-064B-4B26-9814-B5EF2CFA5AD1}"/>
              </a:ext>
            </a:extLst>
          </p:cNvPr>
          <p:cNvGraphicFramePr/>
          <p:nvPr/>
        </p:nvGraphicFramePr>
        <p:xfrm>
          <a:off x="609600" y="2047875"/>
          <a:ext cx="7000875" cy="3629025"/>
        </p:xfrm>
        <a:graphic>
          <a:graphicData uri="http://schemas.openxmlformats.org/drawingml/2006/chart">
            <ns3:chart r:id="Rc37e7090310d4e88"/>
          </a:graphicData>
        </a:graphic>
      </p:graphicFrame>
      <p:sp>
        <p:nvSpPr>
          <p:cNvPr id="6" name="60 / 60 Siege&#10;gegen default">
            <a:extLst>
              <a:ext uri="{FF2B5EF4-FFF2-40B4-BE49-F238E27FC236}">
                <ns2:creationId id="{2C1D552B-F705-4702-A832-9394DD8D9160}"/>
              </a:ext>
            </a:extLst>
          </p:cNvPr>
          <p:cNvSpPr>
            <a:spLocks noGrp="1"/>
          </p:cNvSpPr>
          <p:nvPr/>
        </p:nvSpPr>
        <p:spPr>
          <a:xfrm>
            <a:off x="8172450" y="2314575"/>
            <a:ext cx="3333750" cy="952500"/>
          </a:xfrm>
          <a:prstGeom prst="rect">
            <a:avLst/>
          </a:prstGeom>
          <a:noFill/>
          <a:ln w="0">
            <a:noFill/>
          </a:ln>
        </p:spPr>
        <p:txBody>
          <a:bodyPr>
            <a:noAutofit/>
          </a:bodyPr>
          <a:lstStyle>
            <a:defPPr algn="l">
              <a:defRPr sz="2400" b="1">
                <a:solidFill>
                  <a:srgbClr val="102D35"/>
                </a:solidFill>
                <a:latin typeface="Helvetica Neue"/>
                <a:ea typeface="Helvetica Neue"/>
                <a:cs typeface="Helvetica Neue"/>
              </a:defRPr>
            </a:defPPr>
          </a:lstStyle>
          <a:p>
            <a:pPr marL="330200" indent="-254000" algn="l">
              <a:spcAft>
                <a:spcPts val="0"/>
              </a:spcAft>
              <a:buFont typeface="Helvetica Neue"/>
              <a:buChar char="–"/>
              <a:defRPr sz="2400" b="1">
                <a:solidFill>
                  <a:srgbClr val="102D35"/>
                </a:solidFill>
                <a:latin typeface="Helvetica Neue"/>
                <a:ea typeface="Helvetica Neue"/>
                <a:cs typeface="Helvetica Neue"/>
              </a:defRPr>
            </a:pPr>
            <a:r>
              <a:rPr sz="2400" b="1">
                <a:solidFill>
                  <a:srgbClr val="102D35"/>
                </a:solidFill>
                <a:latin typeface="Helvetica Neue"/>
                <a:ea typeface="Helvetica Neue"/>
                <a:cs typeface="Helvetica Neue"/>
              </a:rPr>
              <a:t>60 / 60 Siege gegen default</a:t>
            </a:r>
          </a:p>
        </p:txBody>
      </p:sp>
      <p:sp>
        <p:nvSpPr>
          <p:cNvPr id="7" name="28 / 60 Siege&#10;gegen Solution_92">
            <a:extLst>
              <a:ext uri="{FF2B5EF4-FFF2-40B4-BE49-F238E27FC236}">
                <ns2:creationId id="{350C1384-13C6-43A8-B6D2-8377F740B5F6}"/>
              </a:ext>
            </a:extLst>
          </p:cNvPr>
          <p:cNvSpPr>
            <a:spLocks noGrp="1"/>
          </p:cNvSpPr>
          <p:nvPr/>
        </p:nvSpPr>
        <p:spPr>
          <a:xfrm>
            <a:off x="8172450" y="3714750"/>
            <a:ext cx="3333750" cy="952500"/>
          </a:xfrm>
          <a:prstGeom prst="rect">
            <a:avLst/>
          </a:prstGeom>
          <a:noFill/>
          <a:ln w="0">
            <a:noFill/>
          </a:ln>
        </p:spPr>
        <p:txBody>
          <a:bodyPr>
            <a:noAutofit/>
          </a:bodyPr>
          <a:lstStyle>
            <a:defPPr algn="l">
              <a:defRPr sz="2400" b="1">
                <a:solidFill>
                  <a:srgbClr val="102D35"/>
                </a:solidFill>
                <a:latin typeface="Helvetica Neue"/>
                <a:ea typeface="Helvetica Neue"/>
                <a:cs typeface="Helvetica Neue"/>
              </a:defRPr>
            </a:defPPr>
          </a:lstStyle>
          <a:p>
            <a:pPr marL="330200" indent="-254000" algn="l">
              <a:spcAft>
                <a:spcPts val="0"/>
              </a:spcAft>
              <a:buFont typeface="Helvetica Neue"/>
              <a:buChar char="–"/>
              <a:defRPr sz="2400" b="1">
                <a:solidFill>
                  <a:srgbClr val="102D35"/>
                </a:solidFill>
                <a:latin typeface="Helvetica Neue"/>
                <a:ea typeface="Helvetica Neue"/>
                <a:cs typeface="Helvetica Neue"/>
              </a:defRPr>
            </a:pPr>
            <a:r>
              <a:rPr sz="2400" b="1">
                <a:solidFill>
                  <a:srgbClr val="102D35"/>
                </a:solidFill>
                <a:latin typeface="Helvetica Neue"/>
                <a:ea typeface="Helvetica Neue"/>
                <a:cs typeface="Helvetica Neue"/>
              </a:rPr>
              <a:t>28 / 60 Siege gegen Solution_92</a:t>
            </a:r>
          </a:p>
        </p:txBody>
      </p:sp>
      <p:sp>
        <p:nvSpPr>
          <p:cNvPr id="8" name="Je Gegner: 30 Karten × 2 Seiten · bereits meh">
            <a:extLst>
              <a:ext uri="{FF2B5EF4-FFF2-40B4-BE49-F238E27FC236}">
                <ns2:creationId id="{F753D58F-8255-4ACC-B617-783246C3F5F7}"/>
              </a:ext>
            </a:extLst>
          </p:cNvPr>
          <p:cNvSpPr>
            <a:spLocks noGrp="1"/>
          </p:cNvSpPr>
          <p:nvPr/>
        </p:nvSpPr>
        <p:spPr>
          <a:xfrm>
            <a:off x="609600" y="5829300"/>
            <a:ext cx="10972800" cy="476250"/>
          </a:xfrm>
          <a:prstGeom prst="rect">
            <a:avLst/>
          </a:prstGeom>
          <a:noFill/>
          <a:ln w="0">
            <a:noFill/>
          </a:ln>
        </p:spPr>
        <p:txBody>
          <a:bodyPr>
            <a:noAutofit/>
          </a:bodyPr>
          <a:lstStyle>
            <a:defPPr algn="l">
              <a:defRPr sz="1800" b="0">
                <a:solidFill>
                  <a:srgbClr val="526B70"/>
                </a:solidFill>
                <a:latin typeface="Helvetica Neue"/>
                <a:ea typeface="Helvetica Neue"/>
                <a:cs typeface="Helvetica Neue"/>
              </a:defRPr>
            </a:defPPr>
          </a:lstStyle>
          <a:p>
            <a:pPr marL="0" indent="0" algn="l">
              <a:spcBef>
                <a:spcPts val="0"/>
              </a:spcBef>
              <a:spcAft>
                <a:spcPts val="0"/>
              </a:spcAft>
              <a:buNone/>
              <a:defRPr sz="1800" b="0">
                <a:solidFill>
                  <a:srgbClr val="526B70"/>
                </a:solidFill>
                <a:latin typeface="Helvetica Neue"/>
                <a:ea typeface="Helvetica Neue"/>
                <a:cs typeface="Helvetica Neue"/>
              </a:defRPr>
            </a:pPr>
            <a:r>
              <a:rPr sz="1800">
                <a:solidFill>
                  <a:srgbClr val="526B70"/>
                </a:solidFill>
                <a:latin typeface="Helvetica Neue"/>
                <a:ea typeface="Helvetica Neue"/>
                <a:cs typeface="Helvetica Neue"/>
              </a:rPr>
              <a:t>Je Gegner: 30 Karten × 2 Seiten · bereits mehrfach genutzter Benchmark</a:t>
            </a:r>
          </a:p>
        </p:txBody>
      </p:sp>
    </p:spTree>
    <p:extLst>
      <p:ext uri="{BB962C8B-B14F-4D97-AF65-F5344CB8AC3E}">
        <ns5:creationId val="1247860106"/>
      </p:ext>
    </p:extLst>
  </p:cSld>
</p:sld>
</file>

<file path=ppt/slides/slide1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7F7F0"/>
        </a:solidFill>
      </p:bgPr>
    </p:bg>
    <p:spTree>
      <p:nvGrpSpPr>
        <p:cNvPr id="1" name=""/>
        <p:cNvGrpSpPr/>
        <p:nvPr/>
      </p:nvGrpSpPr>
      <p:grpSpPr>
        <a:xfrm/>
      </p:grpSpPr>
      <p:sp>
        <p:nvSpPr>
          <p:cNvPr id="12" name="SHERLOCK / REVIEW 01">
            <a:extLst>
              <a:ext uri="{FF2B5EF4-FFF2-40B4-BE49-F238E27FC236}">
                <ns2:creationId id="{D649A959-7497-4988-9EFE-00D58627A301}"/>
              </a:ext>
            </a:extLst>
          </p:cNvPr>
          <p:cNvSpPr>
            <a:spLocks noGrp="1"/>
          </p:cNvSpPr>
          <p:nvPr/>
        </p:nvSpPr>
        <p:spPr>
          <a:xfrm>
            <a:off x="609600" y="266700"/>
            <a:ext cx="8572500" cy="304800"/>
          </a:xfrm>
          <a:prstGeom prst="rect">
            <a:avLst/>
          </a:prstGeom>
          <a:noFill/>
          <a:ln w="0">
            <a:noFill/>
          </a:ln>
        </p:spPr>
        <p:txBody>
          <a:bodyPr/>
          <a:lstStyle>
            <a:defPPr>
              <a:defRPr sz="1350" b="1">
                <a:solidFill>
                  <a:srgbClr val="007D7B"/>
                </a:solidFill>
                <a:latin typeface="Helvetica Neue"/>
                <a:ea typeface="Helvetica Neue"/>
                <a:cs typeface="Helvetica Neue"/>
              </a:defRPr>
            </a:defPPr>
          </a:lstStyle>
          <a:p>
            <a:pPr>
              <a:defRPr sz="1350" b="1">
                <a:solidFill>
                  <a:srgbClr val="007D7B"/>
                </a:solidFill>
                <a:latin typeface="Helvetica Neue"/>
                <a:ea typeface="Helvetica Neue"/>
                <a:cs typeface="Helvetica Neue"/>
              </a:defRPr>
            </a:pPr>
            <a:r>
              <a:rPr sz="1350" b="1">
                <a:solidFill>
                  <a:srgbClr val="007D7B"/>
                </a:solidFill>
                <a:latin typeface="Helvetica Neue"/>
                <a:ea typeface="Helvetica Neue"/>
                <a:cs typeface="Helvetica Neue"/>
              </a:rPr>
              <a:t>SHERLOCK / REVIEW 01</a:t>
            </a:r>
          </a:p>
        </p:txBody>
      </p:sp>
      <p:sp>
        <p:nvSpPr>
          <p:cNvPr id="2" name="Ein Spiel: erst verteilen, dann Punktefelder ">
            <a:extLst>
              <a:ext uri="{FF2B5EF4-FFF2-40B4-BE49-F238E27FC236}">
                <ns2:creationId id="{57BEE2ED-FC67-4D2F-B7FA-21C62FDCD0DD}"/>
              </a:ext>
            </a:extLst>
          </p:cNvPr>
          <p:cNvSpPr>
            <a:spLocks noGrp="1"/>
          </p:cNvSpPr>
          <p:nvPr/>
        </p:nvSpPr>
        <p:spPr>
          <a:xfrm>
            <a:off x="609600" y="781050"/>
            <a:ext cx="10972800" cy="1028700"/>
          </a:xfrm>
          <a:prstGeom prst="rect">
            <a:avLst/>
          </a:prstGeom>
          <a:noFill/>
          <a:ln w="0">
            <a:noFill/>
          </a:ln>
        </p:spPr>
        <p:txBody>
          <a:bodyPr/>
          <a:lstStyle>
            <a:defPPr>
              <a:defRPr sz="3300" b="1">
                <a:solidFill>
                  <a:srgbClr val="102D35"/>
                </a:solidFill>
                <a:latin typeface="Helvetica Neue"/>
                <a:ea typeface="Helvetica Neue"/>
                <a:cs typeface="Helvetica Neue"/>
              </a:defRPr>
            </a:defPPr>
          </a:lstStyle>
          <a:p>
            <a:pPr>
              <a:buNone/>
              <a:defRPr sz="3300" b="1">
                <a:solidFill>
                  <a:srgbClr val="102D35"/>
                </a:solidFill>
                <a:latin typeface="Helvetica Neue"/>
                <a:ea typeface="Helvetica Neue"/>
                <a:cs typeface="Helvetica Neue"/>
              </a:defRPr>
            </a:pPr>
            <a:r>
              <a:rPr sz="3300" b="1">
                <a:solidFill>
                  <a:srgbClr val="102D35"/>
                </a:solidFill>
                <a:latin typeface="Helvetica Neue"/>
                <a:ea typeface="Helvetica Neue"/>
                <a:cs typeface="Helvetica Neue"/>
              </a:rPr>
              <a:t>Spielbeispiel</a:t>
            </a:r>
          </a:p>
        </p:txBody>
      </p:sp>
      <p:sp>
        <p:nvSpPr>
          <p:cNvPr id="3" name="Team 15 · Mahmoud El-Hassan &amp; Moayed Shawesh">
            <a:extLst>
              <a:ext uri="{FF2B5EF4-FFF2-40B4-BE49-F238E27FC236}">
                <ns2:creationId id="{8A6E3A1D-ACC3-4871-9E94-ADE9E4C15B2C}"/>
              </a:ext>
            </a:extLst>
          </p:cNvPr>
          <p:cNvSpPr>
            <a:spLocks noGrp="1"/>
          </p:cNvSpPr>
          <p:nvPr/>
        </p:nvSpPr>
        <p:spPr>
          <a:xfrm>
            <a:off x="609600" y="6419850"/>
            <a:ext cx="9906000" cy="266700"/>
          </a:xfrm>
          <a:prstGeom prst="rect">
            <a:avLst/>
          </a:prstGeom>
          <a:noFill/>
          <a:ln w="0">
            <a:noFill/>
          </a:ln>
        </p:spPr>
        <p:txBody>
          <a:bodyPr/>
          <a:lstStyle>
            <a:defPPr>
              <a:defRPr sz="1200" b="0">
                <a:solidFill>
                  <a:srgbClr val="526B70"/>
                </a:solidFill>
                <a:latin typeface="Helvetica Neue"/>
                <a:ea typeface="Helvetica Neue"/>
                <a:cs typeface="Helvetica Neue"/>
              </a:defRPr>
            </a:defPPr>
          </a:lstStyle>
          <a:p>
            <a:pPr>
              <a:defRPr sz="1200" b="0">
                <a:solidFill>
                  <a:srgbClr val="526B70"/>
                </a:solidFill>
                <a:latin typeface="Helvetica Neue"/>
                <a:ea typeface="Helvetica Neue"/>
                <a:cs typeface="Helvetica Neue"/>
              </a:defRPr>
            </a:pPr>
            <a:r>
              <a:rPr sz="1200" b="0">
                <a:solidFill>
                  <a:srgbClr val="526B70"/>
                </a:solidFill>
                <a:latin typeface="Helvetica Neue"/>
                <a:ea typeface="Helvetica Neue"/>
                <a:cs typeface="Helvetica Neue"/>
              </a:rPr>
              <a:t>Team 15 · Mahmoud El-Hassan &amp; Moayed Shawesh</a:t>
            </a:r>
          </a:p>
        </p:txBody>
      </p:sp>
      <p:sp>
        <p:nvSpPr>
          <p:cNvPr id="4" name="09">
            <a:extLst>
              <a:ext uri="{FF2B5EF4-FFF2-40B4-BE49-F238E27FC236}">
                <ns2:creationId id="{21F839A6-5B12-48CE-9DBD-C3A10D4AA9A9}"/>
              </a:ext>
            </a:extLst>
          </p:cNvPr>
          <p:cNvSpPr>
            <a:spLocks noGrp="1"/>
          </p:cNvSpPr>
          <p:nvPr/>
        </p:nvSpPr>
        <p:spPr>
          <a:xfrm>
            <a:off x="11049000" y="6419850"/>
            <a:ext cx="533400" cy="266700"/>
          </a:xfrm>
          <a:prstGeom prst="rect">
            <a:avLst/>
          </a:prstGeom>
          <a:noFill/>
          <a:ln w="0">
            <a:noFill/>
          </a:ln>
        </p:spPr>
        <p:txBody>
          <a:bodyPr/>
          <a:lstStyle>
            <a:defPPr>
              <a:defRPr sz="1200" b="0">
                <a:solidFill>
                  <a:srgbClr val="526B70"/>
                </a:solidFill>
                <a:latin typeface="Helvetica Neue"/>
                <a:ea typeface="Helvetica Neue"/>
                <a:cs typeface="Helvetica Neue"/>
              </a:defRPr>
            </a:defPPr>
          </a:lstStyle>
          <a:p>
            <a:pPr>
              <a:defRPr sz="1200" b="0">
                <a:solidFill>
                  <a:srgbClr val="526B70"/>
                </a:solidFill>
                <a:latin typeface="Helvetica Neue"/>
                <a:ea typeface="Helvetica Neue"/>
                <a:cs typeface="Helvetica Neue"/>
              </a:defRPr>
            </a:pPr>
            <a:r>
              <a:rPr sz="1200" b="0">
                <a:solidFill>
                  <a:srgbClr val="526B70"/>
                </a:solidFill>
                <a:latin typeface="Helvetica Neue"/>
                <a:ea typeface="Helvetica Neue"/>
                <a:cs typeface="Helvetica Neue"/>
              </a:rPr>
              <a:t>10</a:t>
            </a:r>
          </a:p>
        </p:txBody>
      </p:sp>
      <p:pic>
        <p:nvPicPr>
          <p:cNvPr id="5" name="">
            <a:extLst>
              <a:ext uri="{FF2B5EF4-FFF2-40B4-BE49-F238E27FC236}">
                <ns2:creationId id="{5B4A15C1-179F-4AF5-A36A-DE63BEBC5540}"/>
              </a:ext>
            </a:extLst>
          </p:cNvPr>
          <p:cNvPicPr>
            <a:picLocks noChangeAspect="1"/>
          </p:cNvPicPr>
          <p:nvPr/>
        </p:nvPicPr>
        <p:blipFill>
          <a:blip r:embed="Re2337e6fc3c2434d"/>
          <a:stretch/>
        </p:blipFill>
        <p:spPr>
          <a:xfrm>
            <a:off x="609600" y="1924050"/>
            <a:ext cx="3733800" cy="3733800"/>
          </a:xfrm>
          <a:prstGeom prst="rect">
            <a:avLst/>
          </a:prstGeom>
        </p:spPr>
      </p:pic>
      <p:pic>
        <p:nvPicPr>
          <p:cNvPr id="6" name="">
            <a:extLst>
              <a:ext uri="{FF2B5EF4-FFF2-40B4-BE49-F238E27FC236}">
                <ns2:creationId id="{EE23A9C9-EE08-4115-868A-36B887E13C00}"/>
              </a:ext>
            </a:extLst>
          </p:cNvPr>
          <p:cNvPicPr>
            <a:picLocks noChangeAspect="1"/>
          </p:cNvPicPr>
          <p:nvPr/>
        </p:nvPicPr>
        <p:blipFill>
          <a:blip r:embed="R4c0eb88b0e674139"/>
          <a:stretch/>
        </p:blipFill>
        <p:spPr>
          <a:xfrm>
            <a:off x="4543425" y="1924050"/>
            <a:ext cx="3733800" cy="3733800"/>
          </a:xfrm>
          <a:prstGeom prst="rect">
            <a:avLst/>
          </a:prstGeom>
        </p:spPr>
      </p:pic>
      <p:sp>
        <p:nvSpPr>
          <p:cNvPr id="7" name="Schritt 23 · 0 : 0">
            <a:extLst>
              <a:ext uri="{FF2B5EF4-FFF2-40B4-BE49-F238E27FC236}">
                <ns2:creationId id="{BE563A49-DAB7-4FAC-BC14-4BBE0559632A}"/>
              </a:ext>
            </a:extLst>
          </p:cNvPr>
          <p:cNvSpPr>
            <a:spLocks noGrp="1"/>
          </p:cNvSpPr>
          <p:nvPr/>
        </p:nvSpPr>
        <p:spPr>
          <a:xfrm>
            <a:off x="609600" y="5800725"/>
            <a:ext cx="3810000" cy="409575"/>
          </a:xfrm>
          <a:prstGeom prst="rect">
            <a:avLst/>
          </a:prstGeom>
          <a:noFill/>
          <a:ln w="0">
            <a:noFill/>
          </a:ln>
        </p:spPr>
        <p:txBody>
          <a:bodyPr/>
          <a:lstStyle>
            <a:defPPr>
              <a:defRPr sz="1950" b="1">
                <a:solidFill>
                  <a:srgbClr val="102D35"/>
                </a:solidFill>
                <a:latin typeface="Helvetica Neue"/>
                <a:ea typeface="Helvetica Neue"/>
                <a:cs typeface="Helvetica Neue"/>
              </a:defRPr>
            </a:defPPr>
          </a:lstStyle>
          <a:p>
            <a:pPr>
              <a:defRPr sz="1950" b="1">
                <a:solidFill>
                  <a:srgbClr val="102D35"/>
                </a:solidFill>
                <a:latin typeface="Helvetica Neue"/>
                <a:ea typeface="Helvetica Neue"/>
                <a:cs typeface="Helvetica Neue"/>
              </a:defRPr>
            </a:pPr>
            <a:r>
              <a:rPr sz="1950" b="1">
                <a:solidFill>
                  <a:srgbClr val="102D35"/>
                </a:solidFill>
                <a:latin typeface="Helvetica Neue"/>
                <a:ea typeface="Helvetica Neue"/>
                <a:cs typeface="Helvetica Neue"/>
              </a:rPr>
              <a:t>Schritt 23 · 0 : 0</a:t>
            </a:r>
          </a:p>
        </p:txBody>
      </p:sp>
      <p:sp>
        <p:nvSpPr>
          <p:cNvPr id="8" name="Schritt 90 · 374 : 11">
            <a:extLst>
              <a:ext uri="{FF2B5EF4-FFF2-40B4-BE49-F238E27FC236}">
                <ns2:creationId id="{15EA00B8-A570-4921-B800-06AC2AB009B3}"/>
              </a:ext>
            </a:extLst>
          </p:cNvPr>
          <p:cNvSpPr>
            <a:spLocks noGrp="1"/>
          </p:cNvSpPr>
          <p:nvPr/>
        </p:nvSpPr>
        <p:spPr>
          <a:xfrm>
            <a:off x="4543425" y="5800725"/>
            <a:ext cx="3810000" cy="409575"/>
          </a:xfrm>
          <a:prstGeom prst="rect">
            <a:avLst/>
          </a:prstGeom>
          <a:noFill/>
          <a:ln w="0">
            <a:noFill/>
          </a:ln>
        </p:spPr>
        <p:txBody>
          <a:bodyPr/>
          <a:lstStyle>
            <a:defPPr>
              <a:defRPr sz="1950" b="1">
                <a:solidFill>
                  <a:srgbClr val="102D35"/>
                </a:solidFill>
                <a:latin typeface="Helvetica Neue"/>
                <a:ea typeface="Helvetica Neue"/>
                <a:cs typeface="Helvetica Neue"/>
              </a:defRPr>
            </a:defPPr>
          </a:lstStyle>
          <a:p>
            <a:pPr>
              <a:defRPr sz="1950" b="1">
                <a:solidFill>
                  <a:srgbClr val="102D35"/>
                </a:solidFill>
                <a:latin typeface="Helvetica Neue"/>
                <a:ea typeface="Helvetica Neue"/>
                <a:cs typeface="Helvetica Neue"/>
              </a:defRPr>
            </a:pPr>
            <a:r>
              <a:rPr sz="1950" b="1">
                <a:solidFill>
                  <a:srgbClr val="102D35"/>
                </a:solidFill>
                <a:latin typeface="Helvetica Neue"/>
                <a:ea typeface="Helvetica Neue"/>
                <a:cs typeface="Helvetica Neue"/>
              </a:rPr>
              <a:t>Schritt 90 · 374 : 11</a:t>
            </a:r>
          </a:p>
        </p:txBody>
      </p:sp>
      <p:sp>
        <p:nvSpPr>
          <p:cNvPr id="9" name="Sherlock: blau&#10;Gegner: rot">
            <a:extLst>
              <a:ext uri="{FF2B5EF4-FFF2-40B4-BE49-F238E27FC236}">
                <ns2:creationId id="{A4849F7E-04F9-4CDB-9887-2CE754AAE9CA}"/>
              </a:ext>
            </a:extLst>
          </p:cNvPr>
          <p:cNvSpPr>
            <a:spLocks noGrp="1"/>
          </p:cNvSpPr>
          <p:nvPr/>
        </p:nvSpPr>
        <p:spPr>
          <a:xfrm>
            <a:off x="8724900" y="2057400"/>
            <a:ext cx="2857500" cy="952500"/>
          </a:xfrm>
          <a:prstGeom prst="rect">
            <a:avLst/>
          </a:prstGeom>
          <a:noFill/>
          <a:ln w="0">
            <a:noFill/>
          </a:ln>
        </p:spPr>
        <p:txBody>
          <a:bodyPr>
            <a:noAutofit/>
          </a:bodyPr>
          <a:lstStyle>
            <a:defPPr algn="l">
              <a:defRPr sz="2025" b="1">
                <a:solidFill>
                  <a:srgbClr val="007D7B"/>
                </a:solidFill>
                <a:latin typeface="Helvetica Neue"/>
                <a:ea typeface="Helvetica Neue"/>
                <a:cs typeface="Helvetica Neue"/>
              </a:defRPr>
            </a:defPPr>
          </a:lstStyle>
          <a:p>
            <a:pPr marL="330200" indent="-254000" algn="l">
              <a:spcAft>
                <a:spcPts val="800"/>
              </a:spcAft>
              <a:buFont typeface="Helvetica Neue"/>
              <a:buChar char="–"/>
              <a:defRPr sz="2025" b="1">
                <a:solidFill>
                  <a:srgbClr val="007D7B"/>
                </a:solidFill>
                <a:latin typeface="Helvetica Neue"/>
                <a:ea typeface="Helvetica Neue"/>
                <a:cs typeface="Helvetica Neue"/>
              </a:defRPr>
            </a:pPr>
            <a:r>
              <a:rPr sz="2025" b="1">
                <a:solidFill>
                  <a:srgbClr val="007D7B"/>
                </a:solidFill>
                <a:latin typeface="Helvetica Neue"/>
                <a:ea typeface="Helvetica Neue"/>
                <a:cs typeface="Helvetica Neue"/>
              </a:rPr>
              <a:t>Sherlock: blau</a:t>
            </a:r>
          </a:p>
          <a:p>
            <a:pPr marL="330200" indent="-254000" algn="l">
              <a:spcAft>
                <a:spcPts val="800"/>
              </a:spcAft>
              <a:buFont typeface="Helvetica Neue"/>
              <a:buChar char="–"/>
              <a:defRPr sz="2025" b="1">
                <a:solidFill>
                  <a:srgbClr val="007D7B"/>
                </a:solidFill>
                <a:latin typeface="Helvetica Neue"/>
                <a:ea typeface="Helvetica Neue"/>
                <a:cs typeface="Helvetica Neue"/>
              </a:defRPr>
            </a:pPr>
            <a:r>
              <a:rPr sz="2025" b="1">
                <a:solidFill>
                  <a:srgbClr val="007D7B"/>
                </a:solidFill>
                <a:latin typeface="Helvetica Neue"/>
                <a:ea typeface="Helvetica Neue"/>
                <a:cs typeface="Helvetica Neue"/>
              </a:rPr>
              <a:t>Gegner: rot</a:t>
            </a:r>
          </a:p>
        </p:txBody>
      </p:sp>
      <p:sp>
        <p:nvSpPr>
          <p:cNvPr id="10" name="Blaue Einheiten&#10;besetzen Punktefelder.&#10;&#10;Stehe">
            <a:extLst>
              <a:ext uri="{FF2B5EF4-FFF2-40B4-BE49-F238E27FC236}">
                <ns2:creationId id="{F57BBD97-C9BE-4063-922D-45E9DF7DDCED}"/>
              </a:ext>
            </a:extLst>
          </p:cNvPr>
          <p:cNvSpPr>
            <a:spLocks noGrp="1"/>
          </p:cNvSpPr>
          <p:nvPr/>
        </p:nvSpPr>
        <p:spPr>
          <a:xfrm>
            <a:off x="8724900" y="3343275"/>
            <a:ext cx="2857500" cy="2238375"/>
          </a:xfrm>
          <a:prstGeom prst="rect">
            <a:avLst/>
          </a:prstGeom>
          <a:noFill/>
          <a:ln w="0">
            <a:noFill/>
          </a:ln>
        </p:spPr>
        <p:txBody>
          <a:bodyPr>
            <a:noAutofit/>
          </a:bodyPr>
          <a:lstStyle>
            <a:defPPr algn="l">
              <a:defRPr sz="2025" b="0">
                <a:solidFill>
                  <a:srgbClr val="102D35"/>
                </a:solidFill>
                <a:latin typeface="Helvetica Neue"/>
                <a:ea typeface="Helvetica Neue"/>
                <a:cs typeface="Helvetica Neue"/>
              </a:defRPr>
            </a:defPPr>
          </a:lstStyle>
          <a:p>
            <a:pPr marL="330200" indent="-254000" algn="l">
              <a:spcAft>
                <a:spcPts val="1200"/>
              </a:spcAft>
              <a:buFont typeface="Helvetica Neue"/>
              <a:buChar char="–"/>
              <a:defRPr sz="2025" b="0">
                <a:solidFill>
                  <a:srgbClr val="102D35"/>
                </a:solidFill>
                <a:latin typeface="Helvetica Neue"/>
                <a:ea typeface="Helvetica Neue"/>
                <a:cs typeface="Helvetica Neue"/>
              </a:defRPr>
            </a:pPr>
            <a:r>
              <a:rPr sz="2025">
                <a:solidFill>
                  <a:srgbClr val="102D35"/>
                </a:solidFill>
                <a:latin typeface="Helvetica Neue"/>
                <a:ea typeface="Helvetica Neue"/>
                <a:cs typeface="Helvetica Neue"/>
              </a:rPr>
              <a:t>Blaue Einheiten besetzen Punktefelder</a:t>
            </a:r>
          </a:p>
          <a:p>
            <a:pPr marL="330200" indent="-254000" algn="l">
              <a:spcAft>
                <a:spcPts val="1200"/>
              </a:spcAft>
              <a:buFont typeface="Helvetica Neue"/>
              <a:buChar char="–"/>
              <a:defRPr sz="2025" b="0">
                <a:solidFill>
                  <a:srgbClr val="102D35"/>
                </a:solidFill>
                <a:latin typeface="Helvetica Neue"/>
                <a:ea typeface="Helvetica Neue"/>
                <a:cs typeface="Helvetica Neue"/>
              </a:defRPr>
            </a:pPr>
            <a:r>
              <a:rPr sz="2025">
                <a:solidFill>
                  <a:srgbClr val="102D35"/>
                </a:solidFill>
                <a:latin typeface="Helvetica Neue"/>
                <a:ea typeface="Helvetica Neue"/>
                <a:cs typeface="Helvetica Neue"/>
              </a:rPr>
              <a:t>Stehenbleiben kann sinnvoll sein</a:t>
            </a:r>
          </a:p>
        </p:txBody>
      </p:sp>
      <p:sp>
        <p:nvSpPr>
          <p:cNvPr id="11" name="Seed 900011 · Match 1&#10;Vollständige Replay-Ans">
            <a:extLst>
              <a:ext uri="{FF2B5EF4-FFF2-40B4-BE49-F238E27FC236}">
                <ns2:creationId id="{0FC615EC-C06C-4482-9275-6839DD877F5F}"/>
              </a:ext>
            </a:extLst>
          </p:cNvPr>
          <p:cNvSpPr>
            <a:spLocks noGrp="1"/>
          </p:cNvSpPr>
          <p:nvPr/>
        </p:nvSpPr>
        <p:spPr>
          <a:xfrm>
            <a:off x="8724900" y="5619750"/>
            <a:ext cx="2857500" cy="619125"/>
          </a:xfrm>
          <a:prstGeom prst="rect">
            <a:avLst/>
          </a:prstGeom>
          <a:noFill/>
          <a:ln w="0">
            <a:noFill/>
          </a:ln>
        </p:spPr>
        <p:txBody>
          <a:bodyPr/>
          <a:lstStyle>
            <a:defPPr>
              <a:defRPr sz="1500" b="0">
                <a:solidFill>
                  <a:srgbClr val="526B70"/>
                </a:solidFill>
                <a:latin typeface="Helvetica Neue"/>
                <a:ea typeface="Helvetica Neue"/>
                <a:cs typeface="Helvetica Neue"/>
              </a:defRPr>
            </a:defPPr>
          </a:lstStyle>
          <a:p>
            <a:pPr>
              <a:defRPr sz="1500" b="0">
                <a:solidFill>
                  <a:srgbClr val="526B70"/>
                </a:solidFill>
                <a:latin typeface="Helvetica Neue"/>
                <a:ea typeface="Helvetica Neue"/>
                <a:cs typeface="Helvetica Neue"/>
              </a:defRPr>
            </a:pPr>
            <a:r>
              <a:rPr sz="1500" b="0">
                <a:solidFill>
                  <a:srgbClr val="526B70"/>
                </a:solidFill>
                <a:latin typeface="Helvetica Neue"/>
                <a:ea typeface="Helvetica Neue"/>
                <a:cs typeface="Helvetica Neue"/>
              </a:rPr>
              <a:t>Seed 900011 · Match 1</a:t>
            </a:r>
          </a:p>
          <a:p>
            <a:pPr>
              <a:defRPr sz="1500" b="0">
                <a:solidFill>
                  <a:srgbClr val="526B70"/>
                </a:solidFill>
                <a:latin typeface="Helvetica Neue"/>
                <a:ea typeface="Helvetica Neue"/>
                <a:cs typeface="Helvetica Neue"/>
              </a:defRPr>
            </a:pPr>
            <a:r>
              <a:rPr sz="1500" b="0">
                <a:solidFill>
                  <a:srgbClr val="526B70"/>
                </a:solidFill>
                <a:latin typeface="Helvetica Neue"/>
                <a:ea typeface="Helvetica Neue"/>
                <a:cs typeface="Helvetica Neue"/>
              </a:rPr>
              <a:t>Vollständige Replay-Ansicht</a:t>
            </a:r>
          </a:p>
        </p:txBody>
      </p:sp>
    </p:spTree>
    <p:extLst>
      <p:ext uri="{BB962C8B-B14F-4D97-AF65-F5344CB8AC3E}">
        <ns4:creationId val="1042096664"/>
      </p:ext>
    </p:extLst>
  </p:cSld>
</p:sld>
</file>

<file path=ppt/slides/slide1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7F7F0"/>
        </a:solidFill>
      </p:bgPr>
    </p:bg>
    <p:spTree>
      <p:nvGrpSpPr>
        <p:cNvPr id="1" name=""/>
        <p:cNvGrpSpPr/>
        <p:nvPr/>
      </p:nvGrpSpPr>
      <p:grpSpPr>
        <a:xfrm/>
      </p:grpSpPr>
      <p:sp>
        <p:nvSpPr>
          <p:cNvPr id="14" name="SHERLOCK / REVIEW 01">
            <a:extLst>
              <a:ext uri="{FF2B5EF4-FFF2-40B4-BE49-F238E27FC236}">
                <ns2:creationId id="{768977A4-33BF-46BE-8919-C4D4AA12D4DD}"/>
              </a:ext>
            </a:extLst>
          </p:cNvPr>
          <p:cNvSpPr>
            <a:spLocks noGrp="1"/>
          </p:cNvSpPr>
          <p:nvPr/>
        </p:nvSpPr>
        <p:spPr>
          <a:xfrm>
            <a:off x="609600" y="266700"/>
            <a:ext cx="8572500" cy="304800"/>
          </a:xfrm>
          <a:prstGeom prst="rect">
            <a:avLst/>
          </a:prstGeom>
          <a:noFill/>
          <a:ln w="0">
            <a:noFill/>
          </a:ln>
        </p:spPr>
        <p:txBody>
          <a:bodyPr/>
          <a:lstStyle>
            <a:defPPr>
              <a:defRPr sz="1350" b="1">
                <a:solidFill>
                  <a:srgbClr val="007D7B"/>
                </a:solidFill>
                <a:latin typeface="Helvetica Neue"/>
                <a:ea typeface="Helvetica Neue"/>
                <a:cs typeface="Helvetica Neue"/>
              </a:defRPr>
            </a:defPPr>
          </a:lstStyle>
          <a:p>
            <a:pPr>
              <a:defRPr sz="1350" b="1">
                <a:solidFill>
                  <a:srgbClr val="007D7B"/>
                </a:solidFill>
                <a:latin typeface="Helvetica Neue"/>
                <a:ea typeface="Helvetica Neue"/>
                <a:cs typeface="Helvetica Neue"/>
              </a:defRPr>
            </a:pPr>
            <a:r>
              <a:rPr sz="1350" b="1">
                <a:solidFill>
                  <a:srgbClr val="007D7B"/>
                </a:solidFill>
                <a:latin typeface="Helvetica Neue"/>
                <a:ea typeface="Helvetica Neue"/>
                <a:cs typeface="Helvetica Neue"/>
              </a:rPr>
              <a:t>SHERLOCK / REVIEW 01</a:t>
            </a:r>
          </a:p>
        </p:txBody>
      </p:sp>
      <p:sp>
        <p:nvSpPr>
          <p:cNvPr id="2" name="Erkenntnisse und die nächsten Schritte">
            <a:extLst>
              <a:ext uri="{FF2B5EF4-FFF2-40B4-BE49-F238E27FC236}">
                <ns2:creationId id="{6ED39887-151D-4BD5-9855-DD8857DFFD8E}"/>
              </a:ext>
            </a:extLst>
          </p:cNvPr>
          <p:cNvSpPr>
            <a:spLocks noGrp="1"/>
          </p:cNvSpPr>
          <p:nvPr/>
        </p:nvSpPr>
        <p:spPr>
          <a:xfrm>
            <a:off x="609600" y="781050"/>
            <a:ext cx="10972800" cy="1028700"/>
          </a:xfrm>
          <a:prstGeom prst="rect">
            <a:avLst/>
          </a:prstGeom>
          <a:noFill/>
          <a:ln w="0">
            <a:noFill/>
          </a:ln>
        </p:spPr>
        <p:txBody>
          <a:bodyPr/>
          <a:lstStyle>
            <a:defPPr>
              <a:defRPr sz="3300" b="1">
                <a:solidFill>
                  <a:srgbClr val="102D35"/>
                </a:solidFill>
                <a:latin typeface="Helvetica Neue"/>
                <a:ea typeface="Helvetica Neue"/>
                <a:cs typeface="Helvetica Neue"/>
              </a:defRPr>
            </a:defPPr>
          </a:lstStyle>
          <a:p>
            <a:pPr>
              <a:buNone/>
              <a:defRPr sz="3300" b="1">
                <a:solidFill>
                  <a:srgbClr val="102D35"/>
                </a:solidFill>
                <a:latin typeface="Helvetica Neue"/>
                <a:ea typeface="Helvetica Neue"/>
                <a:cs typeface="Helvetica Neue"/>
              </a:defRPr>
            </a:pPr>
            <a:r>
              <a:rPr sz="3300" b="1">
                <a:solidFill>
                  <a:srgbClr val="102D35"/>
                </a:solidFill>
                <a:latin typeface="Helvetica Neue"/>
                <a:ea typeface="Helvetica Neue"/>
                <a:cs typeface="Helvetica Neue"/>
              </a:rPr>
              <a:t>Erkenntnisse und Ausblick</a:t>
            </a:r>
          </a:p>
        </p:txBody>
      </p:sp>
      <p:sp>
        <p:nvSpPr>
          <p:cNvPr id="3" name="Team 15 · Mahmoud El-Hassan &amp; Moayed Shawesh">
            <a:extLst>
              <a:ext uri="{FF2B5EF4-FFF2-40B4-BE49-F238E27FC236}">
                <ns2:creationId id="{66E77D38-EF91-49EA-AB4D-5AA4B83CEB28}"/>
              </a:ext>
            </a:extLst>
          </p:cNvPr>
          <p:cNvSpPr>
            <a:spLocks noGrp="1"/>
          </p:cNvSpPr>
          <p:nvPr/>
        </p:nvSpPr>
        <p:spPr>
          <a:xfrm>
            <a:off x="609600" y="6419850"/>
            <a:ext cx="9906000" cy="266700"/>
          </a:xfrm>
          <a:prstGeom prst="rect">
            <a:avLst/>
          </a:prstGeom>
          <a:noFill/>
          <a:ln w="0">
            <a:noFill/>
          </a:ln>
        </p:spPr>
        <p:txBody>
          <a:bodyPr/>
          <a:lstStyle>
            <a:defPPr>
              <a:defRPr sz="1200" b="0">
                <a:solidFill>
                  <a:srgbClr val="526B70"/>
                </a:solidFill>
                <a:latin typeface="Helvetica Neue"/>
                <a:ea typeface="Helvetica Neue"/>
                <a:cs typeface="Helvetica Neue"/>
              </a:defRPr>
            </a:defPPr>
          </a:lstStyle>
          <a:p>
            <a:pPr>
              <a:defRPr sz="1200" b="0">
                <a:solidFill>
                  <a:srgbClr val="526B70"/>
                </a:solidFill>
                <a:latin typeface="Helvetica Neue"/>
                <a:ea typeface="Helvetica Neue"/>
                <a:cs typeface="Helvetica Neue"/>
              </a:defRPr>
            </a:pPr>
            <a:r>
              <a:rPr sz="1200" b="0">
                <a:solidFill>
                  <a:srgbClr val="526B70"/>
                </a:solidFill>
                <a:latin typeface="Helvetica Neue"/>
                <a:ea typeface="Helvetica Neue"/>
                <a:cs typeface="Helvetica Neue"/>
              </a:rPr>
              <a:t>Team 15 · Mahmoud El-Hassan &amp; Moayed Shawesh</a:t>
            </a:r>
          </a:p>
        </p:txBody>
      </p:sp>
      <p:sp>
        <p:nvSpPr>
          <p:cNvPr id="4" name="10">
            <a:extLst>
              <a:ext uri="{FF2B5EF4-FFF2-40B4-BE49-F238E27FC236}">
                <ns2:creationId id="{8E0273A7-4405-4CE9-B571-1064467E9E97}"/>
              </a:ext>
            </a:extLst>
          </p:cNvPr>
          <p:cNvSpPr>
            <a:spLocks noGrp="1"/>
          </p:cNvSpPr>
          <p:nvPr/>
        </p:nvSpPr>
        <p:spPr>
          <a:xfrm>
            <a:off x="11049000" y="6419850"/>
            <a:ext cx="533400" cy="266700"/>
          </a:xfrm>
          <a:prstGeom prst="rect">
            <a:avLst/>
          </a:prstGeom>
          <a:noFill/>
          <a:ln w="0">
            <a:noFill/>
          </a:ln>
        </p:spPr>
        <p:txBody>
          <a:bodyPr/>
          <a:lstStyle>
            <a:defPPr>
              <a:defRPr sz="1200" b="0">
                <a:solidFill>
                  <a:srgbClr val="526B70"/>
                </a:solidFill>
                <a:latin typeface="Helvetica Neue"/>
                <a:ea typeface="Helvetica Neue"/>
                <a:cs typeface="Helvetica Neue"/>
              </a:defRPr>
            </a:defPPr>
          </a:lstStyle>
          <a:p>
            <a:pPr>
              <a:defRPr sz="1200" b="0">
                <a:solidFill>
                  <a:srgbClr val="526B70"/>
                </a:solidFill>
                <a:latin typeface="Helvetica Neue"/>
                <a:ea typeface="Helvetica Neue"/>
                <a:cs typeface="Helvetica Neue"/>
              </a:defRPr>
            </a:pPr>
            <a:r>
              <a:rPr sz="1200" b="0">
                <a:solidFill>
                  <a:srgbClr val="526B70"/>
                </a:solidFill>
                <a:latin typeface="Helvetica Neue"/>
                <a:ea typeface="Helvetica Neue"/>
                <a:cs typeface="Helvetica Neue"/>
              </a:rPr>
              <a:t>11</a:t>
            </a:r>
          </a:p>
        </p:txBody>
      </p:sp>
      <p:sp>
        <p:nvSpPr>
          <p:cNvPr id="5" name="01">
            <a:extLst>
              <a:ext uri="{FF2B5EF4-FFF2-40B4-BE49-F238E27FC236}">
                <ns2:creationId id="{AFC480BD-B344-41FA-8CD0-6C2E74A468D7}"/>
              </a:ext>
            </a:extLst>
          </p:cNvPr>
          <p:cNvSpPr>
            <a:spLocks noGrp="1"/>
          </p:cNvSpPr>
          <p:nvPr/>
        </p:nvSpPr>
        <p:spPr>
          <a:xfrm>
            <a:off x="609600" y="1943100"/>
            <a:ext cx="666750" cy="523875"/>
          </a:xfrm>
          <a:prstGeom prst="rect">
            <a:avLst/>
          </a:prstGeom>
          <a:noFill/>
          <a:ln w="0">
            <a:noFill/>
          </a:ln>
        </p:spPr>
        <p:txBody>
          <a:bodyPr/>
          <a:lstStyle>
            <a:defPPr>
              <a:defRPr sz="2850" b="1">
                <a:solidFill>
                  <a:srgbClr val="007D7B"/>
                </a:solidFill>
                <a:latin typeface="Helvetica Neue"/>
                <a:ea typeface="Helvetica Neue"/>
                <a:cs typeface="Helvetica Neue"/>
              </a:defRPr>
            </a:defPPr>
          </a:lstStyle>
          <a:p>
            <a:pPr>
              <a:defRPr sz="2850" b="1">
                <a:solidFill>
                  <a:srgbClr val="007D7B"/>
                </a:solidFill>
                <a:latin typeface="Helvetica Neue"/>
                <a:ea typeface="Helvetica Neue"/>
                <a:cs typeface="Helvetica Neue"/>
              </a:defRPr>
            </a:pPr>
            <a:r>
              <a:rPr sz="2850" b="1">
                <a:solidFill>
                  <a:srgbClr val="007D7B"/>
                </a:solidFill>
                <a:latin typeface="Helvetica Neue"/>
                <a:ea typeface="Helvetica Neue"/>
                <a:cs typeface="Helvetica Neue"/>
              </a:rPr>
              <a:t>01</a:t>
            </a:r>
          </a:p>
        </p:txBody>
      </p:sp>
      <p:sp>
        <p:nvSpPr>
          <p:cNvPr id="6" name="Gezielte Verbesserungen wirken">
            <a:extLst>
              <a:ext uri="{FF2B5EF4-FFF2-40B4-BE49-F238E27FC236}">
                <ns2:creationId id="{1820C6B8-74D4-449F-81D3-C1BE271F8C66}"/>
              </a:ext>
            </a:extLst>
          </p:cNvPr>
          <p:cNvSpPr>
            <a:spLocks noGrp="1"/>
          </p:cNvSpPr>
          <p:nvPr/>
        </p:nvSpPr>
        <p:spPr>
          <a:xfrm>
            <a:off x="1524000" y="1943100"/>
            <a:ext cx="9715500" cy="428625"/>
          </a:xfrm>
          <a:prstGeom prst="rect">
            <a:avLst/>
          </a:prstGeom>
          <a:noFill/>
          <a:ln w="0">
            <a:noFill/>
          </a:ln>
        </p:spPr>
        <p:txBody>
          <a:bodyPr/>
          <a:lstStyle>
            <a:defPPr>
              <a:defRPr sz="2250" b="1">
                <a:solidFill>
                  <a:srgbClr val="102D35"/>
                </a:solidFill>
                <a:latin typeface="Helvetica Neue"/>
                <a:ea typeface="Helvetica Neue"/>
                <a:cs typeface="Helvetica Neue"/>
              </a:defRPr>
            </a:defPPr>
          </a:lstStyle>
          <a:p>
            <a:pPr>
              <a:defRPr sz="2250" b="1">
                <a:solidFill>
                  <a:srgbClr val="102D35"/>
                </a:solidFill>
                <a:latin typeface="Helvetica Neue"/>
                <a:ea typeface="Helvetica Neue"/>
                <a:cs typeface="Helvetica Neue"/>
              </a:defRPr>
            </a:pPr>
            <a:r>
              <a:rPr sz="2250" b="1">
                <a:solidFill>
                  <a:srgbClr val="102D35"/>
                </a:solidFill>
                <a:latin typeface="Helvetica Neue"/>
                <a:ea typeface="Helvetica Neue"/>
                <a:cs typeface="Helvetica Neue"/>
              </a:rPr>
              <a:t>Gezielte Verbesserungen wirken</a:t>
            </a:r>
          </a:p>
        </p:txBody>
      </p:sp>
      <p:sp>
        <p:nvSpPr>
          <p:cNvPr id="7" name="Sechs Netze, Spiegelsymmetrie, Erkundungsgedä">
            <a:extLst>
              <a:ext uri="{FF2B5EF4-FFF2-40B4-BE49-F238E27FC236}">
                <ns2:creationId id="{BE9A7020-621E-4955-BD51-3E87C5A2D3C0}"/>
              </a:ext>
            </a:extLst>
          </p:cNvPr>
          <p:cNvSpPr>
            <a:spLocks noGrp="1"/>
          </p:cNvSpPr>
          <p:nvPr/>
        </p:nvSpPr>
        <p:spPr>
          <a:xfrm>
            <a:off x="1524000" y="2409825"/>
            <a:ext cx="9715500" cy="762000"/>
          </a:xfrm>
          <a:prstGeom prst="rect">
            <a:avLst/>
          </a:prstGeom>
          <a:noFill/>
          <a:ln w="0">
            <a:noFill/>
          </a:ln>
        </p:spPr>
        <p:txBody>
          <a:bodyPr/>
          <a:lstStyle>
            <a:defPPr>
              <a:defRPr sz="1950" b="0">
                <a:solidFill>
                  <a:srgbClr val="526B70"/>
                </a:solidFill>
                <a:latin typeface="Helvetica Neue"/>
                <a:ea typeface="Helvetica Neue"/>
                <a:cs typeface="Helvetica Neue"/>
              </a:defRPr>
            </a:defPPr>
          </a:lstStyle>
          <a:p>
            <a:pPr>
              <a:defRPr sz="1950" b="0">
                <a:solidFill>
                  <a:srgbClr val="526B70"/>
                </a:solidFill>
                <a:latin typeface="Helvetica Neue"/>
                <a:ea typeface="Helvetica Neue"/>
                <a:cs typeface="Helvetica Neue"/>
              </a:defRPr>
            </a:pPr>
            <a:r>
              <a:rPr sz="1950" b="0">
                <a:solidFill>
                  <a:srgbClr val="526B70"/>
                </a:solidFill>
                <a:latin typeface="Helvetica Neue"/>
                <a:ea typeface="Helvetica Neue"/>
                <a:cs typeface="Helvetica Neue"/>
              </a:rPr>
              <a:t>Sechs Netze, Spiegelsymmetrie, Erkundungsgedächtnis: gegen Solution_92 von </a:t>
            </a:r>
            <a:r>
              <a:rPr sz="1950" b="1">
                <a:solidFill>
                  <a:srgbClr val="007D7B"/>
                </a:solidFill>
                <a:latin typeface="Helvetica Neue"/>
                <a:ea typeface="Helvetica Neue"/>
                <a:cs typeface="Helvetica Neue"/>
              </a:rPr>
              <a:t>12/60 auf 28/60 Siege</a:t>
            </a:r>
            <a:r>
              <a:rPr sz="1950" b="0">
                <a:solidFill>
                  <a:srgbClr val="526B70"/>
                </a:solidFill>
                <a:latin typeface="Helvetica Neue"/>
                <a:ea typeface="Helvetica Neue"/>
                <a:cs typeface="Helvetica Neue"/>
              </a:rPr>
              <a:t> (gleiche Testkarten).</a:t>
            </a:r>
          </a:p>
        </p:txBody>
      </p:sp>
      <p:sp>
        <p:nvSpPr>
          <p:cNvPr id="8" name="02">
            <a:extLst>
              <a:ext uri="{FF2B5EF4-FFF2-40B4-BE49-F238E27FC236}">
                <ns2:creationId id="{9CB94756-3BDB-47E5-80A2-C23BD1DB5456}"/>
              </a:ext>
            </a:extLst>
          </p:cNvPr>
          <p:cNvSpPr>
            <a:spLocks noGrp="1"/>
          </p:cNvSpPr>
          <p:nvPr/>
        </p:nvSpPr>
        <p:spPr>
          <a:xfrm>
            <a:off x="609600" y="3476625"/>
            <a:ext cx="666750" cy="523875"/>
          </a:xfrm>
          <a:prstGeom prst="rect">
            <a:avLst/>
          </a:prstGeom>
          <a:noFill/>
          <a:ln w="0">
            <a:noFill/>
          </a:ln>
        </p:spPr>
        <p:txBody>
          <a:bodyPr/>
          <a:lstStyle>
            <a:defPPr>
              <a:defRPr sz="2850" b="1">
                <a:solidFill>
                  <a:srgbClr val="007D7B"/>
                </a:solidFill>
                <a:latin typeface="Helvetica Neue"/>
                <a:ea typeface="Helvetica Neue"/>
                <a:cs typeface="Helvetica Neue"/>
              </a:defRPr>
            </a:defPPr>
          </a:lstStyle>
          <a:p>
            <a:pPr>
              <a:defRPr sz="2850" b="1">
                <a:solidFill>
                  <a:srgbClr val="007D7B"/>
                </a:solidFill>
                <a:latin typeface="Helvetica Neue"/>
                <a:ea typeface="Helvetica Neue"/>
                <a:cs typeface="Helvetica Neue"/>
              </a:defRPr>
            </a:pPr>
            <a:r>
              <a:rPr sz="2850" b="1">
                <a:solidFill>
                  <a:srgbClr val="007D7B"/>
                </a:solidFill>
                <a:latin typeface="Helvetica Neue"/>
                <a:ea typeface="Helvetica Neue"/>
                <a:cs typeface="Helvetica Neue"/>
              </a:rPr>
              <a:t>02</a:t>
            </a:r>
          </a:p>
        </p:txBody>
      </p:sp>
      <p:sp>
        <p:nvSpPr>
          <p:cNvPr id="9" name="Mehr Training half kaum">
            <a:extLst>
              <a:ext uri="{FF2B5EF4-FFF2-40B4-BE49-F238E27FC236}">
                <ns2:creationId id="{01656370-F555-4D41-A0F2-E4AC260C770C}"/>
              </a:ext>
            </a:extLst>
          </p:cNvPr>
          <p:cNvSpPr>
            <a:spLocks noGrp="1"/>
          </p:cNvSpPr>
          <p:nvPr/>
        </p:nvSpPr>
        <p:spPr>
          <a:xfrm>
            <a:off x="1524000" y="3476625"/>
            <a:ext cx="9715500" cy="428625"/>
          </a:xfrm>
          <a:prstGeom prst="rect">
            <a:avLst/>
          </a:prstGeom>
          <a:noFill/>
          <a:ln w="0">
            <a:noFill/>
          </a:ln>
        </p:spPr>
        <p:txBody>
          <a:bodyPr/>
          <a:lstStyle>
            <a:defPPr>
              <a:defRPr sz="2250" b="1">
                <a:solidFill>
                  <a:srgbClr val="102D35"/>
                </a:solidFill>
                <a:latin typeface="Helvetica Neue"/>
                <a:ea typeface="Helvetica Neue"/>
                <a:cs typeface="Helvetica Neue"/>
              </a:defRPr>
            </a:defPPr>
          </a:lstStyle>
          <a:p>
            <a:pPr>
              <a:defRPr sz="2250" b="1">
                <a:solidFill>
                  <a:srgbClr val="102D35"/>
                </a:solidFill>
                <a:latin typeface="Helvetica Neue"/>
                <a:ea typeface="Helvetica Neue"/>
                <a:cs typeface="Helvetica Neue"/>
              </a:defRPr>
            </a:pPr>
            <a:r>
              <a:rPr sz="2250" b="1">
                <a:solidFill>
                  <a:srgbClr val="102D35"/>
                </a:solidFill>
                <a:latin typeface="Helvetica Neue"/>
                <a:ea typeface="Helvetica Neue"/>
                <a:cs typeface="Helvetica Neue"/>
              </a:rPr>
              <a:t>Mehr Training half kaum</a:t>
            </a:r>
          </a:p>
        </p:txBody>
      </p:sp>
      <p:sp>
        <p:nvSpPr>
          <p:cNvPr id="10" name="Weitertraining und Self-Play: in unseren Ver">
            <a:extLst>
              <a:ext uri="{FF2B5EF4-FFF2-40B4-BE49-F238E27FC236}">
                <ns2:creationId id="{BCF394DA-3212-4BBD-957A-66337048739E}"/>
              </a:ext>
            </a:extLst>
          </p:cNvPr>
          <p:cNvSpPr>
            <a:spLocks noGrp="1"/>
          </p:cNvSpPr>
          <p:nvPr/>
        </p:nvSpPr>
        <p:spPr>
          <a:xfrm>
            <a:off x="1524000" y="3943350"/>
            <a:ext cx="9715500" cy="619125"/>
          </a:xfrm>
          <a:prstGeom prst="rect">
            <a:avLst/>
          </a:prstGeom>
          <a:noFill/>
          <a:ln w="0">
            <a:noFill/>
          </a:ln>
        </p:spPr>
        <p:txBody>
          <a:bodyPr/>
          <a:lstStyle>
            <a:defPPr>
              <a:defRPr sz="1950" b="0">
                <a:solidFill>
                  <a:srgbClr val="526B70"/>
                </a:solidFill>
                <a:latin typeface="Helvetica Neue"/>
                <a:ea typeface="Helvetica Neue"/>
                <a:cs typeface="Helvetica Neue"/>
              </a:defRPr>
            </a:defPPr>
          </a:lstStyle>
          <a:p>
            <a:pPr>
              <a:defRPr sz="1950" b="0">
                <a:solidFill>
                  <a:srgbClr val="526B70"/>
                </a:solidFill>
                <a:latin typeface="Helvetica Neue"/>
                <a:ea typeface="Helvetica Neue"/>
                <a:cs typeface="Helvetica Neue"/>
              </a:defRPr>
            </a:pPr>
            <a:r>
              <a:rPr sz="1950" b="0">
                <a:solidFill>
                  <a:srgbClr val="526B70"/>
                </a:solidFill>
                <a:latin typeface="Helvetica Neue"/>
                <a:ea typeface="Helvetica Neue"/>
                <a:cs typeface="Helvetica Neue"/>
              </a:rPr>
              <a:t>Weitertraining und Self-Play: in unseren Versuchen kein klarer Zusatzgewinn.</a:t>
            </a:r>
          </a:p>
        </p:txBody>
      </p:sp>
      <p:sp>
        <p:nvSpPr>
          <p:cNvPr id="11" name="03">
            <a:extLst>
              <a:ext uri="{FF2B5EF4-FFF2-40B4-BE49-F238E27FC236}">
                <ns2:creationId id="{D43F2B56-AF30-4829-ABF0-98A2A1D87295}"/>
              </a:ext>
            </a:extLst>
          </p:cNvPr>
          <p:cNvSpPr>
            <a:spLocks noGrp="1"/>
          </p:cNvSpPr>
          <p:nvPr/>
        </p:nvSpPr>
        <p:spPr>
          <a:xfrm>
            <a:off x="609600" y="4819650"/>
            <a:ext cx="666750" cy="523875"/>
          </a:xfrm>
          <a:prstGeom prst="rect">
            <a:avLst/>
          </a:prstGeom>
          <a:noFill/>
          <a:ln w="0">
            <a:noFill/>
          </a:ln>
        </p:spPr>
        <p:txBody>
          <a:bodyPr/>
          <a:lstStyle>
            <a:defPPr>
              <a:defRPr sz="2850" b="1">
                <a:solidFill>
                  <a:srgbClr val="007D7B"/>
                </a:solidFill>
                <a:latin typeface="Helvetica Neue"/>
                <a:ea typeface="Helvetica Neue"/>
                <a:cs typeface="Helvetica Neue"/>
              </a:defRPr>
            </a:defPPr>
          </a:lstStyle>
          <a:p>
            <a:pPr>
              <a:defRPr sz="2850" b="1">
                <a:solidFill>
                  <a:srgbClr val="007D7B"/>
                </a:solidFill>
                <a:latin typeface="Helvetica Neue"/>
                <a:ea typeface="Helvetica Neue"/>
                <a:cs typeface="Helvetica Neue"/>
              </a:defRPr>
            </a:pPr>
            <a:r>
              <a:rPr sz="2850" b="1">
                <a:solidFill>
                  <a:srgbClr val="007D7B"/>
                </a:solidFill>
                <a:latin typeface="Helvetica Neue"/>
                <a:ea typeface="Helvetica Neue"/>
                <a:cs typeface="Helvetica Neue"/>
              </a:rPr>
              <a:t>03</a:t>
            </a:r>
          </a:p>
        </p:txBody>
      </p:sp>
      <p:sp>
        <p:nvSpPr>
          <p:cNvPr id="12" name="Nächster Schritt">
            <a:extLst>
              <a:ext uri="{FF2B5EF4-FFF2-40B4-BE49-F238E27FC236}">
                <ns2:creationId id="{7717E4D7-7EC3-4B42-B964-0E4596618185}"/>
              </a:ext>
            </a:extLst>
          </p:cNvPr>
          <p:cNvSpPr>
            <a:spLocks noGrp="1"/>
          </p:cNvSpPr>
          <p:nvPr/>
        </p:nvSpPr>
        <p:spPr>
          <a:xfrm>
            <a:off x="1524000" y="4819650"/>
            <a:ext cx="9715500" cy="428625"/>
          </a:xfrm>
          <a:prstGeom prst="rect">
            <a:avLst/>
          </a:prstGeom>
          <a:noFill/>
          <a:ln w="0">
            <a:noFill/>
          </a:ln>
        </p:spPr>
        <p:txBody>
          <a:bodyPr/>
          <a:lstStyle>
            <a:defPPr>
              <a:defRPr sz="2250" b="1">
                <a:solidFill>
                  <a:srgbClr val="102D35"/>
                </a:solidFill>
                <a:latin typeface="Helvetica Neue"/>
                <a:ea typeface="Helvetica Neue"/>
                <a:cs typeface="Helvetica Neue"/>
              </a:defRPr>
            </a:defPPr>
          </a:lstStyle>
          <a:p>
            <a:pPr>
              <a:defRPr sz="2250" b="1">
                <a:solidFill>
                  <a:srgbClr val="102D35"/>
                </a:solidFill>
                <a:latin typeface="Helvetica Neue"/>
                <a:ea typeface="Helvetica Neue"/>
                <a:cs typeface="Helvetica Neue"/>
              </a:defRPr>
            </a:pPr>
            <a:r>
              <a:rPr sz="2250" b="1">
                <a:solidFill>
                  <a:srgbClr val="102D35"/>
                </a:solidFill>
                <a:latin typeface="Helvetica Neue"/>
                <a:ea typeface="Helvetica Neue"/>
                <a:cs typeface="Helvetica Neue"/>
              </a:rPr>
              <a:t>Nächster Schritt</a:t>
            </a:r>
          </a:p>
        </p:txBody>
      </p:sp>
      <p:sp>
        <p:nvSpPr>
          <p:cNvPr id="13" name="Match 1 beschleunigen: Relics früher finden">
            <a:extLst>
              <a:ext uri="{FF2B5EF4-FFF2-40B4-BE49-F238E27FC236}">
                <ns2:creationId id="{B53B8A02-3C24-4672-BCBA-C1BBE8CB3779}"/>
              </a:ext>
            </a:extLst>
          </p:cNvPr>
          <p:cNvSpPr>
            <a:spLocks noGrp="1"/>
          </p:cNvSpPr>
          <p:nvPr/>
        </p:nvSpPr>
        <p:spPr>
          <a:xfrm>
            <a:off x="1524000" y="5286375"/>
            <a:ext cx="9715500" cy="619125"/>
          </a:xfrm>
          <a:prstGeom prst="rect">
            <a:avLst/>
          </a:prstGeom>
          <a:noFill/>
          <a:ln w="0">
            <a:noFill/>
          </a:ln>
        </p:spPr>
        <p:txBody>
          <a:bodyPr/>
          <a:lstStyle>
            <a:defPPr>
              <a:defRPr sz="1950" b="0">
                <a:solidFill>
                  <a:srgbClr val="526B70"/>
                </a:solidFill>
                <a:latin typeface="Helvetica Neue"/>
                <a:ea typeface="Helvetica Neue"/>
                <a:cs typeface="Helvetica Neue"/>
              </a:defRPr>
            </a:defPPr>
          </a:lstStyle>
          <a:p>
            <a:pPr>
              <a:defRPr sz="1950" b="0">
                <a:solidFill>
                  <a:srgbClr val="526B70"/>
                </a:solidFill>
                <a:latin typeface="Helvetica Neue"/>
                <a:ea typeface="Helvetica Neue"/>
                <a:cs typeface="Helvetica Neue"/>
              </a:defRPr>
            </a:pPr>
            <a:r>
              <a:rPr sz="1950" b="0">
                <a:solidFill>
                  <a:srgbClr val="526B70"/>
                </a:solidFill>
                <a:latin typeface="Helvetica Neue"/>
                <a:ea typeface="Helvetica Neue"/>
                <a:cs typeface="Helvetica Neue"/>
              </a:rPr>
              <a:t>Match 1 beschleunigen: Relics früher finden, auf neuen Testkarten prüfen.</a:t>
            </a:r>
          </a:p>
        </p:txBody>
      </p:sp>
    </p:spTree>
    <p:extLst>
      <p:ext uri="{BB962C8B-B14F-4D97-AF65-F5344CB8AC3E}">
        <ns3:creationId val="93612771"/>
      </p:ext>
    </p:extLst>
  </p:cSld>
</p:sld>
</file>

<file path=ppt/slides/slide1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102D35"/>
        </a:solidFill>
      </p:bgPr>
    </p:bg>
    <p:spTree>
      <p:nvGrpSpPr>
        <p:cNvPr id="1" name=""/>
        <p:cNvGrpSpPr/>
        <p:nvPr/>
      </p:nvGrpSpPr>
      <p:grpSpPr>
        <a:xfrm/>
      </p:grpSpPr>
      <p:sp>
        <p:nvSpPr>
          <p:cNvPr id="8" name="SHERLOCK / REVIEW 01">
            <a:extLst>
              <a:ext uri="{FF2B5EF4-FFF2-40B4-BE49-F238E27FC236}">
                <ns2:creationId id="{5A20ABA5-B1EF-4F5C-9C4E-4353F31E02BC}"/>
              </a:ext>
            </a:extLst>
          </p:cNvPr>
          <p:cNvSpPr>
            <a:spLocks noGrp="1"/>
          </p:cNvSpPr>
          <p:nvPr/>
        </p:nvSpPr>
        <p:spPr>
          <a:xfrm>
            <a:off x="609600" y="266700"/>
            <a:ext cx="8572500" cy="304800"/>
          </a:xfrm>
          <a:prstGeom prst="rect">
            <a:avLst/>
          </a:prstGeom>
          <a:noFill/>
          <a:ln w="0">
            <a:noFill/>
          </a:ln>
        </p:spPr>
        <p:txBody>
          <a:bodyPr/>
          <a:lstStyle>
            <a:defPPr>
              <a:defRPr sz="1350" b="1">
                <a:solidFill>
                  <a:srgbClr val="A4C9C4"/>
                </a:solidFill>
                <a:latin typeface="Helvetica Neue"/>
                <a:ea typeface="Helvetica Neue"/>
                <a:cs typeface="Helvetica Neue"/>
              </a:defRPr>
            </a:defPPr>
          </a:lstStyle>
          <a:p>
            <a:pPr>
              <a:defRPr sz="1350" b="1">
                <a:solidFill>
                  <a:srgbClr val="A4C9C4"/>
                </a:solidFill>
                <a:latin typeface="Helvetica Neue"/>
                <a:ea typeface="Helvetica Neue"/>
                <a:cs typeface="Helvetica Neue"/>
              </a:defRPr>
            </a:pPr>
            <a:r>
              <a:rPr sz="1350" b="1">
                <a:solidFill>
                  <a:srgbClr val="A4C9C4"/>
                </a:solidFill>
                <a:latin typeface="Helvetica Neue"/>
                <a:ea typeface="Helvetica Neue"/>
                <a:cs typeface="Helvetica Neue"/>
              </a:rPr>
              <a:t>SHERLOCK / REVIEW 01</a:t>
            </a:r>
          </a:p>
        </p:txBody>
      </p:sp>
      <p:sp>
        <p:nvSpPr>
          <p:cNvPr id="2" name="Sherlock hat eine tragfähige Grundlage">
            <a:extLst>
              <a:ext uri="{FF2B5EF4-FFF2-40B4-BE49-F238E27FC236}">
                <ns2:creationId id="{25B16183-704C-4208-A3B0-0869761142C1}"/>
              </a:ext>
            </a:extLst>
          </p:cNvPr>
          <p:cNvSpPr>
            <a:spLocks noGrp="1"/>
          </p:cNvSpPr>
          <p:nvPr/>
        </p:nvSpPr>
        <p:spPr>
          <a:xfrm>
            <a:off x="609600" y="781050"/>
            <a:ext cx="10972800" cy="1028700"/>
          </a:xfrm>
          <a:prstGeom prst="rect">
            <a:avLst/>
          </a:prstGeom>
          <a:noFill/>
          <a:ln w="0">
            <a:noFill/>
          </a:ln>
        </p:spPr>
        <p:txBody>
          <a:bodyPr/>
          <a:lstStyle>
            <a:defPPr>
              <a:defRPr sz="3300" b="1">
                <a:solidFill>
                  <a:srgbClr val="FFFFFF"/>
                </a:solidFill>
                <a:latin typeface="Helvetica Neue"/>
                <a:ea typeface="Helvetica Neue"/>
                <a:cs typeface="Helvetica Neue"/>
              </a:defRPr>
            </a:defPPr>
          </a:lstStyle>
          <a:p>
            <a:pPr>
              <a:buNone/>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Fazit und Fragen</a:t>
            </a:r>
          </a:p>
        </p:txBody>
      </p:sp>
      <p:sp>
        <p:nvSpPr>
          <p:cNvPr id="3" name="Team 15 · Mahmoud El-Hassan &amp; Moayed Shawesh">
            <a:extLst>
              <a:ext uri="{FF2B5EF4-FFF2-40B4-BE49-F238E27FC236}">
                <ns2:creationId id="{1CB83B49-4608-44E1-A957-6DC9D24320CB}"/>
              </a:ext>
            </a:extLst>
          </p:cNvPr>
          <p:cNvSpPr>
            <a:spLocks noGrp="1"/>
          </p:cNvSpPr>
          <p:nvPr/>
        </p:nvSpPr>
        <p:spPr>
          <a:xfrm>
            <a:off x="609600" y="6419850"/>
            <a:ext cx="9906000" cy="266700"/>
          </a:xfrm>
          <a:prstGeom prst="rect">
            <a:avLst/>
          </a:prstGeom>
          <a:noFill/>
          <a:ln w="0">
            <a:noFill/>
          </a:ln>
        </p:spPr>
        <p:txBody>
          <a:bodyPr/>
          <a:lstStyle>
            <a:defPPr>
              <a:defRPr sz="1200" b="0">
                <a:solidFill>
                  <a:srgbClr val="A4C9C4"/>
                </a:solidFill>
                <a:latin typeface="Helvetica Neue"/>
                <a:ea typeface="Helvetica Neue"/>
                <a:cs typeface="Helvetica Neue"/>
              </a:defRPr>
            </a:defPPr>
          </a:lstStyle>
          <a:p>
            <a:pPr>
              <a:defRPr sz="1200" b="0">
                <a:solidFill>
                  <a:srgbClr val="A4C9C4"/>
                </a:solidFill>
                <a:latin typeface="Helvetica Neue"/>
                <a:ea typeface="Helvetica Neue"/>
                <a:cs typeface="Helvetica Neue"/>
              </a:defRPr>
            </a:pPr>
            <a:r>
              <a:rPr sz="1200" b="0">
                <a:solidFill>
                  <a:srgbClr val="A4C9C4"/>
                </a:solidFill>
                <a:latin typeface="Helvetica Neue"/>
                <a:ea typeface="Helvetica Neue"/>
                <a:cs typeface="Helvetica Neue"/>
              </a:rPr>
              <a:t>Team 15 · Mahmoud El-Hassan &amp; Moayed Shawesh</a:t>
            </a:r>
          </a:p>
        </p:txBody>
      </p:sp>
      <p:sp>
        <p:nvSpPr>
          <p:cNvPr id="4" name="11">
            <a:extLst>
              <a:ext uri="{FF2B5EF4-FFF2-40B4-BE49-F238E27FC236}">
                <ns2:creationId id="{8A14202B-BEED-4C86-83A9-C1910B80A040}"/>
              </a:ext>
            </a:extLst>
          </p:cNvPr>
          <p:cNvSpPr>
            <a:spLocks noGrp="1"/>
          </p:cNvSpPr>
          <p:nvPr/>
        </p:nvSpPr>
        <p:spPr>
          <a:xfrm>
            <a:off x="11049000" y="6419850"/>
            <a:ext cx="533400" cy="266700"/>
          </a:xfrm>
          <a:prstGeom prst="rect">
            <a:avLst/>
          </a:prstGeom>
          <a:noFill/>
          <a:ln w="0">
            <a:noFill/>
          </a:ln>
        </p:spPr>
        <p:txBody>
          <a:bodyPr/>
          <a:lstStyle>
            <a:defPPr>
              <a:defRPr sz="1200" b="0">
                <a:solidFill>
                  <a:srgbClr val="A4C9C4"/>
                </a:solidFill>
                <a:latin typeface="Helvetica Neue"/>
                <a:ea typeface="Helvetica Neue"/>
                <a:cs typeface="Helvetica Neue"/>
              </a:defRPr>
            </a:defPPr>
          </a:lstStyle>
          <a:p>
            <a:pPr>
              <a:defRPr sz="1200" b="0">
                <a:solidFill>
                  <a:srgbClr val="A4C9C4"/>
                </a:solidFill>
                <a:latin typeface="Helvetica Neue"/>
                <a:ea typeface="Helvetica Neue"/>
                <a:cs typeface="Helvetica Neue"/>
              </a:defRPr>
            </a:pPr>
            <a:r>
              <a:rPr sz="1200" b="0">
                <a:solidFill>
                  <a:srgbClr val="A4C9C4"/>
                </a:solidFill>
                <a:latin typeface="Helvetica Neue"/>
                <a:ea typeface="Helvetica Neue"/>
                <a:cs typeface="Helvetica Neue"/>
              </a:rPr>
              <a:t>12</a:t>
            </a:r>
          </a:p>
        </p:txBody>
      </p:sp>
      <p:sp>
        <p:nvSpPr>
          <p:cNvPr id="5" name="Merken. Bewerten. Handeln.">
            <a:extLst>
              <a:ext uri="{FF2B5EF4-FFF2-40B4-BE49-F238E27FC236}">
                <ns2:creationId id="{C3776FEB-F865-48ED-AB96-87BA955C5284}"/>
              </a:ext>
            </a:extLst>
          </p:cNvPr>
          <p:cNvSpPr>
            <a:spLocks noGrp="1"/>
          </p:cNvSpPr>
          <p:nvPr/>
        </p:nvSpPr>
        <p:spPr>
          <a:xfrm>
            <a:off x="609600" y="2457450"/>
            <a:ext cx="10972800" cy="857250"/>
          </a:xfrm>
          <a:prstGeom prst="rect">
            <a:avLst/>
          </a:prstGeom>
          <a:noFill/>
          <a:ln w="0">
            <a:noFill/>
          </a:ln>
        </p:spPr>
        <p:txBody>
          <a:bodyPr>
            <a:noAutofit/>
          </a:bodyPr>
          <a:lstStyle>
            <a:defPPr algn="l">
              <a:defRPr sz="4275" b="1">
                <a:solidFill>
                  <a:srgbClr val="FFFFFF"/>
                </a:solidFill>
                <a:latin typeface="Helvetica Neue"/>
                <a:ea typeface="Helvetica Neue"/>
                <a:cs typeface="Helvetica Neue"/>
              </a:defRPr>
            </a:defPPr>
          </a:lstStyle>
          <a:p>
            <a:pPr marL="0" indent="0" algn="l">
              <a:spcBef>
                <a:spcPts val="0"/>
              </a:spcBef>
              <a:spcAft>
                <a:spcPts val="0"/>
              </a:spcAft>
              <a:buNone/>
              <a:defRPr sz="4275" b="1">
                <a:solidFill>
                  <a:srgbClr val="FFFFFF"/>
                </a:solidFill>
                <a:latin typeface="Helvetica Neue"/>
                <a:ea typeface="Helvetica Neue"/>
                <a:cs typeface="Helvetica Neue"/>
              </a:defRPr>
            </a:pPr>
            <a:r>
              <a:rPr sz="4275" b="1">
                <a:solidFill>
                  <a:srgbClr val="FFFFFF"/>
                </a:solidFill>
                <a:latin typeface="Helvetica Neue"/>
                <a:ea typeface="Helvetica Neue"/>
                <a:cs typeface="Helvetica Neue"/>
              </a:rPr>
              <a:t>Gedächtnis + sechs Netze</a:t>
            </a:r>
          </a:p>
        </p:txBody>
      </p:sp>
      <p:sp>
        <p:nvSpPr>
          <p:cNvPr id="6" name="Trainierter Agent · nachvollziehbare Auswertu">
            <a:extLst>
              <a:ext uri="{FF2B5EF4-FFF2-40B4-BE49-F238E27FC236}">
                <ns2:creationId id="{9EDDDC56-3694-49A0-983E-29F72EDAC7BE}"/>
              </a:ext>
            </a:extLst>
          </p:cNvPr>
          <p:cNvSpPr>
            <a:spLocks noGrp="1"/>
          </p:cNvSpPr>
          <p:nvPr/>
        </p:nvSpPr>
        <p:spPr>
          <a:xfrm>
            <a:off x="609600" y="3524250"/>
            <a:ext cx="10972800" cy="1428750"/>
          </a:xfrm>
          <a:prstGeom prst="rect">
            <a:avLst/>
          </a:prstGeom>
          <a:noFill/>
          <a:ln w="0">
            <a:noFill/>
          </a:ln>
        </p:spPr>
        <p:txBody>
          <a:bodyPr>
            <a:noAutofit/>
          </a:bodyPr>
          <a:lstStyle>
            <a:defPPr algn="l">
              <a:defRPr sz="2250" b="0">
                <a:solidFill>
                  <a:srgbClr val="B7D8D0"/>
                </a:solidFill>
                <a:latin typeface="Helvetica Neue"/>
                <a:ea typeface="Helvetica Neue"/>
                <a:cs typeface="Helvetica Neue"/>
              </a:defRPr>
            </a:defPPr>
          </a:lstStyle>
          <a:p>
            <a:pPr marL="330200" indent="-254000" algn="l">
              <a:spcAft>
                <a:spcPts val="1600"/>
              </a:spcAft>
              <a:buFont typeface="Helvetica Neue"/>
              <a:buChar char="–"/>
              <a:defRPr sz="2250" b="0">
                <a:solidFill>
                  <a:srgbClr val="B7D8D0"/>
                </a:solidFill>
                <a:latin typeface="Helvetica Neue"/>
                <a:ea typeface="Helvetica Neue"/>
                <a:cs typeface="Helvetica Neue"/>
              </a:defRPr>
            </a:pPr>
            <a:r>
              <a:rPr sz="2250">
                <a:solidFill>
                  <a:srgbClr val="B7D8D0"/>
                </a:solidFill>
                <a:latin typeface="Helvetica Neue"/>
                <a:ea typeface="Helvetica Neue"/>
                <a:cs typeface="Helvetica Neue"/>
              </a:rPr>
              <a:t>Im Benchmark: 60/60 Siege gegen default, 28/60 gegen Solution_92.</a:t>
            </a:r>
          </a:p>
          <a:p>
            <a:pPr marL="330200" indent="-254000" algn="l">
              <a:spcAft>
                <a:spcPts val="1600"/>
              </a:spcAft>
              <a:buFont typeface="Helvetica Neue"/>
              <a:buChar char="–"/>
              <a:defRPr sz="2250" b="0">
                <a:solidFill>
                  <a:srgbClr val="B7D8D0"/>
                </a:solidFill>
                <a:latin typeface="Helvetica Neue"/>
                <a:ea typeface="Helvetica Neue"/>
                <a:cs typeface="Helvetica Neue"/>
              </a:defRPr>
            </a:pPr>
            <a:r>
              <a:rPr sz="2250">
                <a:solidFill>
                  <a:srgbClr val="B7D8D0"/>
                </a:solidFill>
                <a:latin typeface="Helvetica Neue"/>
                <a:ea typeface="Helvetica Neue"/>
                <a:cs typeface="Helvetica Neue"/>
              </a:rPr>
              <a:t>Nächster Schritt: Frühe Erkundung verbessern und neue Testkarten nutzen.</a:t>
            </a:r>
          </a:p>
        </p:txBody>
      </p:sp>
      <p:sp>
        <p:nvSpPr>
          <p:cNvPr id="7" name="Fragen?">
            <a:extLst>
              <a:ext uri="{FF2B5EF4-FFF2-40B4-BE49-F238E27FC236}">
                <ns2:creationId id="{CD0D7F6A-E443-45D1-AF4A-DFD393C829C7}"/>
              </a:ext>
            </a:extLst>
          </p:cNvPr>
          <p:cNvSpPr>
            <a:spLocks noGrp="1"/>
          </p:cNvSpPr>
          <p:nvPr/>
        </p:nvSpPr>
        <p:spPr>
          <a:xfrm>
            <a:off x="609600" y="5191125"/>
            <a:ext cx="10972800" cy="666750"/>
          </a:xfrm>
          <a:prstGeom prst="rect">
            <a:avLst/>
          </a:prstGeom>
          <a:noFill/>
          <a:ln w="0">
            <a:noFill/>
          </a:ln>
        </p:spPr>
        <p:txBody>
          <a:bodyPr/>
          <a:lstStyle>
            <a:defPPr>
              <a:defRPr sz="3300" b="1">
                <a:solidFill>
                  <a:srgbClr val="FFFFFF"/>
                </a:solidFill>
                <a:latin typeface="Helvetica Neue"/>
                <a:ea typeface="Helvetica Neue"/>
                <a:cs typeface="Helvetica Neue"/>
              </a:defRPr>
            </a:defPPr>
          </a:lstStyle>
          <a:p>
            <a:pPr>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Fragen?</a:t>
            </a:r>
          </a:p>
        </p:txBody>
      </p:sp>
    </p:spTree>
    <p:extLst>
      <p:ext uri="{BB962C8B-B14F-4D97-AF65-F5344CB8AC3E}">
        <ns3:creationId val="108237947"/>
      </p:ext>
    </p:extLst>
  </p:cSld>
</p:sld>
</file>

<file path=ppt/slides/slide13.xml><?xml version="1.0" encoding="utf-8"?>
<p:sld xmlns:a="http://schemas.openxmlformats.org/drawingml/2006/main" xmlns:ns2="http://schemas.microsoft.com/office/drawing/2014/main" xmlns:ns3="http://schemas.microsoft.com/office/powerpoint/2010/main" xmlns:p="http://schemas.openxmlformats.org/presentationml/2006/main" show="0">
  <p:cSld>
    <p:bg>
      <p:bgPr>
        <a:solidFill>
          <a:srgbClr val="F7F7F0"/>
        </a:solidFill>
      </p:bgPr>
    </p:bg>
    <p:spTree>
      <p:nvGrpSpPr>
        <p:cNvPr id="1" name=""/>
        <p:cNvGrpSpPr/>
        <p:nvPr/>
      </p:nvGrpSpPr>
      <p:grpSpPr>
        <a:xfrm/>
      </p:grpSpPr>
      <p:sp>
        <p:nvSpPr>
          <p:cNvPr id="6" name="ANHANG · NUR FÜR RÜCKFRAGEN">
            <a:extLst>
              <a:ext uri="{FF2B5EF4-FFF2-40B4-BE49-F238E27FC236}">
                <ns2:creationId id="{F177653E-E536-403B-B9B3-C246EA5FE864}"/>
              </a:ext>
            </a:extLst>
          </p:cNvPr>
          <p:cNvSpPr>
            <a:spLocks noGrp="1"/>
          </p:cNvSpPr>
          <p:nvPr/>
        </p:nvSpPr>
        <p:spPr>
          <a:xfrm>
            <a:off x="609600" y="266700"/>
            <a:ext cx="8572500" cy="304800"/>
          </a:xfrm>
          <a:prstGeom prst="rect">
            <a:avLst/>
          </a:prstGeom>
          <a:noFill/>
          <a:ln w="0">
            <a:noFill/>
          </a:ln>
        </p:spPr>
        <p:txBody>
          <a:bodyPr/>
          <a:lstStyle>
            <a:defPPr>
              <a:defRPr sz="1350" b="1">
                <a:solidFill>
                  <a:srgbClr val="007D7B"/>
                </a:solidFill>
                <a:latin typeface="Helvetica Neue"/>
                <a:ea typeface="Helvetica Neue"/>
                <a:cs typeface="Helvetica Neue"/>
              </a:defRPr>
            </a:defPPr>
          </a:lstStyle>
          <a:p>
            <a:pPr>
              <a:defRPr sz="1350" b="1">
                <a:solidFill>
                  <a:srgbClr val="007D7B"/>
                </a:solidFill>
                <a:latin typeface="Helvetica Neue"/>
                <a:ea typeface="Helvetica Neue"/>
                <a:cs typeface="Helvetica Neue"/>
              </a:defRPr>
            </a:pPr>
            <a:r>
              <a:rPr sz="1350" b="1">
                <a:solidFill>
                  <a:srgbClr val="007D7B"/>
                </a:solidFill>
                <a:latin typeface="Helvetica Neue"/>
                <a:ea typeface="Helvetica Neue"/>
                <a:cs typeface="Helvetica Neue"/>
              </a:rPr>
              <a:t>ANHANG · NUR FÜR RÜCKFRAGEN</a:t>
            </a:r>
          </a:p>
        </p:txBody>
      </p:sp>
      <p:sp>
        <p:nvSpPr>
          <p:cNvPr id="2" name="Trainingsparameter zum Nachschlagen">
            <a:extLst>
              <a:ext uri="{FF2B5EF4-FFF2-40B4-BE49-F238E27FC236}">
                <ns2:creationId id="{7E4A7D21-E808-4EC1-B186-666944E737D4}"/>
              </a:ext>
            </a:extLst>
          </p:cNvPr>
          <p:cNvSpPr>
            <a:spLocks noGrp="1"/>
          </p:cNvSpPr>
          <p:nvPr/>
        </p:nvSpPr>
        <p:spPr>
          <a:xfrm>
            <a:off x="609600" y="781050"/>
            <a:ext cx="10972800" cy="1028700"/>
          </a:xfrm>
          <a:prstGeom prst="rect">
            <a:avLst/>
          </a:prstGeom>
          <a:noFill/>
          <a:ln w="0">
            <a:noFill/>
          </a:ln>
        </p:spPr>
        <p:txBody>
          <a:bodyPr/>
          <a:lstStyle>
            <a:defPPr>
              <a:defRPr sz="3300" b="1">
                <a:solidFill>
                  <a:srgbClr val="102D35"/>
                </a:solidFill>
                <a:latin typeface="Helvetica Neue"/>
                <a:ea typeface="Helvetica Neue"/>
                <a:cs typeface="Helvetica Neue"/>
              </a:defRPr>
            </a:defPPr>
          </a:lstStyle>
          <a:p>
            <a:pPr>
              <a:buNone/>
              <a:defRPr sz="3300" b="1">
                <a:solidFill>
                  <a:srgbClr val="102D35"/>
                </a:solidFill>
                <a:latin typeface="Helvetica Neue"/>
                <a:ea typeface="Helvetica Neue"/>
                <a:cs typeface="Helvetica Neue"/>
              </a:defRPr>
            </a:pPr>
            <a:r>
              <a:rPr sz="3300" b="1">
                <a:solidFill>
                  <a:srgbClr val="102D35"/>
                </a:solidFill>
                <a:latin typeface="Helvetica Neue"/>
                <a:ea typeface="Helvetica Neue"/>
                <a:cs typeface="Helvetica Neue"/>
              </a:rPr>
              <a:t>Trainingsparameter</a:t>
            </a:r>
          </a:p>
        </p:txBody>
      </p:sp>
      <p:sp>
        <p:nvSpPr>
          <p:cNvPr id="3" name="Team 15 · Mahmoud El-Hassan &amp; Moayed Shawesh">
            <a:extLst>
              <a:ext uri="{FF2B5EF4-FFF2-40B4-BE49-F238E27FC236}">
                <ns2:creationId id="{09E1306A-8FE0-488E-B1B6-8FED6F7ADC46}"/>
              </a:ext>
            </a:extLst>
          </p:cNvPr>
          <p:cNvSpPr>
            <a:spLocks noGrp="1"/>
          </p:cNvSpPr>
          <p:nvPr/>
        </p:nvSpPr>
        <p:spPr>
          <a:xfrm>
            <a:off x="609600" y="6419850"/>
            <a:ext cx="9906000" cy="266700"/>
          </a:xfrm>
          <a:prstGeom prst="rect">
            <a:avLst/>
          </a:prstGeom>
          <a:noFill/>
          <a:ln w="0">
            <a:noFill/>
          </a:ln>
        </p:spPr>
        <p:txBody>
          <a:bodyPr/>
          <a:lstStyle>
            <a:defPPr>
              <a:defRPr sz="1200" b="0">
                <a:solidFill>
                  <a:srgbClr val="526B70"/>
                </a:solidFill>
                <a:latin typeface="Helvetica Neue"/>
                <a:ea typeface="Helvetica Neue"/>
                <a:cs typeface="Helvetica Neue"/>
              </a:defRPr>
            </a:defPPr>
          </a:lstStyle>
          <a:p>
            <a:pPr>
              <a:defRPr sz="1200" b="0">
                <a:solidFill>
                  <a:srgbClr val="526B70"/>
                </a:solidFill>
                <a:latin typeface="Helvetica Neue"/>
                <a:ea typeface="Helvetica Neue"/>
                <a:cs typeface="Helvetica Neue"/>
              </a:defRPr>
            </a:pPr>
            <a:r>
              <a:rPr sz="1200" b="0">
                <a:solidFill>
                  <a:srgbClr val="526B70"/>
                </a:solidFill>
                <a:latin typeface="Helvetica Neue"/>
                <a:ea typeface="Helvetica Neue"/>
                <a:cs typeface="Helvetica Neue"/>
              </a:rPr>
              <a:t>Team 15 · Mahmoud El-Hassan &amp; Moayed Shawesh</a:t>
            </a:r>
          </a:p>
        </p:txBody>
      </p:sp>
      <p:sp>
        <p:nvSpPr>
          <p:cNvPr id="4" name="12">
            <a:extLst>
              <a:ext uri="{FF2B5EF4-FFF2-40B4-BE49-F238E27FC236}">
                <ns2:creationId id="{E53BAB6E-C455-4BF4-BBEB-5EB155758CB2}"/>
              </a:ext>
            </a:extLst>
          </p:cNvPr>
          <p:cNvSpPr>
            <a:spLocks noGrp="1"/>
          </p:cNvSpPr>
          <p:nvPr/>
        </p:nvSpPr>
        <p:spPr>
          <a:xfrm>
            <a:off x="11049000" y="6419850"/>
            <a:ext cx="533400" cy="266700"/>
          </a:xfrm>
          <a:prstGeom prst="rect">
            <a:avLst/>
          </a:prstGeom>
          <a:noFill/>
          <a:ln w="0">
            <a:noFill/>
          </a:ln>
        </p:spPr>
        <p:txBody>
          <a:bodyPr/>
          <a:lstStyle>
            <a:defPPr>
              <a:defRPr sz="1200" b="0">
                <a:solidFill>
                  <a:srgbClr val="526B70"/>
                </a:solidFill>
                <a:latin typeface="Helvetica Neue"/>
                <a:ea typeface="Helvetica Neue"/>
                <a:cs typeface="Helvetica Neue"/>
              </a:defRPr>
            </a:defPPr>
          </a:lstStyle>
          <a:p>
            <a:pPr>
              <a:defRPr sz="1200" b="0">
                <a:solidFill>
                  <a:srgbClr val="526B70"/>
                </a:solidFill>
                <a:latin typeface="Helvetica Neue"/>
                <a:ea typeface="Helvetica Neue"/>
                <a:cs typeface="Helvetica Neue"/>
              </a:defRPr>
            </a:pPr>
            <a:r>
              <a:rPr sz="1200" b="0">
                <a:solidFill>
                  <a:srgbClr val="526B70"/>
                </a:solidFill>
                <a:latin typeface="Helvetica Neue"/>
                <a:ea typeface="Helvetica Neue"/>
                <a:cs typeface="Helvetica Neue"/>
              </a:rPr>
              <a:t>13</a:t>
            </a:r>
          </a:p>
        </p:txBody>
      </p:sp>
      <p:graphicFrame>
        <p:nvGraphicFramePr>
          <p:cNvPr id="5" name="">
            <a:extLst>
              <a:ext uri="{FF2B5EF4-FFF2-40B4-BE49-F238E27FC236}">
                <ns2:creationId id="{FB9AE093-4AA4-49FB-AE7F-7ACD76F4FB98}"/>
              </a:ext>
            </a:extLst>
          </p:cNvPr>
          <p:cNvGraphicFramePr/>
          <p:nvPr/>
        </p:nvGraphicFramePr>
        <p:xfrm>
          <a:off x="609600" y="1943100"/>
          <a:ext cx="10972800" cy="3943350"/>
        </p:xfrm>
        <a:graphic>
          <a:graphicData uri="http://schemas.openxmlformats.org/drawingml/2006/table">
            <a:tbl>
              <a:tblPr/>
              <a:tblGrid>
                <a:gridCol w="4191000"/>
                <a:gridCol w="6781800"/>
              </a:tblGrid>
              <a:tr h="657225">
                <a:tc>
                  <a:txBody>
                    <a:bodyPr/>
                    <a:lstStyle/>
                    <a:p>
                      <a:r>
                        <a:rPr sz="1950" b="1">
                          <a:solidFill>
                            <a:srgbClr val="FFFFFF"/>
                          </a:solidFill>
                          <a:latin typeface="Helvetica Neue"/>
                          <a:ea typeface="Helvetica Neue"/>
                          <a:cs typeface="Helvetica Neue"/>
                        </a:rPr>
                        <a:t>Parameter</a:t>
                      </a:r>
                    </a:p>
                  </a:txBody>
                  <a:tcPr marL="91440" marR="91440" marT="45720" marB="45720">
                    <a:lnL w="9525">
                      <a:solidFill>
                        <a:srgbClr val="CFDBD7"/>
                      </a:solidFill>
                      <a:prstDash val="solid"/>
                    </a:lnL>
                    <a:lnR w="9525">
                      <a:solidFill>
                        <a:srgbClr val="CFDBD7"/>
                      </a:solidFill>
                      <a:prstDash val="solid"/>
                    </a:lnR>
                    <a:lnT w="9525">
                      <a:solidFill>
                        <a:srgbClr val="CFDBD7"/>
                      </a:solidFill>
                      <a:prstDash val="solid"/>
                    </a:lnT>
                    <a:lnB w="9525">
                      <a:solidFill>
                        <a:srgbClr val="CFDBD7"/>
                      </a:solidFill>
                      <a:prstDash val="solid"/>
                    </a:lnB>
                    <a:solidFill>
                      <a:srgbClr val="102D35"/>
                    </a:solidFill>
                  </a:tcPr>
                </a:tc>
                <a:tc>
                  <a:txBody>
                    <a:bodyPr/>
                    <a:lstStyle/>
                    <a:p>
                      <a:r>
                        <a:rPr sz="1950" b="1">
                          <a:solidFill>
                            <a:srgbClr val="FFFFFF"/>
                          </a:solidFill>
                          <a:latin typeface="Helvetica Neue"/>
                          <a:ea typeface="Helvetica Neue"/>
                          <a:cs typeface="Helvetica Neue"/>
                        </a:rPr>
                        <a:t>Wert</a:t>
                      </a:r>
                    </a:p>
                  </a:txBody>
                  <a:tcPr marL="91440" marR="91440" marT="45720" marB="45720">
                    <a:lnR w="9525">
                      <a:solidFill>
                        <a:srgbClr val="CFDBD7"/>
                      </a:solidFill>
                      <a:prstDash val="solid"/>
                    </a:lnR>
                    <a:lnT w="9525">
                      <a:solidFill>
                        <a:srgbClr val="CFDBD7"/>
                      </a:solidFill>
                      <a:prstDash val="solid"/>
                    </a:lnT>
                    <a:lnB w="9525">
                      <a:solidFill>
                        <a:srgbClr val="CFDBD7"/>
                      </a:solidFill>
                      <a:prstDash val="solid"/>
                    </a:lnB>
                    <a:solidFill>
                      <a:srgbClr val="102D35"/>
                    </a:solidFill>
                  </a:tcPr>
                </a:tc>
              </a:tr>
              <a:tr h="657225">
                <a:tc>
                  <a:txBody>
                    <a:bodyPr/>
                    <a:lstStyle/>
                    <a:p>
                      <a:r>
                        <a:rPr sz="1950" b="0">
                          <a:solidFill>
                            <a:srgbClr val="102D35"/>
                          </a:solidFill>
                          <a:latin typeface="Helvetica Neue"/>
                          <a:ea typeface="Helvetica Neue"/>
                          <a:cs typeface="Helvetica Neue"/>
                        </a:rPr>
                        <a:t>γ / Lernrate</a:t>
                      </a:r>
                    </a:p>
                  </a:txBody>
                  <a:tcPr marL="91440" marR="91440" marT="45720" marB="45720">
                    <a:lnL w="9525">
                      <a:solidFill>
                        <a:srgbClr val="CFDBD7"/>
                      </a:solidFill>
                      <a:prstDash val="solid"/>
                    </a:lnL>
                    <a:lnR w="9525">
                      <a:solidFill>
                        <a:srgbClr val="CFDBD7"/>
                      </a:solidFill>
                      <a:prstDash val="solid"/>
                    </a:lnR>
                    <a:lnB w="9525">
                      <a:solidFill>
                        <a:srgbClr val="CFDBD7"/>
                      </a:solidFill>
                      <a:prstDash val="solid"/>
                    </a:lnB>
                    <a:solidFill>
                      <a:srgbClr val="FFFFFF"/>
                    </a:solidFill>
                  </a:tcPr>
                </a:tc>
                <a:tc>
                  <a:txBody>
                    <a:bodyPr/>
                    <a:lstStyle/>
                    <a:p>
                      <a:r>
                        <a:rPr sz="1950" b="0">
                          <a:solidFill>
                            <a:srgbClr val="102D35"/>
                          </a:solidFill>
                          <a:latin typeface="Helvetica Neue"/>
                          <a:ea typeface="Helvetica Neue"/>
                          <a:cs typeface="Helvetica Neue"/>
                        </a:rPr>
                        <a:t>0,99 / 0,0003</a:t>
                      </a:r>
                    </a:p>
                  </a:txBody>
                  <a:tcPr marL="91440" marR="91440" marT="45720" marB="45720">
                    <a:lnR w="9525">
                      <a:solidFill>
                        <a:srgbClr val="CFDBD7"/>
                      </a:solidFill>
                      <a:prstDash val="solid"/>
                    </a:lnR>
                    <a:lnB w="9525">
                      <a:solidFill>
                        <a:srgbClr val="CFDBD7"/>
                      </a:solidFill>
                      <a:prstDash val="solid"/>
                    </a:lnB>
                    <a:solidFill>
                      <a:srgbClr val="FFFFFF"/>
                    </a:solidFill>
                  </a:tcPr>
                </a:tc>
              </a:tr>
              <a:tr h="657225">
                <a:tc>
                  <a:txBody>
                    <a:bodyPr/>
                    <a:lstStyle/>
                    <a:p>
                      <a:r>
                        <a:rPr sz="1950" b="0">
                          <a:solidFill>
                            <a:srgbClr val="102D35"/>
                          </a:solidFill>
                          <a:latin typeface="Helvetica Neue"/>
                          <a:ea typeface="Helvetica Neue"/>
                          <a:cs typeface="Helvetica Neue"/>
                        </a:rPr>
                        <a:t>Batch / Buffer-Kapazität</a:t>
                      </a:r>
                    </a:p>
                  </a:txBody>
                  <a:tcPr marL="91440" marR="91440" marT="45720" marB="45720">
                    <a:lnL w="9525">
                      <a:solidFill>
                        <a:srgbClr val="CFDBD7"/>
                      </a:solidFill>
                      <a:prstDash val="solid"/>
                    </a:lnL>
                    <a:lnR w="9525">
                      <a:solidFill>
                        <a:srgbClr val="CFDBD7"/>
                      </a:solidFill>
                      <a:prstDash val="solid"/>
                    </a:lnR>
                    <a:lnB w="9525">
                      <a:solidFill>
                        <a:srgbClr val="CFDBD7"/>
                      </a:solidFill>
                      <a:prstDash val="solid"/>
                    </a:lnB>
                    <a:solidFill>
                      <a:srgbClr val="EDF2ED"/>
                    </a:solidFill>
                  </a:tcPr>
                </a:tc>
                <a:tc>
                  <a:txBody>
                    <a:bodyPr/>
                    <a:lstStyle/>
                    <a:p>
                      <a:r>
                        <a:rPr sz="1950" b="0">
                          <a:solidFill>
                            <a:srgbClr val="102D35"/>
                          </a:solidFill>
                          <a:latin typeface="Helvetica Neue"/>
                          <a:ea typeface="Helvetica Neue"/>
                          <a:cs typeface="Helvetica Neue"/>
                        </a:rPr>
                        <a:t>256 / 300.000 Einheitenübergänge</a:t>
                      </a:r>
                    </a:p>
                  </a:txBody>
                  <a:tcPr marL="91440" marR="91440" marT="45720" marB="45720">
                    <a:lnR w="9525">
                      <a:solidFill>
                        <a:srgbClr val="CFDBD7"/>
                      </a:solidFill>
                      <a:prstDash val="solid"/>
                    </a:lnR>
                    <a:lnB w="9525">
                      <a:solidFill>
                        <a:srgbClr val="CFDBD7"/>
                      </a:solidFill>
                      <a:prstDash val="solid"/>
                    </a:lnB>
                    <a:solidFill>
                      <a:srgbClr val="EDF2ED"/>
                    </a:solidFill>
                  </a:tcPr>
                </a:tc>
              </a:tr>
              <a:tr h="657225">
                <a:tc>
                  <a:txBody>
                    <a:bodyPr/>
                    <a:lstStyle/>
                    <a:p>
                      <a:r>
                        <a:rPr sz="1950" b="0">
                          <a:solidFill>
                            <a:srgbClr val="102D35"/>
                          </a:solidFill>
                          <a:latin typeface="Helvetica Neue"/>
                          <a:ea typeface="Helvetica Neue"/>
                          <a:cs typeface="Helvetica Neue"/>
                        </a:rPr>
                        <a:t>Lernbeginn / Trainingsintervall</a:t>
                      </a:r>
                    </a:p>
                  </a:txBody>
                  <a:tcPr marL="91440" marR="91440" marT="45720" marB="45720">
                    <a:lnL w="9525">
                      <a:solidFill>
                        <a:srgbClr val="CFDBD7"/>
                      </a:solidFill>
                      <a:prstDash val="solid"/>
                    </a:lnL>
                    <a:lnR w="9525">
                      <a:solidFill>
                        <a:srgbClr val="CFDBD7"/>
                      </a:solidFill>
                      <a:prstDash val="solid"/>
                    </a:lnR>
                    <a:lnB w="9525">
                      <a:solidFill>
                        <a:srgbClr val="CFDBD7"/>
                      </a:solidFill>
                      <a:prstDash val="solid"/>
                    </a:lnB>
                    <a:solidFill>
                      <a:srgbClr val="FFFFFF"/>
                    </a:solidFill>
                  </a:tcPr>
                </a:tc>
                <a:tc>
                  <a:txBody>
                    <a:bodyPr/>
                    <a:lstStyle/>
                    <a:p>
                      <a:r>
                        <a:rPr sz="1950" b="0">
                          <a:solidFill>
                            <a:srgbClr val="102D35"/>
                          </a:solidFill>
                          <a:latin typeface="Helvetica Neue"/>
                          <a:ea typeface="Helvetica Neue"/>
                          <a:cs typeface="Helvetica Neue"/>
                        </a:rPr>
                        <a:t>5.000 Übergänge / alle 2 Umgebungsschritte</a:t>
                      </a:r>
                    </a:p>
                  </a:txBody>
                  <a:tcPr marL="91440" marR="91440" marT="45720" marB="45720">
                    <a:lnR w="9525">
                      <a:solidFill>
                        <a:srgbClr val="CFDBD7"/>
                      </a:solidFill>
                      <a:prstDash val="solid"/>
                    </a:lnR>
                    <a:lnB w="9525">
                      <a:solidFill>
                        <a:srgbClr val="CFDBD7"/>
                      </a:solidFill>
                      <a:prstDash val="solid"/>
                    </a:lnB>
                    <a:solidFill>
                      <a:srgbClr val="FFFFFF"/>
                    </a:solidFill>
                  </a:tcPr>
                </a:tc>
              </a:tr>
              <a:tr h="657225">
                <a:tc>
                  <a:txBody>
                    <a:bodyPr/>
                    <a:lstStyle/>
                    <a:p>
                      <a:r>
                        <a:rPr sz="1950" b="0">
                          <a:solidFill>
                            <a:srgbClr val="102D35"/>
                          </a:solidFill>
                          <a:latin typeface="Helvetica Neue"/>
                          <a:ea typeface="Helvetica Neue"/>
                          <a:cs typeface="Helvetica Neue"/>
                        </a:rPr>
                        <a:t>Target-Kopie</a:t>
                      </a:r>
                    </a:p>
                  </a:txBody>
                  <a:tcPr marL="91440" marR="91440" marT="45720" marB="45720">
                    <a:lnL w="9525">
                      <a:solidFill>
                        <a:srgbClr val="CFDBD7"/>
                      </a:solidFill>
                      <a:prstDash val="solid"/>
                    </a:lnL>
                    <a:lnR w="9525">
                      <a:solidFill>
                        <a:srgbClr val="CFDBD7"/>
                      </a:solidFill>
                      <a:prstDash val="solid"/>
                    </a:lnR>
                    <a:lnB w="9525">
                      <a:solidFill>
                        <a:srgbClr val="CFDBD7"/>
                      </a:solidFill>
                      <a:prstDash val="solid"/>
                    </a:lnB>
                    <a:solidFill>
                      <a:srgbClr val="EDF2ED"/>
                    </a:solidFill>
                  </a:tcPr>
                </a:tc>
                <a:tc>
                  <a:txBody>
                    <a:bodyPr/>
                    <a:lstStyle/>
                    <a:p>
                      <a:r>
                        <a:rPr sz="1950" b="0">
                          <a:solidFill>
                            <a:srgbClr val="102D35"/>
                          </a:solidFill>
                          <a:latin typeface="Helvetica Neue"/>
                          <a:ea typeface="Helvetica Neue"/>
                          <a:cs typeface="Helvetica Neue"/>
                        </a:rPr>
                        <a:t>Alle 500 Lernupdates</a:t>
                      </a:r>
                    </a:p>
                  </a:txBody>
                  <a:tcPr marL="91440" marR="91440" marT="45720" marB="45720">
                    <a:lnR w="9525">
                      <a:solidFill>
                        <a:srgbClr val="CFDBD7"/>
                      </a:solidFill>
                      <a:prstDash val="solid"/>
                    </a:lnR>
                    <a:lnB w="9525">
                      <a:solidFill>
                        <a:srgbClr val="CFDBD7"/>
                      </a:solidFill>
                      <a:prstDash val="solid"/>
                    </a:lnB>
                    <a:solidFill>
                      <a:srgbClr val="EDF2ED"/>
                    </a:solidFill>
                  </a:tcPr>
                </a:tc>
              </a:tr>
              <a:tr h="657225">
                <a:tc>
                  <a:txBody>
                    <a:bodyPr/>
                    <a:lstStyle/>
                    <a:p>
                      <a:r>
                        <a:rPr sz="1950" b="0">
                          <a:solidFill>
                            <a:srgbClr val="102D35"/>
                          </a:solidFill>
                          <a:latin typeface="Helvetica Neue"/>
                          <a:ea typeface="Helvetica Neue"/>
                          <a:cs typeface="Helvetica Neue"/>
                        </a:rPr>
                        <a:t>Exploration im Training</a:t>
                      </a:r>
                    </a:p>
                  </a:txBody>
                  <a:tcPr marL="91440" marR="91440" marT="45720" marB="45720">
                    <a:lnL w="9525">
                      <a:solidFill>
                        <a:srgbClr val="CFDBD7"/>
                      </a:solidFill>
                      <a:prstDash val="solid"/>
                    </a:lnL>
                    <a:lnR w="9525">
                      <a:solidFill>
                        <a:srgbClr val="CFDBD7"/>
                      </a:solidFill>
                      <a:prstDash val="solid"/>
                    </a:lnR>
                    <a:lnB w="9525">
                      <a:solidFill>
                        <a:srgbClr val="CFDBD7"/>
                      </a:solidFill>
                      <a:prstDash val="solid"/>
                    </a:lnB>
                    <a:solidFill>
                      <a:srgbClr val="FFFFFF"/>
                    </a:solidFill>
                  </a:tcPr>
                </a:tc>
                <a:tc>
                  <a:txBody>
                    <a:bodyPr/>
                    <a:lstStyle/>
                    <a:p>
                      <a:r>
                        <a:rPr sz="1950" b="0">
                          <a:solidFill>
                            <a:srgbClr val="102D35"/>
                          </a:solidFill>
                          <a:latin typeface="Helvetica Neue"/>
                          <a:ea typeface="Helvetica Neue"/>
                          <a:cs typeface="Helvetica Neue"/>
                        </a:rPr>
                        <a:t>ε: 1,0 → 0,05 über 60.000 Umgebungsschritte</a:t>
                      </a:r>
                    </a:p>
                  </a:txBody>
                  <a:tcPr marL="91440" marR="91440" marT="45720" marB="45720">
                    <a:lnR w="9525">
                      <a:solidFill>
                        <a:srgbClr val="CFDBD7"/>
                      </a:solidFill>
                      <a:prstDash val="solid"/>
                    </a:lnR>
                    <a:lnB w="9525">
                      <a:solidFill>
                        <a:srgbClr val="CFDBD7"/>
                      </a:solidFill>
                      <a:prstDash val="solid"/>
                    </a:lnB>
                    <a:solidFill>
                      <a:srgbClr val="FFFFFF"/>
                    </a:solidFill>
                  </a:tcPr>
                </a:tc>
              </a:tr>
            </a:tbl>
          </a:graphicData>
        </a:graphic>
      </p:graphicFrame>
    </p:spTree>
    <p:extLst>
      <p:ext uri="{BB962C8B-B14F-4D97-AF65-F5344CB8AC3E}">
        <ns3:creationId val="990433649"/>
      </p:ext>
    </p:extLst>
  </p:cSld>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show="0">
  <p:cSld>
    <p:bg>
      <p:bgPr>
        <a:solidFill>
          <a:srgbClr val="F7F7F0"/>
        </a:solidFill>
      </p:bgPr>
    </p:bg>
    <p:spTree>
      <p:nvGrpSpPr>
        <p:cNvPr id="1" name=""/>
        <p:cNvGrpSpPr/>
        <p:nvPr/>
      </p:nvGrpSpPr>
      <p:grpSpPr>
        <a:xfrm/>
      </p:grpSpPr>
      <p:sp>
        <p:nvSpPr>
          <p:cNvPr id="7" name="ANHANG · NUR FÜR RÜCKFRAGEN">
            <a:extLst>
              <a:ext uri="{FF2B5EF4-FFF2-40B4-BE49-F238E27FC236}">
                <ns2:creationId id="{E59EC4EC-419C-4120-9CCD-4BFE6A1022E3}"/>
              </a:ext>
            </a:extLst>
          </p:cNvPr>
          <p:cNvSpPr>
            <a:spLocks noGrp="1"/>
          </p:cNvSpPr>
          <p:nvPr/>
        </p:nvSpPr>
        <p:spPr>
          <a:xfrm>
            <a:off x="609600" y="266700"/>
            <a:ext cx="8572500" cy="304800"/>
          </a:xfrm>
          <a:prstGeom prst="rect">
            <a:avLst/>
          </a:prstGeom>
          <a:noFill/>
          <a:ln w="0">
            <a:noFill/>
          </a:ln>
        </p:spPr>
        <p:txBody>
          <a:bodyPr/>
          <a:lstStyle>
            <a:defPPr>
              <a:defRPr sz="1350" b="1">
                <a:solidFill>
                  <a:srgbClr val="007D7B"/>
                </a:solidFill>
                <a:latin typeface="Helvetica Neue"/>
                <a:ea typeface="Helvetica Neue"/>
                <a:cs typeface="Helvetica Neue"/>
              </a:defRPr>
            </a:defPPr>
          </a:lstStyle>
          <a:p>
            <a:pPr>
              <a:defRPr sz="1350" b="1">
                <a:solidFill>
                  <a:srgbClr val="007D7B"/>
                </a:solidFill>
                <a:latin typeface="Helvetica Neue"/>
                <a:ea typeface="Helvetica Neue"/>
                <a:cs typeface="Helvetica Neue"/>
              </a:defRPr>
            </a:pPr>
            <a:r>
              <a:rPr sz="1350" b="1">
                <a:solidFill>
                  <a:srgbClr val="007D7B"/>
                </a:solidFill>
                <a:latin typeface="Helvetica Neue"/>
                <a:ea typeface="Helvetica Neue"/>
                <a:cs typeface="Helvetica Neue"/>
              </a:rPr>
              <a:t>ANHANG · NUR FÜR RÜCKFRAGEN</a:t>
            </a:r>
          </a:p>
        </p:txBody>
      </p:sp>
      <p:sp>
        <p:nvSpPr>
          <p:cNvPr id="2" name="Was wird gelernt – und was ist vorgegeben?">
            <a:extLst>
              <a:ext uri="{FF2B5EF4-FFF2-40B4-BE49-F238E27FC236}">
                <ns2:creationId id="{ECD25D0A-D38B-4DFB-AB7A-BCF7584715E7}"/>
              </a:ext>
            </a:extLst>
          </p:cNvPr>
          <p:cNvSpPr>
            <a:spLocks noGrp="1"/>
          </p:cNvSpPr>
          <p:nvPr/>
        </p:nvSpPr>
        <p:spPr>
          <a:xfrm>
            <a:off x="609600" y="781050"/>
            <a:ext cx="10972800" cy="1028700"/>
          </a:xfrm>
          <a:prstGeom prst="rect">
            <a:avLst/>
          </a:prstGeom>
          <a:noFill/>
          <a:ln w="0">
            <a:noFill/>
          </a:ln>
        </p:spPr>
        <p:txBody>
          <a:bodyPr/>
          <a:lstStyle>
            <a:defPPr>
              <a:defRPr sz="3300" b="1">
                <a:solidFill>
                  <a:srgbClr val="102D35"/>
                </a:solidFill>
                <a:latin typeface="Helvetica Neue"/>
                <a:ea typeface="Helvetica Neue"/>
                <a:cs typeface="Helvetica Neue"/>
              </a:defRPr>
            </a:defPPr>
          </a:lstStyle>
          <a:p>
            <a:pPr>
              <a:buNone/>
              <a:defRPr sz="3300" b="1">
                <a:solidFill>
                  <a:srgbClr val="102D35"/>
                </a:solidFill>
                <a:latin typeface="Helvetica Neue"/>
                <a:ea typeface="Helvetica Neue"/>
                <a:cs typeface="Helvetica Neue"/>
              </a:defRPr>
            </a:pPr>
            <a:r>
              <a:rPr sz="3300" b="1">
                <a:solidFill>
                  <a:srgbClr val="102D35"/>
                </a:solidFill>
                <a:latin typeface="Helvetica Neue"/>
                <a:ea typeface="Helvetica Neue"/>
                <a:cs typeface="Helvetica Neue"/>
              </a:rPr>
              <a:t>Gelernt und programmiert</a:t>
            </a:r>
          </a:p>
        </p:txBody>
      </p:sp>
      <p:sp>
        <p:nvSpPr>
          <p:cNvPr id="3" name="Team 15 · Mahmoud El-Hassan &amp; Moayed Shawesh">
            <a:extLst>
              <a:ext uri="{FF2B5EF4-FFF2-40B4-BE49-F238E27FC236}">
                <ns2:creationId id="{BFC3E7A7-2DFF-4AC6-8D0B-764621CF79AE}"/>
              </a:ext>
            </a:extLst>
          </p:cNvPr>
          <p:cNvSpPr>
            <a:spLocks noGrp="1"/>
          </p:cNvSpPr>
          <p:nvPr/>
        </p:nvSpPr>
        <p:spPr>
          <a:xfrm>
            <a:off x="609600" y="6419850"/>
            <a:ext cx="9906000" cy="266700"/>
          </a:xfrm>
          <a:prstGeom prst="rect">
            <a:avLst/>
          </a:prstGeom>
          <a:noFill/>
          <a:ln w="0">
            <a:noFill/>
          </a:ln>
        </p:spPr>
        <p:txBody>
          <a:bodyPr/>
          <a:lstStyle>
            <a:defPPr>
              <a:defRPr sz="1200" b="0">
                <a:solidFill>
                  <a:srgbClr val="526B70"/>
                </a:solidFill>
                <a:latin typeface="Helvetica Neue"/>
                <a:ea typeface="Helvetica Neue"/>
                <a:cs typeface="Helvetica Neue"/>
              </a:defRPr>
            </a:defPPr>
          </a:lstStyle>
          <a:p>
            <a:pPr>
              <a:defRPr sz="1200" b="0">
                <a:solidFill>
                  <a:srgbClr val="526B70"/>
                </a:solidFill>
                <a:latin typeface="Helvetica Neue"/>
                <a:ea typeface="Helvetica Neue"/>
                <a:cs typeface="Helvetica Neue"/>
              </a:defRPr>
            </a:pPr>
            <a:r>
              <a:rPr sz="1200" b="0">
                <a:solidFill>
                  <a:srgbClr val="526B70"/>
                </a:solidFill>
                <a:latin typeface="Helvetica Neue"/>
                <a:ea typeface="Helvetica Neue"/>
                <a:cs typeface="Helvetica Neue"/>
              </a:rPr>
              <a:t>Team 15 · Mahmoud El-Hassan &amp; Moayed Shawesh</a:t>
            </a:r>
          </a:p>
        </p:txBody>
      </p:sp>
      <p:sp>
        <p:nvSpPr>
          <p:cNvPr id="4" name="13">
            <a:extLst>
              <a:ext uri="{FF2B5EF4-FFF2-40B4-BE49-F238E27FC236}">
                <ns2:creationId id="{FAA950BE-A905-442D-9E9B-FAF916D99A96}"/>
              </a:ext>
            </a:extLst>
          </p:cNvPr>
          <p:cNvSpPr>
            <a:spLocks noGrp="1"/>
          </p:cNvSpPr>
          <p:nvPr/>
        </p:nvSpPr>
        <p:spPr>
          <a:xfrm>
            <a:off x="11049000" y="6419850"/>
            <a:ext cx="533400" cy="266700"/>
          </a:xfrm>
          <a:prstGeom prst="rect">
            <a:avLst/>
          </a:prstGeom>
          <a:noFill/>
          <a:ln w="0">
            <a:noFill/>
          </a:ln>
        </p:spPr>
        <p:txBody>
          <a:bodyPr/>
          <a:lstStyle>
            <a:defPPr>
              <a:defRPr sz="1200" b="0">
                <a:solidFill>
                  <a:srgbClr val="526B70"/>
                </a:solidFill>
                <a:latin typeface="Helvetica Neue"/>
                <a:ea typeface="Helvetica Neue"/>
                <a:cs typeface="Helvetica Neue"/>
              </a:defRPr>
            </a:defPPr>
          </a:lstStyle>
          <a:p>
            <a:pPr>
              <a:defRPr sz="1200" b="0">
                <a:solidFill>
                  <a:srgbClr val="526B70"/>
                </a:solidFill>
                <a:latin typeface="Helvetica Neue"/>
                <a:ea typeface="Helvetica Neue"/>
                <a:cs typeface="Helvetica Neue"/>
              </a:defRPr>
            </a:pPr>
            <a:r>
              <a:rPr sz="1200" b="0">
                <a:solidFill>
                  <a:srgbClr val="526B70"/>
                </a:solidFill>
                <a:latin typeface="Helvetica Neue"/>
                <a:ea typeface="Helvetica Neue"/>
                <a:cs typeface="Helvetica Neue"/>
              </a:rPr>
              <a:t>14</a:t>
            </a:r>
          </a:p>
        </p:txBody>
      </p:sp>
      <p:graphicFrame>
        <p:nvGraphicFramePr>
          <p:cNvPr id="5" name="">
            <a:extLst>
              <a:ext uri="{FF2B5EF4-FFF2-40B4-BE49-F238E27FC236}">
                <ns2:creationId id="{FBACD6E0-199C-4746-9FAC-E1E9396F5178}"/>
              </a:ext>
            </a:extLst>
          </p:cNvPr>
          <p:cNvGraphicFramePr/>
          <p:nvPr/>
        </p:nvGraphicFramePr>
        <p:xfrm>
          <a:off x="609600" y="2009775"/>
          <a:ext cx="10972800" cy="3219450"/>
        </p:xfrm>
        <a:graphic>
          <a:graphicData uri="http://schemas.openxmlformats.org/drawingml/2006/table">
            <a:tbl>
              <a:tblPr/>
              <a:tblGrid>
                <a:gridCol w="5048250"/>
                <a:gridCol w="5924550"/>
              </a:tblGrid>
              <a:tr h="643890">
                <a:tc>
                  <a:txBody>
                    <a:bodyPr/>
                    <a:lstStyle/>
                    <a:p>
                      <a:r>
                        <a:rPr sz="2100" b="1">
                          <a:solidFill>
                            <a:srgbClr val="FFFFFF"/>
                          </a:solidFill>
                          <a:latin typeface="Helvetica Neue"/>
                          <a:ea typeface="Helvetica Neue"/>
                          <a:cs typeface="Helvetica Neue"/>
                        </a:rPr>
                        <a:t>Gelernt</a:t>
                      </a:r>
                    </a:p>
                  </a:txBody>
                  <a:tcPr marL="91440" marR="91440" marT="45720" marB="45720">
                    <a:lnL w="9525">
                      <a:solidFill>
                        <a:srgbClr val="CFDBD7"/>
                      </a:solidFill>
                      <a:prstDash val="solid"/>
                    </a:lnL>
                    <a:lnR w="9525">
                      <a:solidFill>
                        <a:srgbClr val="CFDBD7"/>
                      </a:solidFill>
                      <a:prstDash val="solid"/>
                    </a:lnR>
                    <a:lnT w="9525">
                      <a:solidFill>
                        <a:srgbClr val="CFDBD7"/>
                      </a:solidFill>
                      <a:prstDash val="solid"/>
                    </a:lnT>
                    <a:lnB w="9525">
                      <a:solidFill>
                        <a:srgbClr val="CFDBD7"/>
                      </a:solidFill>
                      <a:prstDash val="solid"/>
                    </a:lnB>
                    <a:solidFill>
                      <a:srgbClr val="102D35"/>
                    </a:solidFill>
                  </a:tcPr>
                </a:tc>
                <a:tc>
                  <a:txBody>
                    <a:bodyPr/>
                    <a:lstStyle/>
                    <a:p>
                      <a:r>
                        <a:rPr sz="2100" b="1">
                          <a:solidFill>
                            <a:srgbClr val="FFFFFF"/>
                          </a:solidFill>
                          <a:latin typeface="Helvetica Neue"/>
                          <a:ea typeface="Helvetica Neue"/>
                          <a:cs typeface="Helvetica Neue"/>
                        </a:rPr>
                        <a:t>Programmiert / festgelegt</a:t>
                      </a:r>
                    </a:p>
                  </a:txBody>
                  <a:tcPr marL="91440" marR="91440" marT="45720" marB="45720">
                    <a:lnR w="9525">
                      <a:solidFill>
                        <a:srgbClr val="CFDBD7"/>
                      </a:solidFill>
                      <a:prstDash val="solid"/>
                    </a:lnR>
                    <a:lnT w="9525">
                      <a:solidFill>
                        <a:srgbClr val="CFDBD7"/>
                      </a:solidFill>
                      <a:prstDash val="solid"/>
                    </a:lnT>
                    <a:lnB w="9525">
                      <a:solidFill>
                        <a:srgbClr val="CFDBD7"/>
                      </a:solidFill>
                      <a:prstDash val="solid"/>
                    </a:lnB>
                    <a:solidFill>
                      <a:srgbClr val="102D35"/>
                    </a:solidFill>
                  </a:tcPr>
                </a:tc>
              </a:tr>
              <a:tr h="643890">
                <a:tc>
                  <a:txBody>
                    <a:bodyPr/>
                    <a:lstStyle/>
                    <a:p>
                      <a:r>
                        <a:rPr sz="2100" b="0">
                          <a:solidFill>
                            <a:srgbClr val="102D35"/>
                          </a:solidFill>
                          <a:latin typeface="Helvetica Neue"/>
                          <a:ea typeface="Helvetica Neue"/>
                          <a:cs typeface="Helvetica Neue"/>
                        </a:rPr>
                        <a:t>Q-Werte und Aktionspräferenzen</a:t>
                      </a:r>
                    </a:p>
                  </a:txBody>
                  <a:tcPr marL="91440" marR="91440" marT="45720" marB="45720">
                    <a:lnL w="9525">
                      <a:solidFill>
                        <a:srgbClr val="CFDBD7"/>
                      </a:solidFill>
                      <a:prstDash val="solid"/>
                    </a:lnL>
                    <a:lnR w="9525">
                      <a:solidFill>
                        <a:srgbClr val="CFDBD7"/>
                      </a:solidFill>
                      <a:prstDash val="solid"/>
                    </a:lnR>
                    <a:lnB w="9525">
                      <a:solidFill>
                        <a:srgbClr val="CFDBD7"/>
                      </a:solidFill>
                      <a:prstDash val="solid"/>
                    </a:lnB>
                    <a:solidFill>
                      <a:srgbClr val="FFFFFF"/>
                    </a:solidFill>
                  </a:tcPr>
                </a:tc>
                <a:tc>
                  <a:txBody>
                    <a:bodyPr/>
                    <a:lstStyle/>
                    <a:p>
                      <a:r>
                        <a:rPr sz="2100" b="0">
                          <a:solidFill>
                            <a:srgbClr val="102D35"/>
                          </a:solidFill>
                          <a:latin typeface="Helvetica Neue"/>
                          <a:ea typeface="Helvetica Neue"/>
                          <a:cs typeface="Helvetica Neue"/>
                        </a:rPr>
                        <a:t>Belief, Merkmale und Reward Shaping</a:t>
                      </a:r>
                    </a:p>
                  </a:txBody>
                  <a:tcPr marL="91440" marR="91440" marT="45720" marB="45720">
                    <a:lnR w="9525">
                      <a:solidFill>
                        <a:srgbClr val="CFDBD7"/>
                      </a:solidFill>
                      <a:prstDash val="solid"/>
                    </a:lnR>
                    <a:lnB w="9525">
                      <a:solidFill>
                        <a:srgbClr val="CFDBD7"/>
                      </a:solidFill>
                      <a:prstDash val="solid"/>
                    </a:lnB>
                    <a:solidFill>
                      <a:srgbClr val="FFFFFF"/>
                    </a:solidFill>
                  </a:tcPr>
                </a:tc>
              </a:tr>
              <a:tr h="643890">
                <a:tc>
                  <a:txBody>
                    <a:bodyPr/>
                    <a:lstStyle/>
                    <a:p>
                      <a:r>
                        <a:rPr sz="2100" b="0">
                          <a:solidFill>
                            <a:srgbClr val="102D35"/>
                          </a:solidFill>
                          <a:latin typeface="Helvetica Neue"/>
                          <a:ea typeface="Helvetica Neue"/>
                          <a:cs typeface="Helvetica Neue"/>
                        </a:rPr>
                        <a:t>Gewichte der sechs Netze</a:t>
                      </a:r>
                    </a:p>
                  </a:txBody>
                  <a:tcPr marL="91440" marR="91440" marT="45720" marB="45720">
                    <a:lnL w="9525">
                      <a:solidFill>
                        <a:srgbClr val="CFDBD7"/>
                      </a:solidFill>
                      <a:prstDash val="solid"/>
                    </a:lnL>
                    <a:lnR w="9525">
                      <a:solidFill>
                        <a:srgbClr val="CFDBD7"/>
                      </a:solidFill>
                      <a:prstDash val="solid"/>
                    </a:lnR>
                    <a:lnB w="9525">
                      <a:solidFill>
                        <a:srgbClr val="CFDBD7"/>
                      </a:solidFill>
                      <a:prstDash val="solid"/>
                    </a:lnB>
                    <a:solidFill>
                      <a:srgbClr val="EDF2ED"/>
                    </a:solidFill>
                  </a:tcPr>
                </a:tc>
                <a:tc>
                  <a:txBody>
                    <a:bodyPr/>
                    <a:lstStyle/>
                    <a:p>
                      <a:r>
                        <a:rPr sz="2100" b="0">
                          <a:solidFill>
                            <a:srgbClr val="102D35"/>
                          </a:solidFill>
                          <a:latin typeface="Helvetica Neue"/>
                          <a:ea typeface="Helvetica Neue"/>
                          <a:cs typeface="Helvetica Neue"/>
                        </a:rPr>
                        <a:t>Zielzuweisung und erlaubte Aktionen</a:t>
                      </a:r>
                    </a:p>
                  </a:txBody>
                  <a:tcPr marL="91440" marR="91440" marT="45720" marB="45720">
                    <a:lnR w="9525">
                      <a:solidFill>
                        <a:srgbClr val="CFDBD7"/>
                      </a:solidFill>
                      <a:prstDash val="solid"/>
                    </a:lnR>
                    <a:lnB w="9525">
                      <a:solidFill>
                        <a:srgbClr val="CFDBD7"/>
                      </a:solidFill>
                      <a:prstDash val="solid"/>
                    </a:lnB>
                    <a:solidFill>
                      <a:srgbClr val="EDF2ED"/>
                    </a:solidFill>
                  </a:tcPr>
                </a:tc>
              </a:tr>
              <a:tr h="643890">
                <a:tc>
                  <a:txBody>
                    <a:bodyPr/>
                    <a:lstStyle/>
                    <a:p>
                      <a:r>
                        <a:rPr sz="2100" b="0">
                          <a:solidFill>
                            <a:srgbClr val="102D35"/>
                          </a:solidFill>
                          <a:latin typeface="Helvetica Neue"/>
                          <a:ea typeface="Helvetica Neue"/>
                          <a:cs typeface="Helvetica Neue"/>
                        </a:rPr>
                        <a:t>Bewertung der Aktion Sap</a:t>
                      </a:r>
                    </a:p>
                  </a:txBody>
                  <a:tcPr marL="91440" marR="91440" marT="45720" marB="45720">
                    <a:lnL w="9525">
                      <a:solidFill>
                        <a:srgbClr val="CFDBD7"/>
                      </a:solidFill>
                      <a:prstDash val="solid"/>
                    </a:lnL>
                    <a:lnR w="9525">
                      <a:solidFill>
                        <a:srgbClr val="CFDBD7"/>
                      </a:solidFill>
                      <a:prstDash val="solid"/>
                    </a:lnR>
                    <a:lnB w="9525">
                      <a:solidFill>
                        <a:srgbClr val="CFDBD7"/>
                      </a:solidFill>
                      <a:prstDash val="solid"/>
                    </a:lnB>
                    <a:solidFill>
                      <a:srgbClr val="FFFFFF"/>
                    </a:solidFill>
                  </a:tcPr>
                </a:tc>
                <a:tc>
                  <a:txBody>
                    <a:bodyPr/>
                    <a:lstStyle/>
                    <a:p>
                      <a:r>
                        <a:rPr sz="2100" b="0">
                          <a:solidFill>
                            <a:srgbClr val="102D35"/>
                          </a:solidFill>
                          <a:latin typeface="Helvetica Neue"/>
                          <a:ea typeface="Helvetica Neue"/>
                          <a:cs typeface="Helvetica Neue"/>
                        </a:rPr>
                        <a:t>Konkretes Sap-Ziel</a:t>
                      </a:r>
                    </a:p>
                  </a:txBody>
                  <a:tcPr marL="91440" marR="91440" marT="45720" marB="45720">
                    <a:lnR w="9525">
                      <a:solidFill>
                        <a:srgbClr val="CFDBD7"/>
                      </a:solidFill>
                      <a:prstDash val="solid"/>
                    </a:lnR>
                    <a:lnB w="9525">
                      <a:solidFill>
                        <a:srgbClr val="CFDBD7"/>
                      </a:solidFill>
                      <a:prstDash val="solid"/>
                    </a:lnB>
                    <a:solidFill>
                      <a:srgbClr val="FFFFFF"/>
                    </a:solidFill>
                  </a:tcPr>
                </a:tc>
              </a:tr>
              <a:tr h="643890">
                <a:tc>
                  <a:txBody>
                    <a:bodyPr/>
                    <a:lstStyle/>
                    <a:p>
                      <a:r>
                        <a:rPr sz="2100" b="0">
                          <a:solidFill>
                            <a:srgbClr val="102D35"/>
                          </a:solidFill>
                          <a:latin typeface="Helvetica Neue"/>
                          <a:ea typeface="Helvetica Neue"/>
                          <a:cs typeface="Helvetica Neue"/>
                        </a:rPr>
                        <a:t>Entscheidung aus Netzbewertungen</a:t>
                      </a:r>
                    </a:p>
                  </a:txBody>
                  <a:tcPr marL="91440" marR="91440" marT="45720" marB="45720">
                    <a:lnL w="9525">
                      <a:solidFill>
                        <a:srgbClr val="CFDBD7"/>
                      </a:solidFill>
                      <a:prstDash val="solid"/>
                    </a:lnL>
                    <a:lnR w="9525">
                      <a:solidFill>
                        <a:srgbClr val="CFDBD7"/>
                      </a:solidFill>
                      <a:prstDash val="solid"/>
                    </a:lnR>
                    <a:lnB w="9525">
                      <a:solidFill>
                        <a:srgbClr val="CFDBD7"/>
                      </a:solidFill>
                      <a:prstDash val="solid"/>
                    </a:lnB>
                    <a:solidFill>
                      <a:srgbClr val="EDF2ED"/>
                    </a:solidFill>
                  </a:tcPr>
                </a:tc>
                <a:tc>
                  <a:txBody>
                    <a:bodyPr/>
                    <a:lstStyle/>
                    <a:p>
                      <a:r>
                        <a:rPr sz="2100" b="0">
                          <a:solidFill>
                            <a:srgbClr val="102D35"/>
                          </a:solidFill>
                          <a:latin typeface="Helvetica Neue"/>
                          <a:ea typeface="Helvetica Neue"/>
                          <a:cs typeface="Helvetica Neue"/>
                        </a:rPr>
                        <a:t>Mittelwertbildung im Ensemble</a:t>
                      </a:r>
                    </a:p>
                  </a:txBody>
                  <a:tcPr marL="91440" marR="91440" marT="45720" marB="45720">
                    <a:lnR w="9525">
                      <a:solidFill>
                        <a:srgbClr val="CFDBD7"/>
                      </a:solidFill>
                      <a:prstDash val="solid"/>
                    </a:lnR>
                    <a:lnB w="9525">
                      <a:solidFill>
                        <a:srgbClr val="CFDBD7"/>
                      </a:solidFill>
                      <a:prstDash val="solid"/>
                    </a:lnB>
                    <a:solidFill>
                      <a:srgbClr val="EDF2ED"/>
                    </a:solidFill>
                  </a:tcPr>
                </a:tc>
              </a:tr>
            </a:tbl>
          </a:graphicData>
        </a:graphic>
      </p:graphicFrame>
      <p:sp>
        <p:nvSpPr>
          <p:cNvPr id="6" name="Double DQN = Lernverfahren · Dueling = Archit">
            <a:extLst>
              <a:ext uri="{FF2B5EF4-FFF2-40B4-BE49-F238E27FC236}">
                <ns2:creationId id="{0B522DC7-02EC-4CC4-81AC-35CCCA5A35FC}"/>
              </a:ext>
            </a:extLst>
          </p:cNvPr>
          <p:cNvSpPr>
            <a:spLocks noGrp="1"/>
          </p:cNvSpPr>
          <p:nvPr/>
        </p:nvSpPr>
        <p:spPr>
          <a:xfrm>
            <a:off x="609600" y="5591175"/>
            <a:ext cx="10972800" cy="619125"/>
          </a:xfrm>
          <a:prstGeom prst="rect">
            <a:avLst/>
          </a:prstGeom>
          <a:noFill/>
          <a:ln w="0">
            <a:noFill/>
          </a:ln>
        </p:spPr>
        <p:txBody>
          <a:bodyPr/>
          <a:lstStyle>
            <a:defPPr>
              <a:defRPr sz="1875" b="1">
                <a:solidFill>
                  <a:srgbClr val="007D7B"/>
                </a:solidFill>
                <a:latin typeface="Helvetica Neue"/>
                <a:ea typeface="Helvetica Neue"/>
                <a:cs typeface="Helvetica Neue"/>
              </a:defRPr>
            </a:defPPr>
          </a:lstStyle>
          <a:p>
            <a:pPr>
              <a:defRPr sz="1875" b="1">
                <a:solidFill>
                  <a:srgbClr val="007D7B"/>
                </a:solidFill>
                <a:latin typeface="Helvetica Neue"/>
                <a:ea typeface="Helvetica Neue"/>
                <a:cs typeface="Helvetica Neue"/>
              </a:defRPr>
            </a:pPr>
            <a:r>
              <a:rPr sz="1875" b="1">
                <a:solidFill>
                  <a:srgbClr val="007D7B"/>
                </a:solidFill>
                <a:latin typeface="Helvetica Neue"/>
                <a:ea typeface="Helvetica Neue"/>
                <a:cs typeface="Helvetica Neue"/>
              </a:rPr>
              <a:t>Double DQN = Lernverfahren · Dueling = Architektur · Ensemble = Kombination</a:t>
            </a:r>
          </a:p>
        </p:txBody>
      </p:sp>
    </p:spTree>
    <p:extLst>
      <p:ext uri="{BB962C8B-B14F-4D97-AF65-F5344CB8AC3E}">
        <ns3:creationId val="1912578200"/>
      </p:ext>
    </p:extLst>
  </p:cSld>
</p:sld>
</file>

<file path=ppt/slides/slide15.xml><?xml version="1.0" encoding="utf-8"?>
<p:sld xmlns:a="http://schemas.openxmlformats.org/drawingml/2006/main" xmlns:ns2="http://schemas.microsoft.com/office/drawing/2014/main" xmlns:ns3="http://schemas.microsoft.com/office/powerpoint/2010/main" xmlns:p="http://schemas.openxmlformats.org/presentationml/2006/main" show="0">
  <p:cSld>
    <p:bg>
      <p:bgPr>
        <a:solidFill>
          <a:srgbClr val="F7F7F0"/>
        </a:solidFill>
      </p:bgPr>
    </p:bg>
    <p:spTree>
      <p:nvGrpSpPr>
        <p:cNvPr id="1" name=""/>
        <p:cNvGrpSpPr/>
        <p:nvPr/>
      </p:nvGrpSpPr>
      <p:grpSpPr>
        <a:xfrm/>
      </p:grpSpPr>
      <p:sp>
        <p:nvSpPr>
          <p:cNvPr id="6" name="ANHANG · NUR FÜR RÜCKFRAGEN">
            <a:extLst>
              <a:ext uri="{FF2B5EF4-FFF2-40B4-BE49-F238E27FC236}">
                <ns2:creationId id="{F34C4FBC-18B6-4CC2-A8C1-AE2938ADB76B}"/>
              </a:ext>
            </a:extLst>
          </p:cNvPr>
          <p:cNvSpPr>
            <a:spLocks noGrp="1"/>
          </p:cNvSpPr>
          <p:nvPr/>
        </p:nvSpPr>
        <p:spPr>
          <a:xfrm>
            <a:off x="609600" y="266700"/>
            <a:ext cx="8572500" cy="304800"/>
          </a:xfrm>
          <a:prstGeom prst="rect">
            <a:avLst/>
          </a:prstGeom>
          <a:noFill/>
          <a:ln w="0">
            <a:noFill/>
          </a:ln>
        </p:spPr>
        <p:txBody>
          <a:bodyPr/>
          <a:lstStyle>
            <a:defPPr>
              <a:defRPr sz="1350" b="1">
                <a:solidFill>
                  <a:srgbClr val="007D7B"/>
                </a:solidFill>
                <a:latin typeface="Helvetica Neue"/>
                <a:ea typeface="Helvetica Neue"/>
                <a:cs typeface="Helvetica Neue"/>
              </a:defRPr>
            </a:defPPr>
          </a:lstStyle>
          <a:p>
            <a:pPr>
              <a:defRPr sz="1350" b="1">
                <a:solidFill>
                  <a:srgbClr val="007D7B"/>
                </a:solidFill>
                <a:latin typeface="Helvetica Neue"/>
                <a:ea typeface="Helvetica Neue"/>
                <a:cs typeface="Helvetica Neue"/>
              </a:defRPr>
            </a:pPr>
            <a:r>
              <a:rPr sz="1350" b="1">
                <a:solidFill>
                  <a:srgbClr val="007D7B"/>
                </a:solidFill>
                <a:latin typeface="Helvetica Neue"/>
                <a:ea typeface="Helvetica Neue"/>
                <a:cs typeface="Helvetica Neue"/>
              </a:rPr>
              <a:t>ANHANG · NUR FÜR RÜCKFRAGEN</a:t>
            </a:r>
          </a:p>
        </p:txBody>
      </p:sp>
      <p:sp>
        <p:nvSpPr>
          <p:cNvPr id="2" name="Trainingsparameter zum Nachschlagen">
            <a:extLst>
              <a:ext uri="{FF2B5EF4-FFF2-40B4-BE49-F238E27FC236}">
                <ns2:creationId id="{854FBA0B-D65C-4E95-A0B3-B65B9DA638CE}"/>
              </a:ext>
            </a:extLst>
          </p:cNvPr>
          <p:cNvSpPr>
            <a:spLocks noGrp="1"/>
          </p:cNvSpPr>
          <p:nvPr/>
        </p:nvSpPr>
        <p:spPr>
          <a:xfrm>
            <a:off x="609600" y="781050"/>
            <a:ext cx="10972800" cy="1028700"/>
          </a:xfrm>
          <a:prstGeom prst="rect">
            <a:avLst/>
          </a:prstGeom>
          <a:noFill/>
          <a:ln w="0">
            <a:noFill/>
          </a:ln>
        </p:spPr>
        <p:txBody>
          <a:bodyPr/>
          <a:lstStyle>
            <a:defPPr>
              <a:defRPr sz="3300" b="1">
                <a:solidFill>
                  <a:srgbClr val="102D35"/>
                </a:solidFill>
                <a:latin typeface="Helvetica Neue"/>
                <a:ea typeface="Helvetica Neue"/>
                <a:cs typeface="Helvetica Neue"/>
              </a:defRPr>
            </a:defPPr>
          </a:lstStyle>
          <a:p>
            <a:pPr>
              <a:buNone/>
              <a:defRPr sz="3300" b="1">
                <a:solidFill>
                  <a:srgbClr val="102D35"/>
                </a:solidFill>
                <a:latin typeface="Helvetica Neue"/>
                <a:ea typeface="Helvetica Neue"/>
                <a:cs typeface="Helvetica Neue"/>
              </a:defRPr>
            </a:pPr>
            <a:r>
              <a:rPr sz="3300" b="1">
                <a:solidFill>
                  <a:srgbClr val="102D35"/>
                </a:solidFill>
                <a:latin typeface="Helvetica Neue"/>
                <a:ea typeface="Helvetica Neue"/>
                <a:cs typeface="Helvetica Neue"/>
              </a:rPr>
              <a:t>Belohnung im Training</a:t>
            </a:r>
          </a:p>
        </p:txBody>
      </p:sp>
      <p:sp>
        <p:nvSpPr>
          <p:cNvPr id="3" name="Team 15 · Mahmoud El-Hassan &amp; Moayed Shawesh">
            <a:extLst>
              <a:ext uri="{FF2B5EF4-FFF2-40B4-BE49-F238E27FC236}">
                <ns2:creationId id="{14489D25-722B-49BF-BFE9-2288786330B5}"/>
              </a:ext>
            </a:extLst>
          </p:cNvPr>
          <p:cNvSpPr>
            <a:spLocks noGrp="1"/>
          </p:cNvSpPr>
          <p:nvPr/>
        </p:nvSpPr>
        <p:spPr>
          <a:xfrm>
            <a:off x="609600" y="6419850"/>
            <a:ext cx="9906000" cy="266700"/>
          </a:xfrm>
          <a:prstGeom prst="rect">
            <a:avLst/>
          </a:prstGeom>
          <a:noFill/>
          <a:ln w="0">
            <a:noFill/>
          </a:ln>
        </p:spPr>
        <p:txBody>
          <a:bodyPr/>
          <a:lstStyle>
            <a:defPPr>
              <a:defRPr sz="1200" b="0">
                <a:solidFill>
                  <a:srgbClr val="526B70"/>
                </a:solidFill>
                <a:latin typeface="Helvetica Neue"/>
                <a:ea typeface="Helvetica Neue"/>
                <a:cs typeface="Helvetica Neue"/>
              </a:defRPr>
            </a:defPPr>
          </a:lstStyle>
          <a:p>
            <a:pPr>
              <a:defRPr sz="1200" b="0">
                <a:solidFill>
                  <a:srgbClr val="526B70"/>
                </a:solidFill>
                <a:latin typeface="Helvetica Neue"/>
                <a:ea typeface="Helvetica Neue"/>
                <a:cs typeface="Helvetica Neue"/>
              </a:defRPr>
            </a:pPr>
            <a:r>
              <a:rPr sz="1200" b="0">
                <a:solidFill>
                  <a:srgbClr val="526B70"/>
                </a:solidFill>
                <a:latin typeface="Helvetica Neue"/>
                <a:ea typeface="Helvetica Neue"/>
                <a:cs typeface="Helvetica Neue"/>
              </a:rPr>
              <a:t>Team 15 · Mahmoud El-Hassan &amp; Moayed Shawesh</a:t>
            </a:r>
          </a:p>
        </p:txBody>
      </p:sp>
      <p:sp>
        <p:nvSpPr>
          <p:cNvPr id="4" name="12">
            <a:extLst>
              <a:ext uri="{FF2B5EF4-FFF2-40B4-BE49-F238E27FC236}">
                <ns2:creationId id="{8F02A6D8-B2DE-4687-AA59-00FEB49481AD}"/>
              </a:ext>
            </a:extLst>
          </p:cNvPr>
          <p:cNvSpPr>
            <a:spLocks noGrp="1"/>
          </p:cNvSpPr>
          <p:nvPr/>
        </p:nvSpPr>
        <p:spPr>
          <a:xfrm>
            <a:off x="11049000" y="6419850"/>
            <a:ext cx="533400" cy="266700"/>
          </a:xfrm>
          <a:prstGeom prst="rect">
            <a:avLst/>
          </a:prstGeom>
          <a:noFill/>
          <a:ln w="0">
            <a:noFill/>
          </a:ln>
        </p:spPr>
        <p:txBody>
          <a:bodyPr/>
          <a:lstStyle>
            <a:defPPr>
              <a:defRPr sz="1200" b="0">
                <a:solidFill>
                  <a:srgbClr val="526B70"/>
                </a:solidFill>
                <a:latin typeface="Helvetica Neue"/>
                <a:ea typeface="Helvetica Neue"/>
                <a:cs typeface="Helvetica Neue"/>
              </a:defRPr>
            </a:defPPr>
          </a:lstStyle>
          <a:p>
            <a:pPr>
              <a:defRPr sz="1200" b="0">
                <a:solidFill>
                  <a:srgbClr val="526B70"/>
                </a:solidFill>
                <a:latin typeface="Helvetica Neue"/>
                <a:ea typeface="Helvetica Neue"/>
                <a:cs typeface="Helvetica Neue"/>
              </a:defRPr>
            </a:pPr>
            <a:r>
              <a:rPr sz="1200" b="0">
                <a:solidFill>
                  <a:srgbClr val="526B70"/>
                </a:solidFill>
                <a:latin typeface="Helvetica Neue"/>
                <a:ea typeface="Helvetica Neue"/>
                <a:cs typeface="Helvetica Neue"/>
              </a:rPr>
              <a:t>15</a:t>
            </a:r>
          </a:p>
        </p:txBody>
      </p:sp>
      <p:graphicFrame>
        <p:nvGraphicFramePr>
          <p:cNvPr id="5" name="">
            <a:extLst>
              <a:ext uri="{FF2B5EF4-FFF2-40B4-BE49-F238E27FC236}">
                <ns2:creationId id="{F2640AFA-9FE6-443F-9020-275C98B0F2D7}"/>
              </a:ext>
            </a:extLst>
          </p:cNvPr>
          <p:cNvGraphicFramePr/>
          <p:nvPr/>
        </p:nvGraphicFramePr>
        <p:xfrm>
          <a:off x="609600" y="1943100"/>
          <a:ext cx="10972800" cy="3943350"/>
        </p:xfrm>
        <a:graphic>
          <a:graphicData uri="http://schemas.openxmlformats.org/drawingml/2006/table">
            <a:tbl>
              <a:tblPr/>
              <a:tblGrid>
                <a:gridCol w="7315200"/>
                <a:gridCol w="3657600"/>
              </a:tblGrid>
              <a:tr h="438150">
                <a:tc>
                  <a:txBody>
                    <a:bodyPr/>
                    <a:lstStyle/>
                    <a:p>
                      <a:r>
                        <a:rPr sz="1950" b="1">
                          <a:solidFill>
                            <a:srgbClr val="FFFFFF"/>
                          </a:solidFill>
                          <a:latin typeface="Helvetica Neue"/>
                          <a:ea typeface="Helvetica Neue"/>
                          <a:cs typeface="Helvetica Neue"/>
                        </a:rPr>
                        <a:t>Signal je Einheit und Schritt</a:t>
                      </a:r>
                    </a:p>
                  </a:txBody>
                  <a:tcPr marL="91440" marR="91440" marT="45720" marB="45720">
                    <a:lnL w="9525">
                      <a:solidFill>
                        <a:srgbClr val="CFDBD7"/>
                      </a:solidFill>
                      <a:prstDash val="solid"/>
                    </a:lnL>
                    <a:lnR w="9525">
                      <a:solidFill>
                        <a:srgbClr val="CFDBD7"/>
                      </a:solidFill>
                      <a:prstDash val="solid"/>
                    </a:lnR>
                    <a:lnT w="9525">
                      <a:solidFill>
                        <a:srgbClr val="CFDBD7"/>
                      </a:solidFill>
                      <a:prstDash val="solid"/>
                    </a:lnT>
                    <a:lnB w="9525">
                      <a:solidFill>
                        <a:srgbClr val="CFDBD7"/>
                      </a:solidFill>
                      <a:prstDash val="solid"/>
                    </a:lnB>
                    <a:solidFill>
                      <a:srgbClr val="102D35"/>
                    </a:solidFill>
                  </a:tcPr>
                </a:tc>
                <a:tc>
                  <a:txBody>
                    <a:bodyPr/>
                    <a:lstStyle/>
                    <a:p>
                      <a:r>
                        <a:rPr sz="1950" b="1">
                          <a:solidFill>
                            <a:srgbClr val="FFFFFF"/>
                          </a:solidFill>
                          <a:latin typeface="Helvetica Neue"/>
                          <a:ea typeface="Helvetica Neue"/>
                          <a:cs typeface="Helvetica Neue"/>
                        </a:rPr>
                        <a:t>Gewicht</a:t>
                      </a:r>
                    </a:p>
                  </a:txBody>
                  <a:tcPr marL="91440" marR="91440" marT="45720" marB="45720">
                    <a:lnR w="9525">
                      <a:solidFill>
                        <a:srgbClr val="CFDBD7"/>
                      </a:solidFill>
                      <a:prstDash val="solid"/>
                    </a:lnR>
                    <a:lnT w="9525">
                      <a:solidFill>
                        <a:srgbClr val="CFDBD7"/>
                      </a:solidFill>
                      <a:prstDash val="solid"/>
                    </a:lnT>
                    <a:lnB w="9525">
                      <a:solidFill>
                        <a:srgbClr val="CFDBD7"/>
                      </a:solidFill>
                      <a:prstDash val="solid"/>
                    </a:lnB>
                    <a:solidFill>
                      <a:srgbClr val="102D35"/>
                    </a:solidFill>
                  </a:tcPr>
                </a:tc>
              </a:tr>
              <a:tr h="438150">
                <a:tc>
                  <a:txBody>
                    <a:bodyPr/>
                    <a:lstStyle/>
                    <a:p>
                      <a:r>
                        <a:rPr sz="1950" b="0">
                          <a:solidFill>
                            <a:srgbClr val="102D35"/>
                          </a:solidFill>
                          <a:latin typeface="Helvetica Neue"/>
                          <a:ea typeface="Helvetica Neue"/>
                          <a:cs typeface="Helvetica Neue"/>
                        </a:rPr>
                        <a:t>Erste Einheit auf bewiesenem Punktefeld</a:t>
                      </a:r>
                    </a:p>
                  </a:txBody>
                  <a:tcPr marL="91440" marR="91440" marT="45720" marB="45720">
                    <a:lnL w="9525">
                      <a:solidFill>
                        <a:srgbClr val="CFDBD7"/>
                      </a:solidFill>
                      <a:prstDash val="solid"/>
                    </a:lnL>
                    <a:lnR w="9525">
                      <a:solidFill>
                        <a:srgbClr val="CFDBD7"/>
                      </a:solidFill>
                      <a:prstDash val="solid"/>
                    </a:lnR>
                    <a:lnB w="9525">
                      <a:solidFill>
                        <a:srgbClr val="CFDBD7"/>
                      </a:solidFill>
                      <a:prstDash val="solid"/>
                    </a:lnB>
                    <a:solidFill>
                      <a:srgbClr val="FFFFFF"/>
                    </a:solidFill>
                  </a:tcPr>
                </a:tc>
                <a:tc>
                  <a:txBody>
                    <a:bodyPr/>
                    <a:lstStyle/>
                    <a:p>
                      <a:r>
                        <a:rPr sz="1950" b="0">
                          <a:solidFill>
                            <a:srgbClr val="102D35"/>
                          </a:solidFill>
                          <a:latin typeface="Helvetica Neue"/>
                          <a:ea typeface="Helvetica Neue"/>
                          <a:cs typeface="Helvetica Neue"/>
                        </a:rPr>
                        <a:t>+1,0</a:t>
                      </a:r>
                    </a:p>
                  </a:txBody>
                  <a:tcPr marL="91440" marR="91440" marT="45720" marB="45720">
                    <a:lnR w="9525">
                      <a:solidFill>
                        <a:srgbClr val="CFDBD7"/>
                      </a:solidFill>
                      <a:prstDash val="solid"/>
                    </a:lnR>
                    <a:lnB w="9525">
                      <a:solidFill>
                        <a:srgbClr val="CFDBD7"/>
                      </a:solidFill>
                      <a:prstDash val="solid"/>
                    </a:lnB>
                    <a:solidFill>
                      <a:srgbClr val="FFFFFF"/>
                    </a:solidFill>
                  </a:tcPr>
                </a:tc>
              </a:tr>
              <a:tr h="438150">
                <a:tc>
                  <a:txBody>
                    <a:bodyPr/>
                    <a:lstStyle/>
                    <a:p>
                      <a:r>
                        <a:rPr sz="1950" b="0">
                          <a:solidFill>
                            <a:srgbClr val="102D35"/>
                          </a:solidFill>
                          <a:latin typeface="Helvetica Neue"/>
                          <a:ea typeface="Helvetica Neue"/>
                          <a:cs typeface="Helvetica Neue"/>
                        </a:rPr>
                        <a:t>Weitere Einheit auf demselben Punktefeld</a:t>
                      </a:r>
                    </a:p>
                  </a:txBody>
                  <a:tcPr marL="91440" marR="91440" marT="45720" marB="45720">
                    <a:lnL w="9525">
                      <a:solidFill>
                        <a:srgbClr val="CFDBD7"/>
                      </a:solidFill>
                      <a:prstDash val="solid"/>
                    </a:lnL>
                    <a:lnR w="9525">
                      <a:solidFill>
                        <a:srgbClr val="CFDBD7"/>
                      </a:solidFill>
                      <a:prstDash val="solid"/>
                    </a:lnR>
                    <a:lnB w="9525">
                      <a:solidFill>
                        <a:srgbClr val="CFDBD7"/>
                      </a:solidFill>
                      <a:prstDash val="solid"/>
                    </a:lnB>
                    <a:solidFill>
                      <a:srgbClr val="EDF2ED"/>
                    </a:solidFill>
                  </a:tcPr>
                </a:tc>
                <a:tc>
                  <a:txBody>
                    <a:bodyPr/>
                    <a:lstStyle/>
                    <a:p>
                      <a:r>
                        <a:rPr sz="1950" b="0">
                          <a:solidFill>
                            <a:srgbClr val="102D35"/>
                          </a:solidFill>
                          <a:latin typeface="Helvetica Neue"/>
                          <a:ea typeface="Helvetica Neue"/>
                          <a:cs typeface="Helvetica Neue"/>
                        </a:rPr>
                        <a:t>−0,3</a:t>
                      </a:r>
                    </a:p>
                  </a:txBody>
                  <a:tcPr marL="91440" marR="91440" marT="45720" marB="45720">
                    <a:lnR w="9525">
                      <a:solidFill>
                        <a:srgbClr val="CFDBD7"/>
                      </a:solidFill>
                      <a:prstDash val="solid"/>
                    </a:lnR>
                    <a:lnB w="9525">
                      <a:solidFill>
                        <a:srgbClr val="CFDBD7"/>
                      </a:solidFill>
                      <a:prstDash val="solid"/>
                    </a:lnB>
                    <a:solidFill>
                      <a:srgbClr val="EDF2ED"/>
                    </a:solidFill>
                  </a:tcPr>
                </a:tc>
              </a:tr>
              <a:tr h="438150">
                <a:tc>
                  <a:txBody>
                    <a:bodyPr/>
                    <a:lstStyle/>
                    <a:p>
                      <a:r>
                        <a:rPr sz="1950" b="0">
                          <a:solidFill>
                            <a:srgbClr val="102D35"/>
                          </a:solidFill>
                          <a:latin typeface="Helvetica Neue"/>
                          <a:ea typeface="Helvetica Neue"/>
                          <a:cs typeface="Helvetica Neue"/>
                        </a:rPr>
                        <a:t>Annäherung an zugewiesenes Ziel (potentialbasiert)</a:t>
                      </a:r>
                    </a:p>
                  </a:txBody>
                  <a:tcPr marL="91440" marR="91440" marT="45720" marB="45720">
                    <a:lnL w="9525">
                      <a:solidFill>
                        <a:srgbClr val="CFDBD7"/>
                      </a:solidFill>
                      <a:prstDash val="solid"/>
                    </a:lnL>
                    <a:lnR w="9525">
                      <a:solidFill>
                        <a:srgbClr val="CFDBD7"/>
                      </a:solidFill>
                      <a:prstDash val="solid"/>
                    </a:lnR>
                    <a:lnB w="9525">
                      <a:solidFill>
                        <a:srgbClr val="CFDBD7"/>
                      </a:solidFill>
                      <a:prstDash val="solid"/>
                    </a:lnB>
                    <a:solidFill>
                      <a:srgbClr val="FFFFFF"/>
                    </a:solidFill>
                  </a:tcPr>
                </a:tc>
                <a:tc>
                  <a:txBody>
                    <a:bodyPr/>
                    <a:lstStyle/>
                    <a:p>
                      <a:r>
                        <a:rPr sz="1950" b="0">
                          <a:solidFill>
                            <a:srgbClr val="102D35"/>
                          </a:solidFill>
                          <a:latin typeface="Helvetica Neue"/>
                          <a:ea typeface="Helvetica Neue"/>
                          <a:cs typeface="Helvetica Neue"/>
                        </a:rPr>
                        <a:t>0,5</a:t>
                      </a:r>
                    </a:p>
                  </a:txBody>
                  <a:tcPr marL="91440" marR="91440" marT="45720" marB="45720">
                    <a:lnR w="9525">
                      <a:solidFill>
                        <a:srgbClr val="CFDBD7"/>
                      </a:solidFill>
                      <a:prstDash val="solid"/>
                    </a:lnR>
                    <a:lnB w="9525">
                      <a:solidFill>
                        <a:srgbClr val="CFDBD7"/>
                      </a:solidFill>
                      <a:prstDash val="solid"/>
                    </a:lnB>
                    <a:solidFill>
                      <a:srgbClr val="FFFFFF"/>
                    </a:solidFill>
                  </a:tcPr>
                </a:tc>
              </a:tr>
              <a:tr h="438150">
                <a:tc>
                  <a:txBody>
                    <a:bodyPr/>
                    <a:lstStyle/>
                    <a:p>
                      <a:r>
                        <a:rPr sz="1950" b="0">
                          <a:solidFill>
                            <a:srgbClr val="102D35"/>
                          </a:solidFill>
                          <a:latin typeface="Helvetica Neue"/>
                          <a:ea typeface="Helvetica Neue"/>
                          <a:cs typeface="Helvetica Neue"/>
                        </a:rPr>
                        <a:t>Neu erkundete Felder / neue Punktefelder (Team)</a:t>
                      </a:r>
                    </a:p>
                  </a:txBody>
                  <a:tcPr marL="91440" marR="91440" marT="45720" marB="45720">
                    <a:lnL w="9525">
                      <a:solidFill>
                        <a:srgbClr val="CFDBD7"/>
                      </a:solidFill>
                      <a:prstDash val="solid"/>
                    </a:lnL>
                    <a:lnR w="9525">
                      <a:solidFill>
                        <a:srgbClr val="CFDBD7"/>
                      </a:solidFill>
                      <a:prstDash val="solid"/>
                    </a:lnR>
                    <a:lnB w="9525">
                      <a:solidFill>
                        <a:srgbClr val="CFDBD7"/>
                      </a:solidFill>
                      <a:prstDash val="solid"/>
                    </a:lnB>
                    <a:solidFill>
                      <a:srgbClr val="EDF2ED"/>
                    </a:solidFill>
                  </a:tcPr>
                </a:tc>
                <a:tc>
                  <a:txBody>
                    <a:bodyPr/>
                    <a:lstStyle/>
                    <a:p>
                      <a:r>
                        <a:rPr sz="1950" b="0">
                          <a:solidFill>
                            <a:srgbClr val="102D35"/>
                          </a:solidFill>
                          <a:latin typeface="Helvetica Neue"/>
                          <a:ea typeface="Helvetica Neue"/>
                          <a:cs typeface="Helvetica Neue"/>
                        </a:rPr>
                        <a:t>+0,3 / +0,5</a:t>
                      </a:r>
                    </a:p>
                  </a:txBody>
                  <a:tcPr marL="91440" marR="91440" marT="45720" marB="45720">
                    <a:lnR w="9525">
                      <a:solidFill>
                        <a:srgbClr val="CFDBD7"/>
                      </a:solidFill>
                      <a:prstDash val="solid"/>
                    </a:lnR>
                    <a:lnB w="9525">
                      <a:solidFill>
                        <a:srgbClr val="CFDBD7"/>
                      </a:solidFill>
                      <a:prstDash val="solid"/>
                    </a:lnB>
                    <a:solidFill>
                      <a:srgbClr val="EDF2ED"/>
                    </a:solidFill>
                  </a:tcPr>
                </a:tc>
              </a:tr>
              <a:tr h="438150">
                <a:tc>
                  <a:txBody>
                    <a:bodyPr/>
                    <a:lstStyle/>
                    <a:p>
                      <a:r>
                        <a:rPr sz="1950" b="0">
                          <a:solidFill>
                            <a:srgbClr val="102D35"/>
                          </a:solidFill>
                          <a:latin typeface="Helvetica Neue"/>
                          <a:ea typeface="Helvetica Neue"/>
                          <a:cs typeface="Helvetica Neue"/>
                        </a:rPr>
                        <a:t>Energieänderung (÷ 400)</a:t>
                      </a:r>
                    </a:p>
                  </a:txBody>
                  <a:tcPr marL="91440" marR="91440" marT="45720" marB="45720">
                    <a:lnL w="9525">
                      <a:solidFill>
                        <a:srgbClr val="CFDBD7"/>
                      </a:solidFill>
                      <a:prstDash val="solid"/>
                    </a:lnL>
                    <a:lnR w="9525">
                      <a:solidFill>
                        <a:srgbClr val="CFDBD7"/>
                      </a:solidFill>
                      <a:prstDash val="solid"/>
                    </a:lnR>
                    <a:lnB w="9525">
                      <a:solidFill>
                        <a:srgbClr val="CFDBD7"/>
                      </a:solidFill>
                      <a:prstDash val="solid"/>
                    </a:lnB>
                    <a:solidFill>
                      <a:srgbClr val="FFFFFF"/>
                    </a:solidFill>
                  </a:tcPr>
                </a:tc>
                <a:tc>
                  <a:txBody>
                    <a:bodyPr/>
                    <a:lstStyle/>
                    <a:p>
                      <a:r>
                        <a:rPr sz="1950" b="0">
                          <a:solidFill>
                            <a:srgbClr val="102D35"/>
                          </a:solidFill>
                          <a:latin typeface="Helvetica Neue"/>
                          <a:ea typeface="Helvetica Neue"/>
                          <a:cs typeface="Helvetica Neue"/>
                        </a:rPr>
                        <a:t>0,1</a:t>
                      </a:r>
                    </a:p>
                  </a:txBody>
                  <a:tcPr marL="91440" marR="91440" marT="45720" marB="45720">
                    <a:lnR w="9525">
                      <a:solidFill>
                        <a:srgbClr val="CFDBD7"/>
                      </a:solidFill>
                      <a:prstDash val="solid"/>
                    </a:lnR>
                    <a:lnB w="9525">
                      <a:solidFill>
                        <a:srgbClr val="CFDBD7"/>
                      </a:solidFill>
                      <a:prstDash val="solid"/>
                    </a:lnB>
                    <a:solidFill>
                      <a:srgbClr val="FFFFFF"/>
                    </a:solidFill>
                  </a:tcPr>
                </a:tc>
              </a:tr>
              <a:tr h="438150">
                <a:tc>
                  <a:txBody>
                    <a:bodyPr/>
                    <a:lstStyle/>
                    <a:p>
                      <a:r>
                        <a:rPr sz="1950" b="0">
                          <a:solidFill>
                            <a:srgbClr val="102D35"/>
                          </a:solidFill>
                          <a:latin typeface="Helvetica Neue"/>
                          <a:ea typeface="Helvetica Neue"/>
                          <a:cs typeface="Helvetica Neue"/>
                        </a:rPr>
                        <a:t>Einheit verloren</a:t>
                      </a:r>
                    </a:p>
                  </a:txBody>
                  <a:tcPr marL="91440" marR="91440" marT="45720" marB="45720">
                    <a:lnL w="9525">
                      <a:solidFill>
                        <a:srgbClr val="CFDBD7"/>
                      </a:solidFill>
                      <a:prstDash val="solid"/>
                    </a:lnL>
                    <a:lnR w="9525">
                      <a:solidFill>
                        <a:srgbClr val="CFDBD7"/>
                      </a:solidFill>
                      <a:prstDash val="solid"/>
                    </a:lnR>
                    <a:lnB w="9525">
                      <a:solidFill>
                        <a:srgbClr val="CFDBD7"/>
                      </a:solidFill>
                      <a:prstDash val="solid"/>
                    </a:lnB>
                    <a:solidFill>
                      <a:srgbClr val="EDF2ED"/>
                    </a:solidFill>
                  </a:tcPr>
                </a:tc>
                <a:tc>
                  <a:txBody>
                    <a:bodyPr/>
                    <a:lstStyle/>
                    <a:p>
                      <a:r>
                        <a:rPr sz="1950" b="0">
                          <a:solidFill>
                            <a:srgbClr val="102D35"/>
                          </a:solidFill>
                          <a:latin typeface="Helvetica Neue"/>
                          <a:ea typeface="Helvetica Neue"/>
                          <a:cs typeface="Helvetica Neue"/>
                        </a:rPr>
                        <a:t>−0,5</a:t>
                      </a:r>
                    </a:p>
                  </a:txBody>
                  <a:tcPr marL="91440" marR="91440" marT="45720" marB="45720">
                    <a:lnR w="9525">
                      <a:solidFill>
                        <a:srgbClr val="CFDBD7"/>
                      </a:solidFill>
                      <a:prstDash val="solid"/>
                    </a:lnR>
                    <a:lnB w="9525">
                      <a:solidFill>
                        <a:srgbClr val="CFDBD7"/>
                      </a:solidFill>
                      <a:prstDash val="solid"/>
                    </a:lnB>
                    <a:solidFill>
                      <a:srgbClr val="EDF2ED"/>
                    </a:solidFill>
                  </a:tcPr>
                </a:tc>
              </a:tr>
              <a:tr h="438150">
                <a:tc>
                  <a:txBody>
                    <a:bodyPr/>
                    <a:lstStyle/>
                    <a:p>
                      <a:r>
                        <a:rPr sz="1950" b="0">
                          <a:solidFill>
                            <a:srgbClr val="102D35"/>
                          </a:solidFill>
                          <a:latin typeface="Helvetica Neue"/>
                          <a:ea typeface="Helvetica Neue"/>
                          <a:cs typeface="Helvetica Neue"/>
                        </a:rPr>
                        <a:t>Sap: je Treffer / Fehlschuss</a:t>
                      </a:r>
                    </a:p>
                  </a:txBody>
                  <a:tcPr marL="91440" marR="91440" marT="45720" marB="45720">
                    <a:lnL w="9525">
                      <a:solidFill>
                        <a:srgbClr val="CFDBD7"/>
                      </a:solidFill>
                      <a:prstDash val="solid"/>
                    </a:lnL>
                    <a:lnR w="9525">
                      <a:solidFill>
                        <a:srgbClr val="CFDBD7"/>
                      </a:solidFill>
                      <a:prstDash val="solid"/>
                    </a:lnR>
                    <a:lnB w="9525">
                      <a:solidFill>
                        <a:srgbClr val="CFDBD7"/>
                      </a:solidFill>
                      <a:prstDash val="solid"/>
                    </a:lnB>
                    <a:solidFill>
                      <a:srgbClr val="FFFFFF"/>
                    </a:solidFill>
                  </a:tcPr>
                </a:tc>
                <a:tc>
                  <a:txBody>
                    <a:bodyPr/>
                    <a:lstStyle/>
                    <a:p>
                      <a:r>
                        <a:rPr sz="1950" b="0">
                          <a:solidFill>
                            <a:srgbClr val="102D35"/>
                          </a:solidFill>
                          <a:latin typeface="Helvetica Neue"/>
                          <a:ea typeface="Helvetica Neue"/>
                          <a:cs typeface="Helvetica Neue"/>
                        </a:rPr>
                        <a:t>+0,3 / −0,3</a:t>
                      </a:r>
                    </a:p>
                  </a:txBody>
                  <a:tcPr marL="91440" marR="91440" marT="45720" marB="45720">
                    <a:lnR w="9525">
                      <a:solidFill>
                        <a:srgbClr val="CFDBD7"/>
                      </a:solidFill>
                      <a:prstDash val="solid"/>
                    </a:lnR>
                    <a:lnB w="9525">
                      <a:solidFill>
                        <a:srgbClr val="CFDBD7"/>
                      </a:solidFill>
                      <a:prstDash val="solid"/>
                    </a:lnB>
                    <a:solidFill>
                      <a:srgbClr val="FFFFFF"/>
                    </a:solidFill>
                  </a:tcPr>
                </a:tc>
              </a:tr>
              <a:tr h="438150">
                <a:tc>
                  <a:txBody>
                    <a:bodyPr/>
                    <a:lstStyle/>
                    <a:p>
                      <a:r>
                        <a:rPr sz="1950" b="0">
                          <a:solidFill>
                            <a:srgbClr val="102D35"/>
                          </a:solidFill>
                          <a:latin typeface="Helvetica Neue"/>
                          <a:ea typeface="Helvetica Neue"/>
                          <a:cs typeface="Helvetica Neue"/>
                        </a:rPr>
                        <a:t>Match gewonnen / verloren</a:t>
                      </a:r>
                    </a:p>
                  </a:txBody>
                  <a:tcPr marL="91440" marR="91440" marT="45720" marB="45720">
                    <a:lnL w="9525">
                      <a:solidFill>
                        <a:srgbClr val="CFDBD7"/>
                      </a:solidFill>
                      <a:prstDash val="solid"/>
                    </a:lnL>
                    <a:lnR w="9525">
                      <a:solidFill>
                        <a:srgbClr val="CFDBD7"/>
                      </a:solidFill>
                      <a:prstDash val="solid"/>
                    </a:lnR>
                    <a:lnB w="9525">
                      <a:solidFill>
                        <a:srgbClr val="CFDBD7"/>
                      </a:solidFill>
                      <a:prstDash val="solid"/>
                    </a:lnB>
                    <a:solidFill>
                      <a:srgbClr val="EDF2ED"/>
                    </a:solidFill>
                  </a:tcPr>
                </a:tc>
                <a:tc>
                  <a:txBody>
                    <a:bodyPr/>
                    <a:lstStyle/>
                    <a:p>
                      <a:r>
                        <a:rPr sz="1950" b="0">
                          <a:solidFill>
                            <a:srgbClr val="102D35"/>
                          </a:solidFill>
                          <a:latin typeface="Helvetica Neue"/>
                          <a:ea typeface="Helvetica Neue"/>
                          <a:cs typeface="Helvetica Neue"/>
                        </a:rPr>
                        <a:t>+2,0 / −2,0</a:t>
                      </a:r>
                    </a:p>
                  </a:txBody>
                  <a:tcPr marL="91440" marR="91440" marT="45720" marB="45720">
                    <a:lnR w="9525">
                      <a:solidFill>
                        <a:srgbClr val="CFDBD7"/>
                      </a:solidFill>
                      <a:prstDash val="solid"/>
                    </a:lnR>
                    <a:lnB w="9525">
                      <a:solidFill>
                        <a:srgbClr val="CFDBD7"/>
                      </a:solidFill>
                      <a:prstDash val="solid"/>
                    </a:lnB>
                    <a:solidFill>
                      <a:srgbClr val="EDF2ED"/>
                    </a:solidFill>
                  </a:tcPr>
                </a:tc>
              </a:tr>
            </a:tbl>
          </a:graphicData>
        </a:graphic>
      </p:graphicFrame>
    </p:spTree>
    <p:extLst>
      <p:ext uri="{BB962C8B-B14F-4D97-AF65-F5344CB8AC3E}">
        <ns3:creationId val="16102015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15</ns0:Slides>
  <ns0:Notes>0</ns0:Notes>
  <ns0:HiddenSlides>0</ns0:HiddenSlides>
  <ns0:SharedDoc>false</ns0:SharedDoc>
  <ns0:DocSecurity>0</ns0:DocSecurity>
</ns0: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2026-10-14T13:28:30.3020000Z</dcterms:created>
  <dcterms:modified xsi:type="dcterms:W3CDTF">2026-10-14T13:28:30.3020000Z</dcterms:modified>
</coreProperties>
</file>