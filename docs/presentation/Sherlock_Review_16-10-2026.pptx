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Override PartName="/ppt/slides/slide2.xml" ContentType="application/vnd.openxmlformats-officedocument.presentationml.slide+xml"/>
  <Override PartName="/ppt/notesSlides/notesSlide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88597de8b214953" /><Relationship Type="http://schemas.openxmlformats.org/officeDocument/2006/relationships/extended-properties" Target="/docProps/app.xml" Id="Rbfb54d9a7eb34117" /><Relationship Type="http://schemas.openxmlformats.org/officeDocument/2006/relationships/officeDocument" Target="/ppt/presentation.xml" Id="R8f10c3f039cc4215" /></Relationships>
</file>

<file path=ppt/presentation.xml><?xml version="1.0" encoding="utf-8"?>
<p:presentation xmlns:p="http://schemas.openxmlformats.org/presentationml/2006/main" xmlns:r="http://schemas.openxmlformats.org/officeDocument/2006/relationships">
  <p:sldMasterIdLst>
    <p:sldMasterId id="2147483648" r:id="Rd53c6d305e6d4d2c"/>
  </p:sldMasterIdLst>
  <p:notesMasterIdLst>
    <p:notesMasterId r:id="R037e31a0b2814472"/>
  </p:notesMasterIdLst>
  <p:sldIdLst>
    <p:sldId id="256" r:id="Rdfe272e66ea8428c"/>
    <p:sldId id="269" r:id="rIdAgenda20261015"/>
    <p:sldId id="257" r:id="R866c04c225d34bad"/>
    <p:sldId id="258" r:id="Rbe5b31d8e6704758"/>
    <p:sldId id="259" r:id="R3cbb029642a2410a"/>
    <p:sldId id="260" r:id="R83d06ea26f714a1e"/>
    <p:sldId id="261" r:id="R0a7ba96cb70543df"/>
    <p:sldId id="262" r:id="Reece4f0d48964c47"/>
    <p:sldId id="263" r:id="Rf2e3dfae2c4c46f6"/>
    <p:sldId id="264" r:id="R60833eb504304b20"/>
    <p:sldId id="265" r:id="Rded6d969fc204e7b"/>
    <p:sldId id="266" r:id="R14fd2b0f78a1438d"/>
    <p:sldId id="267" r:id="Rb6dbdcbeed01465d"/>
    <p:sldId id="268" r:id="Rd16c706467ac45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ns0:Relationships xmlns:ns0="http://schemas.openxmlformats.org/package/2006/relationships"><ns0:Relationship Type="http://schemas.openxmlformats.org/officeDocument/2006/relationships/theme" Target="/ppt/theme/theme1.xml" Id="R91a2ef6a44104fbc" /><ns0:Relationship Type="http://schemas.openxmlformats.org/officeDocument/2006/relationships/slideMaster" Target="/ppt/slideMasters/slideMaster1.xml" Id="Rd53c6d305e6d4d2c" /><ns0:Relationship Type="http://schemas.openxmlformats.org/officeDocument/2006/relationships/notesMaster" Target="/ppt/notesMasters/notesMaster1.xml" Id="R037e31a0b2814472" /><ns0:Relationship Type="http://schemas.openxmlformats.org/officeDocument/2006/relationships/presProps" Target="/ppt/presProps.xml" Id="R3aa6213fb1944323" /><ns0:Relationship Type="http://schemas.openxmlformats.org/officeDocument/2006/relationships/tableStyles" Target="/ppt/tableStyles.xml" Id="Rbd898802a16f4a26" /><ns0:Relationship Type="http://schemas.openxmlformats.org/officeDocument/2006/relationships/slide" Target="/ppt/slides/slide1.xml" Id="Rdfe272e66ea8428c" /><ns0:Relationship Type="http://schemas.openxmlformats.org/officeDocument/2006/relationships/slide" Target="/ppt/slides/slide3.xml" Id="R866c04c225d34bad" /><ns0:Relationship Type="http://schemas.openxmlformats.org/officeDocument/2006/relationships/slide" Target="/ppt/slides/slide4.xml" Id="Rbe5b31d8e6704758" /><ns0:Relationship Type="http://schemas.openxmlformats.org/officeDocument/2006/relationships/slide" Target="/ppt/slides/slide5.xml" Id="R3cbb029642a2410a" /><ns0:Relationship Type="http://schemas.openxmlformats.org/officeDocument/2006/relationships/slide" Target="/ppt/slides/slide6.xml" Id="R83d06ea26f714a1e" /><ns0:Relationship Type="http://schemas.openxmlformats.org/officeDocument/2006/relationships/slide" Target="/ppt/slides/slide7.xml" Id="R0a7ba96cb70543df" /><ns0:Relationship Type="http://schemas.openxmlformats.org/officeDocument/2006/relationships/slide" Target="/ppt/slides/slide8.xml" Id="Reece4f0d48964c47" /><ns0:Relationship Type="http://schemas.openxmlformats.org/officeDocument/2006/relationships/slide" Target="/ppt/slides/slide9.xml" Id="Rf2e3dfae2c4c46f6" /><ns0:Relationship Type="http://schemas.openxmlformats.org/officeDocument/2006/relationships/slide" Target="/ppt/slides/slide10.xml" Id="R60833eb504304b20" /><ns0:Relationship Type="http://schemas.openxmlformats.org/officeDocument/2006/relationships/slide" Target="/ppt/slides/slide11.xml" Id="Rded6d969fc204e7b" /><ns0:Relationship Type="http://schemas.openxmlformats.org/officeDocument/2006/relationships/slide" Target="/ppt/slides/slide12.xml" Id="R14fd2b0f78a1438d" /><ns0:Relationship Type="http://schemas.openxmlformats.org/officeDocument/2006/relationships/slide" Target="/ppt/slides/slide13.xml" Id="Rb6dbdcbeed01465d" /><ns0:Relationship Type="http://schemas.openxmlformats.org/officeDocument/2006/relationships/slide" Target="/ppt/slides/slide14.xml" Id="Rd16c706467ac45df" /><ns0:Relationship Type="http://schemas.openxmlformats.org/officeDocument/2006/relationships/slide" Target="/ppt/slides/slide2.xml" Id="rIdAgenda20261015" /></ns0: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e162c2cf1849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6c8887f97e4208" /><Relationship Type="http://schemas.openxmlformats.org/officeDocument/2006/relationships/notesMaster" Target="/ppt/notesMasters/notesMaster1.xml" Id="Re52bab0537a64e45" /></Relationships>
</file>

<file path=ppt/notesSlides/_rels/notesSlide2.xml.rels><?xml version='1.0' encoding='utf-8'?>
<ns0:Relationships xmlns:ns0="http://schemas.openxmlformats.org/package/2006/relationships"><ns0:Relationship Type="http://schemas.openxmlformats.org/officeDocument/2006/relationships/slide" Target="/ppt/slides/slide2.xml" Id="R70eeabb678bb41df" /><ns0:Relationship Type="http://schemas.openxmlformats.org/officeDocument/2006/relationships/notesMaster" Target="/ppt/notesMasters/notesMaster1.xml" Id="Rfdb4fde70c6a4e3c" /></ns0:Relationships>
</file>

<file path=ppt/notesSlides/_rels/notesSlide3.xml.rels><?xml version='1.0' encoding='utf-8'?>
<ns0:Relationships xmlns:ns0="http://schemas.openxmlformats.org/package/2006/relationships"><ns0:Relationship Type="http://schemas.openxmlformats.org/officeDocument/2006/relationships/slide" Target="/ppt/slides/slide3.xml" Id="R7384cd001fa64694" /><ns0:Relationship Type="http://schemas.openxmlformats.org/officeDocument/2006/relationships/notesMaster" Target="/ppt/notesMasters/notesMaster1.xml" Id="R6360937fea6b4359" /></ns0:Relationships>
</file>

<file path=ppt/notesSlides/_rels/notesSlide4.xml.rels><?xml version='1.0' encoding='utf-8'?>
<ns0:Relationships xmlns:ns0="http://schemas.openxmlformats.org/package/2006/relationships"><ns0:Relationship Type="http://schemas.openxmlformats.org/officeDocument/2006/relationships/slide" Target="/ppt/slides/slide4.xml" Id="R70eeabb678bb41df" /><ns0:Relationship Type="http://schemas.openxmlformats.org/officeDocument/2006/relationships/notesMaster" Target="/ppt/notesMasters/notesMaster1.xml" Id="Rfdb4fde70c6a4e3c" /></ns0:Relationships>
</file>

<file path=ppt/notesSlides/_rels/notesSlide5.xml.rels><?xml version='1.0' encoding='utf-8'?>
<ns0:Relationships xmlns:ns0="http://schemas.openxmlformats.org/package/2006/relationships"><ns0:Relationship Type="http://schemas.openxmlformats.org/officeDocument/2006/relationships/slide" Target="/ppt/slides/slide5.xml" Id="R35c247f594c8437c" /><ns0:Relationship Type="http://schemas.openxmlformats.org/officeDocument/2006/relationships/notesMaster" Target="/ppt/notesMasters/notesMaster1.xml" Id="R539dec01121c493e" /></ns0:Relationships>
</file>

<file path=ppt/notesSlides/_rels/notesSlide6.xml.rels><?xml version='1.0' encoding='utf-8'?>
<ns0:Relationships xmlns:ns0="http://schemas.openxmlformats.org/package/2006/relationships"><ns0:Relationship Type="http://schemas.openxmlformats.org/officeDocument/2006/relationships/slide" Target="/ppt/slides/slide6.xml" Id="R73880a44e2184fa7" /><ns0:Relationship Type="http://schemas.openxmlformats.org/officeDocument/2006/relationships/notesMaster" Target="/ppt/notesMasters/notesMaster1.xml" Id="R66b3e5a55d744ca7" /></ns0:Relationships>
</file>

<file path=ppt/notesSlides/_rels/notesSlide7.xml.rels><?xml version='1.0' encoding='utf-8'?>
<ns0:Relationships xmlns:ns0="http://schemas.openxmlformats.org/package/2006/relationships"><ns0:Relationship Type="http://schemas.openxmlformats.org/officeDocument/2006/relationships/slide" Target="/ppt/slides/slide7.xml" Id="R70441864a35a412a" /><ns0:Relationship Type="http://schemas.openxmlformats.org/officeDocument/2006/relationships/notesMaster" Target="/ppt/notesMasters/notesMaster1.xml" Id="R2a4c8d4b774a4ed1" /></ns0:Relationships>
</file>

<file path=ppt/notesSlides/_rels/notesSlide8.xml.rels><?xml version='1.0' encoding='utf-8'?>
<ns0:Relationships xmlns:ns0="http://schemas.openxmlformats.org/package/2006/relationships"><ns0:Relationship Type="http://schemas.openxmlformats.org/officeDocument/2006/relationships/slide" Target="/ppt/slides/slide8.xml" Id="R6993ff94d99343d3" /><ns0:Relationship Type="http://schemas.openxmlformats.org/officeDocument/2006/relationships/notesMaster" Target="/ppt/notesMasters/notesMaster1.xml" Id="R096679c2211842c2" /></ns0:Relationships>
</file>

<file path=ppt/notesSlides/_rels/notesSlide9.xml.rels><?xml version='1.0' encoding='utf-8'?>
<ns0:Relationships xmlns:ns0="http://schemas.openxmlformats.org/package/2006/relationships"><ns0:Relationship Type="http://schemas.openxmlformats.org/officeDocument/2006/relationships/slide" Target="/ppt/slides/slide9.xml" Id="R3affb78eebe84c77" /><ns0:Relationship Type="http://schemas.openxmlformats.org/officeDocument/2006/relationships/notesMaster" Target="/ppt/notesMasters/notesMaster1.xml" Id="R119d3a4b345b4969" /></ns0:Relationships>
</file>

<file path=ppt/notesSlides/_rels/notesSlide10.xml.rels><?xml version='1.0' encoding='utf-8'?>
<ns0:Relationships xmlns:ns0="http://schemas.openxmlformats.org/package/2006/relationships"><ns0:Relationship Type="http://schemas.openxmlformats.org/officeDocument/2006/relationships/slide" Target="/ppt/slides/slide10.xml" Id="Rea0132aa2fdc4521" /><ns0:Relationship Type="http://schemas.openxmlformats.org/officeDocument/2006/relationships/notesMaster" Target="/ppt/notesMasters/notesMaster1.xml" Id="R667f019913b84146" /></ns0:Relationships>
</file>

<file path=ppt/notesSlides/_rels/notesSlide11.xml.rels><?xml version='1.0' encoding='utf-8'?>
<ns0:Relationships xmlns:ns0="http://schemas.openxmlformats.org/package/2006/relationships"><ns0:Relationship Type="http://schemas.openxmlformats.org/officeDocument/2006/relationships/slide" Target="/ppt/slides/slide11.xml" Id="R4b96c3d9212e477a" /><ns0:Relationship Type="http://schemas.openxmlformats.org/officeDocument/2006/relationships/notesMaster" Target="/ppt/notesMasters/notesMaster1.xml" Id="Ra3e69de76b17497b" /></ns0:Relationships>
</file>

<file path=ppt/notesSlides/_rels/notesSlide12.xml.rels><?xml version='1.0' encoding='utf-8'?>
<ns0:Relationships xmlns:ns0="http://schemas.openxmlformats.org/package/2006/relationships"><ns0:Relationship Type="http://schemas.openxmlformats.org/officeDocument/2006/relationships/slide" Target="/ppt/slides/slide12.xml" Id="R95ee6fde01444dbf" /><ns0:Relationship Type="http://schemas.openxmlformats.org/officeDocument/2006/relationships/notesMaster" Target="/ppt/notesMasters/notesMaster1.xml" Id="R1cb44dbe89094fdb" /></ns0:Relationships>
</file>

<file path=ppt/notesSlides/_rels/notesSlide13.xml.rels><?xml version='1.0' encoding='utf-8'?>
<ns0:Relationships xmlns:ns0="http://schemas.openxmlformats.org/package/2006/relationships"><ns0:Relationship Type="http://schemas.openxmlformats.org/officeDocument/2006/relationships/slide" Target="/ppt/slides/slide13.xml" Id="R554ac1e4beb64167" /><ns0:Relationship Type="http://schemas.openxmlformats.org/officeDocument/2006/relationships/notesMaster" Target="/ppt/notesMasters/notesMaster1.xml" Id="Rfe98a0ddb59c4759" /></ns0:Relationships>
</file>

<file path=ppt/notesSlides/_rels/notesSlide14.xml.rels><?xml version='1.0' encoding='utf-8'?>
<ns0:Relationships xmlns:ns0="http://schemas.openxmlformats.org/package/2006/relationships"><ns0:Relationship Type="http://schemas.openxmlformats.org/officeDocument/2006/relationships/slide" Target="/ppt/slides/slide14.xml" Id="Re4cbb78241b2403d" /><ns0:Relationship Type="http://schemas.openxmlformats.org/officeDocument/2006/relationships/notesMaster" Target="/ppt/notesMasters/notesMaster1.xml" Id="Rd85b07bd13eb4aac" /></ns0: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30 Sekunden</a:t>
            </a:r>
          </a:p>
          <a:p xmlns:a="http://schemas.openxmlformats.org/drawingml/2006/main">
            <a:r>
              <a:t/>
            </a:r>
          </a:p>
          <a:p xmlns:a="http://schemas.openxmlformats.org/drawingml/2006/main">
            <a:r>
              <a:t>Wir sind Mahmoud und Moayed, Team 15. Unser Agent heißt Sherlock. Er spielt Lux AI Season 3 und verbindet gelerntes Verhalten mit einem Gedächtnis für die Karte. Wir zeigen zuerst die Spielidee und den Ablauf, dann das Training und zum Schluss Ergebnisse und ein Beispiel. Unser Stand ist das Sechser-Ensemble old3_sym3.</a:t>
            </a:r>
          </a:p>
          <a:p xmlns:a="http://schemas.openxmlformats.org/drawingml/2006/main">
            <a:r>
              <a:t/>
            </a:r>
          </a:p>
          <a:p xmlns:a="http://schemas.openxmlformats.org/drawingml/2006/main">
            <a:r>
              <a:t>Quellen / Nachweise (Repository, Stand 14.10.2026):</a:t>
            </a:r>
          </a:p>
          <a:p xmlns:a="http://schemas.openxmlformats.org/drawingml/2006/main">
            <a:r>
              <a:t>README.md</a:t>
            </a:r>
          </a:p>
          <a:p xmlns:a="http://schemas.openxmlformats.org/drawingml/2006/main">
            <a:r>
              <a:t>CLAUDE.md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20 Sekunden</a:t>
            </a:r>
          </a:p>
          <a:p xmlns:a="http://schemas.openxmlformats.org/drawingml/2006/main">
            <a:r>
              <a:t/>
            </a:r>
          </a:p>
          <a:p xmlns:a="http://schemas.openxmlformats.org/drawingml/2006/main">
            <a:r>
              <a:t>Wir beginnen mit der Spielidee und dem Aufbau unseres Agenten. Danach zeigen wir seine Merkmale, die Netzarchitektur und das Lernverfahren. Anschließend geht es um Training und Auswertung. Zum Schluss folgen unsere Ergebnisse, ein Spielbeispiel und die nächsten Schritte.</a:t>
            </a:r>
          </a:p>
          <a:p xmlns:a="http://schemas.openxmlformats.org/drawingml/2006/main">
            <a:r>
              <a:t/>
            </a:r>
          </a:p>
          <a:p xmlns:a="http://schemas.openxmlformats.org/drawingml/2006/main">
            <a:r>
              <a:t>Gliederung der eigenen Sherlock-Präsentation.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60 Sekunden</a:t>
            </a:r>
          </a:p>
          <a:p xmlns:a="http://schemas.openxmlformats.org/drawingml/2006/main">
            <a:r>
              <a:t/>
            </a:r>
          </a:p>
          <a:p xmlns:a="http://schemas.openxmlformats.org/drawingml/2006/main">
            <a:r>
              <a:t>Lux AI ist ein Strategiespiel auf einer Karte mit 24 mal 24 Feldern. Zwei Teams steuern jeweils bis zu 16 Einheiten. Im Kurs besteht ein Spiel aus drei Matches. Wer mehr Matches gewinnt, gewinnt das Spiel. Die Herausforderung ist, dass der Agent nicht die ganze Karte sieht und die Punktefelder zunächst unbekannt sind. Er muss erkunden, Energie sinnvoll einsetzen und geeignete Felder besetzen. Auf dem Bild ist Sherlock blau und der Gegner rot. Die gelben Markierungen gehören zu Relics und Punktefeldern. Wichtig: Das ist die vollständige Replay-Ansicht für uns Zuschauer. Der Agent bekommt diese vollständige Information nicht.</a:t>
            </a:r>
          </a:p>
          <a:p xmlns:a="http://schemas.openxmlformats.org/drawingml/2006/main">
            <a:r>
              <a:t/>
            </a:r>
          </a:p>
          <a:p xmlns:a="http://schemas.openxmlformats.org/drawingml/2006/main">
            <a:r>
              <a:t>Quellen / Nachweise (Repository, Stand 14.10.2026):</a:t>
            </a:r>
          </a:p>
          <a:p xmlns:a="http://schemas.openxmlformats.org/drawingml/2006/main">
            <a:r>
              <a:t>lux/specs.md</a:t>
            </a:r>
          </a:p>
          <a:p xmlns:a="http://schemas.openxmlformats.org/drawingml/2006/main">
            <a:r>
              <a:t>lux/Instructions.md</a:t>
            </a:r>
          </a:p>
          <a:p xmlns:a="http://schemas.openxmlformats.org/drawingml/2006/main">
            <a:r>
              <a:t>CLAUDE.md</a:t>
            </a:r>
          </a:p>
          <a:p xmlns:a="http://schemas.openxmlformats.org/drawingml/2006/main">
            <a:r>
              <a:t>docs/presentation/replays/sherlock_sieg_vs_default.json · Frame 61</a:t>
            </a:r>
          </a:p>
          <a:p xmlns:a="http://schemas.openxmlformats.org/drawingml/2006/main">
            <a:r>
              <a:t>Screenshot: https://s3vis.lux-ai.org/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Moayed · 55 Sekunden</a:t>
            </a:r>
          </a:p>
          <a:p>
            <a:r>
              <a:t/>
            </a:r>
          </a:p>
          <a:p>
            <a:r>
              <a:t>Links stehen die drei Grundideen, rechts derselbe Ablauf als Pseudocode. Bei jedem Spielschritt aktualisiert Sherlock zuerst sein Gedächtnis mit den neuen Beobachtungen. Für jede eigene aktive Einheit berechnet er dann 79 Merkmale. Sechs trainierte Netze bewerten ihre möglichen Aktionen; wir mitteln diese Bewertungen und wählen die beste erlaubte Aktion. Die Aktionen aller Einheiten gehen anschließend an das Spiel. Das Gedächtnis folgt programmierten Regeln, die Netzbewertungen wurden gelernt. Beim Spielen bleiben die Gewichte fest. Der Pseudocode zeigt den vereinfachten Hauptablauf. Mahmoud erklärt jetzt die Merkmale und das Training.</a:t>
            </a:r>
          </a:p>
          <a:p>
            <a:r>
              <a:t/>
            </a:r>
          </a:p>
          <a:p>
            <a:r>
              <a:t>Quellen / Nachweise (Repository, Stand 14.10.2026):</a:t>
            </a:r>
          </a:p>
          <a:p>
            <a:r>
              <a:t>agents/sherlock/main.py</a:t>
            </a:r>
          </a:p>
          <a:p>
            <a:r>
              <a:t>agents/sherlock/belief.py</a:t>
            </a:r>
          </a:p>
          <a:p>
            <a:r>
              <a:t>agents/sherlock/model.py
Gestaltungsreferenz: team20-presentation3.pdf, Folie 4 (vom Team bereitgestellt).
Vereinfachung: Match-Reset, Sap-Zielwahl und Aktionsformat sind nicht ausgeschrieben.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Wir verwenden ein MLP mit 79 numerischen Merkmalen pro Einheit, keine vollständige Bildkarte. Die Merkmale beschreiben zum Beispiel Energie und Position, Umgebung, Ziele und Gegner. Das Belief speichert bekannte Relics, erkundete Bereiche und erschlossene Punktefelder. Vereinfachtes Beispiel: Eine einzige eigene Einheit steht auf einem noch unbekannten Kandidatenfeld und der Punktestand steigt um eins. Unter diesen Voraussetzungen lässt sich das Feld als Punktefeld erkennen. Bei mehreren Kandidaten braucht man weitere Beobachtungen. Außerdem verwenden wir die Kartensymmetrie. Davon zu unterscheiden sind kanonische Koordinaten: Beide Spielseiten werden aus vergleichbarer Perspektive beschrieben. Diese Regeln liefern Informationen an die gelernte Aktionsbewertung; sie ersetzen sie nicht.</a:t>
            </a:r>
          </a:p>
          <a:p xmlns:a="http://schemas.openxmlformats.org/drawingml/2006/main">
            <a:r>
              <a:t/>
            </a:r>
          </a:p>
          <a:p xmlns:a="http://schemas.openxmlformats.org/drawingml/2006/main">
            <a:r>
              <a:t>Quellen / Nachweise (Repository, Stand 14.10.2026):</a:t>
            </a:r>
          </a:p>
          <a:p xmlns:a="http://schemas.openxmlformats.org/drawingml/2006/main">
            <a:r>
              <a:t>agents/sherlock/features.py</a:t>
            </a:r>
          </a:p>
          <a:p xmlns:a="http://schemas.openxmlformats.org/drawingml/2006/main">
            <a:r>
              <a:t>agents/sherlock/belief.py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Jedes Mitglied des Ensembles ist ein Dueling-Netz. Es bekommt 79 Merkmale. Der gemeinsame Teil besteht aus zwei voll verbundenen Schichten mit jeweils 256 Neuronen und ReLU. Danach gibt es einen Kopf für den Zustandswert und einen Kopf für die Vorteile der sechs Aktionen; beide haben eine Zwischenschicht mit 128 Neuronen. Daraus entstehen sechs Q-Werte. Beim Spielen mitteln wir die Q-Werte der sechs trainierten Netze und wählen dann die beste erlaubte Aktion. Die sechs Aktionen sind Stehenbleiben, vier Bewegungsrichtungen und Sap. Das konkrete Sap-Ziel wird heuristisch gewählt. Double DQN bezeichnet unser Lernverfahren, Dueling die Netzarchitektur und Ensemble die Kombination mehrerer trainierter Netze.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agents/sherlock/main.py</a:t>
            </a:r>
          </a:p>
          <a:p xmlns:a="http://schemas.openxmlformats.org/drawingml/2006/main">
            <a:r>
              <a:t>agents/sherlock/weights/agent_p0.pth · gespeicherte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75 Sekunden</a:t>
            </a:r>
          </a:p>
          <a:p xmlns:a="http://schemas.openxmlformats.org/drawingml/2006/main">
            <a:r>
              <a:t/>
            </a:r>
          </a:p>
          <a:p xmlns:a="http://schemas.openxmlformats.org/drawingml/2006/main">
            <a:r>
              <a:t>Im Training sammeln wir Erfahrungen pro Einheit: Situation, Aktion, Belohnung und Folgesituation. Zufällige Mini-Batches aus dem Replay Buffer verringern die direkte Abhängigkeit aufeinanderfolgender Erfahrungen. Double DQN trennt die Wahl der nächsten Aktion von ihrer Bewertung: Das aktuelle Online-Netz wählt die beste erlaubte Folgeaktion, das verzögert aktualisierte Target-Netz bewertet genau diese Aktion. Aus Belohnung und diskontiertem Folgewert entsteht das Lernziel. Am Ende eines Übergangs entfällt der Folgewert. Das Online-Netz wird an dieses Ziel angepasst; das Target-Netz wird alle 500 Lernupdates kopiert. Im Training probiert der Agent mit abnehmender Wahrscheinlichkeit Aktionen aus. Zusätzlich zu Punkten und Matchsiegen gibt es Shaping-Signale, etwa für Annäherung, Erkundung und Energie. Deren Gestaltung ist eine Modellierungsentscheidung mit eigenen Grenzen.</a:t>
            </a:r>
          </a:p>
          <a:p xmlns:a="http://schemas.openxmlformats.org/drawingml/2006/main">
            <a:r>
              <a:t/>
            </a:r>
          </a:p>
          <a:p xmlns:a="http://schemas.openxmlformats.org/drawingml/2006/main">
            <a:r>
              <a:t>Quellen / Nachweise (Repository, Stand 14.10.2026):</a:t>
            </a:r>
          </a:p>
          <a:p xmlns:a="http://schemas.openxmlformats.org/drawingml/2006/main">
            <a:r>
              <a:t>agents/sherlock/main.py · _learn und epsilon</a:t>
            </a:r>
          </a:p>
          <a:p xmlns:a="http://schemas.openxmlformats.org/drawingml/2006/main">
            <a:r>
              <a:t>agents/sherlock/replay_buffer.py</a:t>
            </a:r>
          </a:p>
          <a:p xmlns:a="http://schemas.openxmlformats.org/drawingml/2006/main">
            <a:r>
              <a:t>agents/sherlock/reward.py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Mahmoud · 65 Sekunden</a:t>
            </a:r>
          </a:p>
          <a:p>
            <a:r>
              <a:t/>
            </a:r>
          </a:p>
          <a:p>
            <a:r>
              <a:t>Die sechs Basisläufe umfassen jeweils 3.000 Spiele, zusammen 18.000. Die ausgewählten Checkpoints können früher liegen. Zuerst trainieren wir gegen default, danach abwechselnd gegen default und Solution_92. Checkpoints wählen wir auf getrennten Validierungskarten. Rechts stehen die wichtigsten Einstellungen: Lernrate 0,0003, Gamma 0,99, Batchgröße 256 und 300.000 Einheitenübergänge im Buffer. Epsilon steuert die zufällige Exploration: Es sinkt über 60.000 Umgebungsschritte von eins auf 0,05. Das Target-Netz wird alle 500 Lernupdates aktualisiert. In der Auswertung spielen wir beide Seiten mit Epsilon null und festen Gewichten. Moayed zeigt jetzt die Ergebnisse.</a:t>
            </a:r>
          </a:p>
          <a:p>
            <a:r>
              <a:t/>
            </a:r>
          </a:p>
          <a:p>
            <a:r>
              <a:t>Quellen / Nachweise (Repository, Stand 14.10.2026):</a:t>
            </a:r>
          </a:p>
          <a:p>
            <a:r>
              <a:t>experiments/runs/20261010_full_s{0,1,2}/manifest.json</a:t>
            </a:r>
          </a:p>
          <a:p>
            <a:r>
              <a:t>experiments/runs/20261011_full_sym_s{0,1,2}/manifest.json</a:t>
            </a:r>
          </a:p>
          <a:p>
            <a:r>
              <a:t>scripts/protocol.py</a:t>
            </a:r>
          </a:p>
          <a:p>
            <a:r>
              <a:t>agents/sherlock/weights/agent_p0.pth · cfg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65 Sekunden</a:t>
            </a:r>
          </a:p>
          <a:p xmlns:a="http://schemas.openxmlformats.org/drawingml/2006/main">
            <a:r>
              <a:t/>
            </a:r>
          </a:p>
          <a:p xmlns:a="http://schemas.openxmlformats.org/drawingml/2006/main">
            <a:r>
              <a:t>Hier sehen wir die Ergebnisse des aktuellen Agenten. Gegen default gewinnt Sherlock 60 von 60 Spielen. Gegen den stärkeren regelbasierten Gegner Solution_92 sind es 28 von 60, also ungefähr 47 Prozent. Pro Gegner wurden 30 Karten auf beiden Spielseiten gespielt. Damit sind es 60 Spiele, aber nicht 60 unabhängige Karten. Diese Zahlen wurden mit den unveränderten Gewichten erneut bestätigt. Wir sollten daraus nicht ableiten, dass Sherlock immer gegen default gewinnt: Das Ergebnis gilt für diese Stichprobe. Außerdem wurden die Karten im Projekt bereits mehrfach ausgewertet. Für eine unabhängige Schlussbewertung brauchen wir später neue, zurückgehaltene Karten. Insgesamt funktioniert unser Ansatz, aber gegen den stärkeren Gegner gibt es noch deutliches Verbesserungspotenzial.</a:t>
            </a:r>
          </a:p>
          <a:p xmlns:a="http://schemas.openxmlformats.org/drawingml/2006/main">
            <a:r>
              <a:t/>
            </a:r>
          </a:p>
          <a:p xmlns:a="http://schemas.openxmlformats.org/drawingml/2006/main">
            <a:r>
              <a:t>Quellen / Nachweise (Repository, Stand 14.10.2026):</a:t>
            </a:r>
          </a:p>
          <a:p xmlns:a="http://schemas.openxmlformats.org/drawingml/2006/main">
            <a:r>
              <a:t>experiments/compare/TEST_old3_sym3_points_v2.csv</a:t>
            </a:r>
          </a:p>
          <a:p xmlns:a="http://schemas.openxmlformats.org/drawingml/2006/main">
            <a:r>
              <a:t>experiments/compare/TEST_old3_sym3_points_v2.json</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80 Sekunden</a:t>
            </a:r>
          </a:p>
          <a:p xmlns:a="http://schemas.openxmlformats.org/drawingml/2006/main">
            <a:r>
              <a:t/>
            </a:r>
          </a:p>
          <a:p xmlns:a="http://schemas.openxmlformats.org/drawingml/2006/main">
            <a:r>
              <a:t>Das sind zwei echte Bilder aus demselben Spiel gegen default. Sherlock ist blau, der Gegner rot. Links, bei Schritt 23, sind unsere Einheiten noch über die Karte verteilt und beide Teams haben null Punkte. Rechts, bei Schritt 90 im ersten Match, stehen viele blaue Einheiten im Bereich der gelb markierten Punktefelder. Der Zwischenstand ist 374 zu 11. Man sieht: Bewegung allein ist nicht das Ziel. Sobald geeignete Punktefelder bekannt sind, kann Stehenbleiben sinnvoll sein, weil ein besetztes Feld wiederholt Punkte bringt. Das Gedächtnis hilft dabei, einmal gewonnene Informationen weiterzuverwenden. Die Bilder zeigen die vollständige Zuschaueransicht, nicht den Wissensstand des Agenten. Dieses Spiel veranschaulicht einen gelungenen Ablauf; es beweist nicht, dass Sherlock in jedem Spiel so handelt. Die Niederlagen gegen Solution_92 gehören ebenfalls zu unserer Auswertung.</a:t>
            </a:r>
          </a:p>
          <a:p xmlns:a="http://schemas.openxmlformats.org/drawingml/2006/main">
            <a:r>
              <a:t/>
            </a:r>
          </a:p>
          <a:p xmlns:a="http://schemas.openxmlformats.org/drawingml/2006/main">
            <a:r>
              <a:t>Quellen / Nachweise (Repository, Stand 14.10.2026):</a:t>
            </a:r>
          </a:p>
          <a:p xmlns:a="http://schemas.openxmlformats.org/drawingml/2006/main">
            <a:r>
              <a:t>docs/presentation/replays/sherlock_sieg_vs_default.json · Frames 23 und 90</a:t>
            </a:r>
          </a:p>
          <a:p xmlns:a="http://schemas.openxmlformats.org/drawingml/2006/main">
            <a:r>
              <a:t>Screenshot: https://s3vis.lux-ai.org/ · Seed 900011, Sherlock player_0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55 Sekunden</a:t>
            </a:r>
          </a:p>
          <a:p xmlns:a="http://schemas.openxmlformats.org/drawingml/2006/main">
            <a:r>
              <a:t/>
            </a:r>
          </a:p>
          <a:p xmlns:a="http://schemas.openxmlformats.org/drawingml/2006/main">
            <a:r>
              <a:t>Unser Agent kombiniert gelernte Entscheidungen mit explizitem Wissen über das Spiel. Die bisherigen Versuche sprechen dafür, Gedächtnis und mehrere Netzbewertungen zu kombinieren. Weitertraining und Self-Play haben in den getesteten Varianten keinen klaren zusätzlichen Gewinn gebracht; das ist keine allgemeine Aussage gegen diese Verfahren. Eine Arbeitshypothese ist, dass bessere frühe Erkundung und frühere Inferenz im ersten Match helfen. Der Kandidat m1_early ist untersucht, aber noch nicht in der Abgabe aktiviert. Vor weiterem Training prüfen wir außerdem Reward und Einheitenübergänge. Für die nächste belastbare Bewertung wollen wir neue Testkarten zurückhalten. Der Präsentationsstand und seine Gewichte bleiben dabei fest.</a:t>
            </a:r>
          </a:p>
          <a:p xmlns:a="http://schemas.openxmlformats.org/drawingml/2006/main">
            <a:r>
              <a:t/>
            </a:r>
          </a:p>
          <a:p xmlns:a="http://schemas.openxmlformats.org/drawingml/2006/main">
            <a:r>
              <a:t>Quellen / Nachweise (Repository, Stand 14.10.2026):</a:t>
            </a:r>
          </a:p>
          <a:p xmlns:a="http://schemas.openxmlformats.org/drawingml/2006/main">
            <a:r>
              <a:t>docs/EXPERIMENT_PROTOKOLL.md</a:t>
            </a:r>
          </a:p>
          <a:p xmlns:a="http://schemas.openxmlformats.org/drawingml/2006/main">
            <a:r>
              <a:t>docs/ARBEITSSTAND.md</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Moayed · 25 Sekunden</a:t>
            </a:r>
          </a:p>
          <a:p>
            <a:r>
              <a:t/>
            </a:r>
          </a:p>
          <a:p>
            <a:r>
              <a:t>Sherlock verbindet ein Gedächtnis für die Karte mit sechs trainierten Netzen. Auf unserem Benchmark gewinnen wir alle 60 Spiele gegen default und 28 von 60 gegen Solution_92. Gegen den stärkeren Gegner bleibt also Verbesserungspotenzial. Als Nächstes wollen wir die frühe Erkundung verbessern und auf neuen Karten prüfen. Vielen Dank – welche Fragen habt ihr?</a:t>
            </a:r>
          </a:p>
          <a:p>
            <a:r>
              <a:t/>
            </a:r>
          </a:p>
          <a:p>
            <a:r>
              <a:t>Quellen / Nachweise (Repository, Stand 14.10.2026):</a:t>
            </a:r>
          </a:p>
          <a:p>
            <a:r>
              <a:t>README.md</a:t>
            </a:r>
          </a:p>
          <a:p>
            <a:r>
              <a:t>docs/EXPERIMENT_PROTOKOLL.md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nicht Teil des geplanten Vortrags. Diese Werte sind in der Konfiguration des aktuellen Ensemble-Checkpoints und in den sechs Laufmanifesten hinterlegt. 5.000 beim Lernbeginn bezeichnet Einheitenübergänge im Buffer, keine Spiele und keine Umgebungsschritte. Ein Update alle zwei Umgebungsschritte, sobald genügend Übergänge vorliegen. Target-Kopie nach 500 Lernupdates. Die sechs Läufe werden jeweils 3.000 Spiele trainiert; die aus der Validierung ausgewählten Gewichte können von einem früheren Checkpoint stammen.</a:t>
            </a:r>
          </a:p>
          <a:p xmlns:a="http://schemas.openxmlformats.org/drawingml/2006/main">
            <a:r>
              <a:t/>
            </a:r>
          </a:p>
          <a:p xmlns:a="http://schemas.openxmlformats.org/drawingml/2006/main">
            <a:r>
              <a:t>Quellen / Nachweise (Repository, Stand 14.10.2026):</a:t>
            </a:r>
          </a:p>
          <a:p xmlns:a="http://schemas.openxmlformats.org/drawingml/2006/main">
            <a:r>
              <a:t>agents/sherlock/weights/agent_p0.pth · cfg</a:t>
            </a:r>
          </a:p>
          <a:p xmlns:a="http://schemas.openxmlformats.org/drawingml/2006/main">
            <a:r>
              <a:t>agents/sherlock/main.py</a:t>
            </a:r>
          </a:p>
          <a:p xmlns:a="http://schemas.openxmlformats.org/drawingml/2006/main">
            <a:r>
              <a:t>experiments/runs/*full*/manifest.json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Q bezeichnet eine geschätzte zukünftige Belohnung für eine Aktion. Dueling: Q(s,a)=V(s)+A(s,a)−Mittelwert_a A(s,a). Double DQN trennt Auswahl und Bewertung beim Lernziel. Belief ist eine regelbasierte Zustandsrekonstruktion, kein Zugriff auf versteckte Engine-Daten. Die Punktezählung außerhalb des Agenten nutzt für die Auswertung zusätzliche Endzustandsinformationen; diese dürfen nicht als Agentenwissen dargestellt werden. Die Mess- und Statistikkorrekturen verbessern die Bewertung, nicht die Spielstärke.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agents/sherlock/belief.py</a:t>
            </a:r>
          </a:p>
          <a:p xmlns:a="http://schemas.openxmlformats.org/drawingml/2006/main">
            <a:r>
              <a:t>agents/sherlock/main.py</a:t>
            </a:r>
          </a:p>
          <a:p xmlns:a="http://schemas.openxmlformats.org/drawingml/2006/main">
            <a:r>
              <a:t>scripts/scoring.py</a:t>
            </a:r>
          </a:p>
          <a:p xmlns:a="http://schemas.openxmlformats.org/drawingml/2006/main">
            <a:r>
              <a:t>docs/ARBEITSSTAND.md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695de834ea4c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f9390f9e65420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3c8b74a0ff244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d723d75ae74f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57724438b9e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eacb49b9de4c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48DD10-AA67-4A32-9866-9CC6FB01D5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6E2D3A5-7EF1-4DB0-B420-9AD299DDA9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E5DC03-CAEE-48AB-B043-30A655D2080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CF7064-840E-46BB-9479-9F86D4DF52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2123A1-11C0-4253-8B3E-4BCE1273E9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C3F73A-4FA6-4321-AE78-68D98269A0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B3749C-CF16-426F-86B9-87803603666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64BDEF0-225F-4DF4-A5AE-E02BF7DD2EE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563297-5404-4949-A58D-4995C36B35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6DC87D-E215-429E-AB8F-47B9420361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7efccaf4384ba1" /><Relationship Type="http://schemas.openxmlformats.org/officeDocument/2006/relationships/slideLayout" Target="/ppt/slideLayouts/slideLayout1.xml" Id="Rcaad67143e894af8" /><Relationship Type="http://schemas.openxmlformats.org/officeDocument/2006/relationships/slideLayout" Target="/ppt/slideLayouts/slideLayout2.xml" Id="R6255941941d24076" /><Relationship Type="http://schemas.openxmlformats.org/officeDocument/2006/relationships/slideLayout" Target="/ppt/slideLayouts/slideLayout3.xml" Id="R40a0de0888ff45b0" /><Relationship Type="http://schemas.openxmlformats.org/officeDocument/2006/relationships/slideLayout" Target="/ppt/slideLayouts/slideLayout4.xml" Id="R4df33b8f505d46eb" /><Relationship Type="http://schemas.openxmlformats.org/officeDocument/2006/relationships/slideLayout" Target="/ppt/slideLayouts/slideLayout5.xml" Id="R8d15538b7c224fea" /><Relationship Type="http://schemas.openxmlformats.org/officeDocument/2006/relationships/slideLayout" Target="/ppt/slideLayouts/slideLayout6.xml" Id="R63b25995d55042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ad67143e894af8"/>
    <p:sldLayoutId xmlns:r="http://schemas.openxmlformats.org/officeDocument/2006/relationships" id="2147483650" r:id="R6255941941d24076"/>
    <p:sldLayoutId xmlns:r="http://schemas.openxmlformats.org/officeDocument/2006/relationships" id="2147483651" r:id="R40a0de0888ff45b0"/>
    <p:sldLayoutId xmlns:r="http://schemas.openxmlformats.org/officeDocument/2006/relationships" id="2147483652" r:id="R4df33b8f505d46eb"/>
    <p:sldLayoutId xmlns:r="http://schemas.openxmlformats.org/officeDocument/2006/relationships" id="2147483653" r:id="R8d15538b7c224fea"/>
    <p:sldLayoutId xmlns:r="http://schemas.openxmlformats.org/officeDocument/2006/relationships" id="2147483654" r:id="R63b25995d55042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f7a30a52554a54" /><Relationship Type="http://schemas.openxmlformats.org/officeDocument/2006/relationships/notesSlide" Target="/ppt/notesSlides/notesSlide1.xml" Id="Rb89ed8dfb955401e" /></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19427d34a42b4980" /><ns0:Relationship Type="http://schemas.openxmlformats.org/officeDocument/2006/relationships/notesSlide" Target="/ppt/notesSlides/notesSlide2.xml" Id="R679f0b19d8f14a63"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bba449adcbc54912" /><ns0:Relationship Type="http://schemas.openxmlformats.org/officeDocument/2006/relationships/image" Target="/ppt/media/image.jpeg" Id="R05965ca62d664334" /><ns0:Relationship Type="http://schemas.openxmlformats.org/officeDocument/2006/relationships/notesSlide" Target="/ppt/notesSlides/notesSlide3.xml" Id="R7b8137189ca54ab2"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19427d34a42b4980" /><ns0:Relationship Type="http://schemas.openxmlformats.org/officeDocument/2006/relationships/notesSlide" Target="/ppt/notesSlides/notesSlide4.xml" Id="R679f0b19d8f14a63"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15abf5c94d9c49ea" /><ns0:Relationship Type="http://schemas.openxmlformats.org/officeDocument/2006/relationships/notesSlide" Target="/ppt/notesSlides/notesSlide5.xml" Id="R3d6c86f53e2d40e2"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512109faced8492c" /><ns0:Relationship Type="http://schemas.openxmlformats.org/officeDocument/2006/relationships/notesSlide" Target="/ppt/notesSlides/notesSlide6.xml" Id="Rdf20c7be0244440b"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3992919a23b948ba" /><ns0:Relationship Type="http://schemas.openxmlformats.org/officeDocument/2006/relationships/notesSlide" Target="/ppt/notesSlides/notesSlide7.xml" Id="R662d6f0ac040494f"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a85854c462784ba0" /><ns0:Relationship Type="http://schemas.openxmlformats.org/officeDocument/2006/relationships/notesSlide" Target="/ppt/notesSlides/notesSlide8.xml" Id="R7f789faf62fd4e0b"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de8bbdc213e44b5a" /><ns0:Relationship Type="http://schemas.openxmlformats.org/officeDocument/2006/relationships/chart" Target="/ppt/slides/charts/chart1.xml" Id="Rc37e7090310d4e88" /><ns0:Relationship Type="http://schemas.openxmlformats.org/officeDocument/2006/relationships/notesSlide" Target="/ppt/notesSlides/notesSlide9.xml" Id="R4e1493f15cc14b59"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1f203f0f4e8d4521" /><ns0:Relationship Type="http://schemas.openxmlformats.org/officeDocument/2006/relationships/image" Target="/ppt/media/image2.jpeg" Id="Re2337e6fc3c2434d" /><ns0:Relationship Type="http://schemas.openxmlformats.org/officeDocument/2006/relationships/image" Target="/ppt/media/image3.jpeg" Id="R4c0eb88b0e674139" /><ns0:Relationship Type="http://schemas.openxmlformats.org/officeDocument/2006/relationships/notesSlide" Target="/ppt/notesSlides/notesSlide10.xml" Id="Rdda7bab43f614b72"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26f3b5b0382043c7" /><ns0:Relationship Type="http://schemas.openxmlformats.org/officeDocument/2006/relationships/notesSlide" Target="/ppt/notesSlides/notesSlide11.xml" Id="R9fc80f2778664fbc"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fa0a6c13e2114d47" /><ns0:Relationship Type="http://schemas.openxmlformats.org/officeDocument/2006/relationships/notesSlide" Target="/ppt/notesSlides/notesSlide12.xml" Id="Ra7d880b3c4b14fa3"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9fbbe7d3a6a84d92" /><ns0:Relationship Type="http://schemas.openxmlformats.org/officeDocument/2006/relationships/notesSlide" Target="/ppt/notesSlides/notesSlide13.xml" Id="R6784dc4c57b24bfd"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76ae5d1a8deb45ca" /><ns0:Relationship Type="http://schemas.openxmlformats.org/officeDocument/2006/relationships/notesSlide" Target="/ppt/notesSlides/notesSlide14.xml" Id="Rf218b24133b84f1c" /></ns0: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Siegquote</c:v>
          </c:tx>
          <c:spPr>
            <a:solidFill xmlns:a="http://schemas.openxmlformats.org/drawingml/2006/main">
              <a:srgbClr val="007D7B"/>
            </a:solidFill>
          </c:spPr>
          <c:invertIfNegative val="0"/>
          <c:cat>
            <c:strRef>
              <c:f>'Chart Data'!$A$2:$A$3</c:f>
              <c:strCache>
                <c:ptCount val="2"/>
                <c:pt idx="0">
                  <c:v>default</c:v>
                </c:pt>
                <c:pt idx="1">
                  <c:v>Solution_92</c:v>
                </c:pt>
              </c:strCache>
            </c:strRef>
          </c:cat>
          <c:val>
            <c:numRef>
              <c:f>'Chart Data'!$B$2:$B$3</c:f>
              <c:numCache>
                <c:formatCode>0%</c:formatCode>
                <c:ptCount val="2"/>
                <c:pt idx="0">
                  <c:v>1</c:v>
                </c:pt>
                <c:pt idx="1">
                  <c:v>0.467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02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02D35"/>
                </a:solidFill>
                <a:latin typeface="Helvetica Neue"/>
                <a:ea typeface="Helvetica Neue"/>
                <a:cs typeface="Helvetica Neue"/>
              </a:defRPr>
            </a:pPr>
          </a:p>
        </c:txPr>
        <c:crossAx val="48672768"/>
      </c:catAx>
      <c:valAx>
        <c:axId val="48672768"/>
        <c:scaling>
          <c:orientation val="minMax"/>
          <c:max val="1.15"/>
          <c:min val="0"/>
        </c:scaling>
        <c:delete val="0"/>
        <c:axPos val="l"/>
        <c:majorGridlines>
          <c:spPr>
            <a:ln xmlns:a="http://schemas.openxmlformats.org/drawingml/2006/main" w="9525">
              <a:solidFill>
                <a:srgbClr val="CFDBD7"/>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26B70"/>
                </a:solidFill>
                <a:latin typeface="Helvetica Neue"/>
                <a:ea typeface="Helvetica Neue"/>
                <a:cs typeface="Helvetica Neue"/>
              </a:defRPr>
            </a:pPr>
          </a:p>
        </c:txPr>
        <c:crossAx val="48650112"/>
        <c:crossBetween val="between"/>
        <c:majorUnit val="0.25"/>
      </c:valAx>
      <c:spPr>
        <a:solidFill xmlns:a="http://schemas.openxmlformats.org/drawingml/2006/main">
          <a:srgbClr val="F7F7F0"/>
        </a:solidFill>
      </c:spPr>
    </c:plotArea>
    <c:plotVisOnly val="1"/>
  </c:chart>
  <c:spPr>
    <a:solidFill xmlns:a="http://schemas.openxmlformats.org/drawingml/2006/main">
      <a:srgbClr val="F7F7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D35"/>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C063771D-A37F-4BDF-BB81-15739067C00B}"/>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A4C9C4"/>
                </a:solidFill>
                <a:latin typeface="Helvetica Neue"/>
                <a:ea typeface="Helvetica Neue"/>
                <a:cs typeface="Helvetica Neue"/>
              </a:defRPr>
            </a:defPPr>
          </a:lstStyle>
          <a:p xmlns:a="http://schemas.openxmlformats.org/drawingml/2006/main">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Team 15 · Mahmoud El-Hassan &amp; Moayed Shawesh">
            <a:extLst xmlns:a="http://schemas.openxmlformats.org/drawingml/2006/main">
              <a:ext uri="{FF2B5EF4-FFF2-40B4-BE49-F238E27FC236}">
                <a16:creationId xmlns:a16="http://schemas.microsoft.com/office/drawing/2014/main" id="{371612F8-DE08-48AA-BDD8-895AB4C9B03F}"/>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3" name="01">
            <a:extLst xmlns:a="http://schemas.openxmlformats.org/drawingml/2006/main">
              <a:ext uri="{FF2B5EF4-FFF2-40B4-BE49-F238E27FC236}">
                <a16:creationId xmlns:a16="http://schemas.microsoft.com/office/drawing/2014/main" id="{28A5B735-40EF-4D11-951E-12446A0AB5EE}"/>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01</a:t>
            </a:r>
          </a:p>
        </p:txBody>
      </p:sp>
      <p:sp>
        <p:nvSpPr>
          <p:cNvPr id="4" name="Sherlock">
            <a:extLst xmlns:a="http://schemas.openxmlformats.org/drawingml/2006/main">
              <a:ext uri="{FF2B5EF4-FFF2-40B4-BE49-F238E27FC236}">
                <a16:creationId xmlns:a16="http://schemas.microsoft.com/office/drawing/2014/main" id="{8C5CFDB2-F9A2-4E46-92C9-BB0E1B10DE47}"/>
              </a:ext>
            </a:extLst>
          </p:cNvPr>
          <p:cNvSpPr>
            <a:spLocks xmlns:a="http://schemas.openxmlformats.org/drawingml/2006/main" noGrp="1"/>
          </p:cNvSpPr>
          <p:nvPr/>
        </p:nvSpPr>
        <p:spPr>
          <a:xfrm xmlns:a="http://schemas.openxmlformats.org/drawingml/2006/main">
            <a:off x="609600" y="1809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900" b="1">
                <a:solidFill>
                  <a:srgbClr val="FFFFFF"/>
                </a:solidFill>
                <a:latin typeface="Helvetica Neue"/>
                <a:ea typeface="Helvetica Neue"/>
                <a:cs typeface="Helvetica Neue"/>
              </a:defRPr>
            </a:defPPr>
          </a:lstStyle>
          <a:p xmlns:a="http://schemas.openxmlformats.org/drawingml/2006/main">
            <a:pPr>
              <a:defRPr sz="6900" b="1">
                <a:solidFill>
                  <a:srgbClr val="FFFFFF"/>
                </a:solidFill>
                <a:latin typeface="Helvetica Neue"/>
                <a:ea typeface="Helvetica Neue"/>
                <a:cs typeface="Helvetica Neue"/>
              </a:defRPr>
            </a:pPr>
            <a:r>
              <a:rPr sz="6900" b="1">
                <a:solidFill>
                  <a:srgbClr val="FFFFFF"/>
                </a:solidFill>
                <a:latin typeface="Helvetica Neue"/>
                <a:ea typeface="Helvetica Neue"/>
                <a:cs typeface="Helvetica Neue"/>
              </a:rPr>
              <a:t>Sherlock</a:t>
            </a:r>
          </a:p>
        </p:txBody>
      </p:sp>
      <p:sp>
        <p:nvSpPr>
          <p:cNvPr id="5" name="Lernen mit Gedächtnis">
            <a:extLst xmlns:a="http://schemas.openxmlformats.org/drawingml/2006/main">
              <a:ext uri="{FF2B5EF4-FFF2-40B4-BE49-F238E27FC236}">
                <a16:creationId xmlns:a16="http://schemas.microsoft.com/office/drawing/2014/main" id="{85CE8C2C-8C62-4A6E-800A-DBE6044E58BC}"/>
              </a:ext>
            </a:extLst>
          </p:cNvPr>
          <p:cNvSpPr>
            <a:spLocks xmlns:a="http://schemas.openxmlformats.org/drawingml/2006/main" noGrp="1"/>
          </p:cNvSpPr>
          <p:nvPr/>
        </p:nvSpPr>
        <p:spPr>
          <a:xfrm xmlns:a="http://schemas.openxmlformats.org/drawingml/2006/main">
            <a:off x="647700" y="3000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B7D8D0"/>
                </a:solidFill>
                <a:latin typeface="Helvetica Neue"/>
                <a:ea typeface="Helvetica Neue"/>
                <a:cs typeface="Helvetica Neue"/>
              </a:defRPr>
            </a:defPPr>
          </a:lstStyle>
          <a:p xmlns:a="http://schemas.openxmlformats.org/drawingml/2006/main">
            <a:pPr>
              <a:defRPr sz="3300" b="0">
                <a:solidFill>
                  <a:srgbClr val="B7D8D0"/>
                </a:solidFill>
                <a:latin typeface="Helvetica Neue"/>
                <a:ea typeface="Helvetica Neue"/>
                <a:cs typeface="Helvetica Neue"/>
              </a:defRPr>
            </a:pPr>
            <a:r>
              <a:rPr sz="3300" b="0">
                <a:solidFill>
                  <a:srgbClr val="B7D8D0"/>
                </a:solidFill>
                <a:latin typeface="Helvetica Neue"/>
                <a:ea typeface="Helvetica Neue"/>
                <a:cs typeface="Helvetica Neue"/>
              </a:rPr>
              <a:t>Lernen mit Gedächtnis</a:t>
            </a:r>
          </a:p>
        </p:txBody>
      </p:sp>
      <p:sp>
        <p:nvSpPr>
          <p:cNvPr id="6" name="Ein Double-DQN-Agent für Lux AI Season 3">
            <a:extLst xmlns:a="http://schemas.openxmlformats.org/drawingml/2006/main">
              <a:ext uri="{FF2B5EF4-FFF2-40B4-BE49-F238E27FC236}">
                <a16:creationId xmlns:a16="http://schemas.microsoft.com/office/drawing/2014/main" id="{231A6E25-2363-4FD8-A90A-9174F119CA3F}"/>
              </a:ext>
            </a:extLst>
          </p:cNvPr>
          <p:cNvSpPr>
            <a:spLocks xmlns:a="http://schemas.openxmlformats.org/drawingml/2006/main" noGrp="1"/>
          </p:cNvSpPr>
          <p:nvPr/>
        </p:nvSpPr>
        <p:spPr>
          <a:xfrm xmlns:a="http://schemas.openxmlformats.org/drawingml/2006/main">
            <a:off x="647700" y="4048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Helvetica Neue"/>
                <a:ea typeface="Helvetica Neue"/>
                <a:cs typeface="Helvetica Neue"/>
              </a:defRPr>
            </a:defPPr>
          </a:lstStyle>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Ein Double-DQN-Agent für Lux AI Season 3</a:t>
            </a:r>
          </a:p>
        </p:txBody>
      </p:sp>
      <p:sp>
        <p:nvSpPr>
          <p:cNvPr id="7" name="Mahmoud El-Hassan · Moayed Shawesh&#10;HTW Berlin">
            <a:extLst xmlns:a="http://schemas.openxmlformats.org/drawingml/2006/main">
              <a:ext uri="{FF2B5EF4-FFF2-40B4-BE49-F238E27FC236}">
                <a16:creationId xmlns:a16="http://schemas.microsoft.com/office/drawing/2014/main" id="{095FCB90-F9A4-4A3C-8334-FDD46BBFE246}"/>
              </a:ext>
            </a:extLst>
          </p:cNvPr>
          <p:cNvSpPr>
            <a:spLocks xmlns:a="http://schemas.openxmlformats.org/drawingml/2006/main" noGrp="1"/>
          </p:cNvSpPr>
          <p:nvPr/>
        </p:nvSpPr>
        <p:spPr>
          <a:xfrm xmlns:a="http://schemas.openxmlformats.org/drawingml/2006/main">
            <a:off x="647700" y="5191125"/>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7D8D0"/>
                </a:solidFill>
                <a:latin typeface="Helvetica Neue"/>
                <a:ea typeface="Helvetica Neue"/>
                <a:cs typeface="Helvetica Neue"/>
              </a:defRPr>
            </a:defPPr>
          </a:lstStyle>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Mahmoud El-Hassan · Moayed Shawesh</a:t>
            </a:r>
          </a:p>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HTW Berlin · Anwendungen der KI · 16.10.2026</a:t>
            </a:r>
          </a:p>
        </p:txBody>
      </p:sp>
    </p:spTree>
    <p:extLst>
      <p:ext uri="{BB962C8B-B14F-4D97-AF65-F5344CB8AC3E}">
        <p14:creationId xmlns:p14="http://schemas.microsoft.com/office/powerpoint/2010/main" val="1687376503"/>
      </p:ext>
    </p:extLst>
  </p:cSld>
</p:sld>
</file>

<file path=ppt/slides/slide2.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7" name="SHERLOCK / REVIEW 01">
            <a:extLst xmlns:a="http://schemas.openxmlformats.org/drawingml/2006/main">
              <a:ext uri="{FF2B5EF4-FFF2-40B4-BE49-F238E27FC236}">
                <a16:creationId xmlns:a16="http://schemas.microsoft.com/office/drawing/2014/main" id="{4ABBEAE0-A954-41E9-A7C6-DDDF1B53548C}"/>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007D7B"/>
                </a:solidFill>
                <a:latin typeface="Helvetica Neue"/>
                <a:ea typeface="Helvetica Neue"/>
                <a:cs typeface="Helvetica Neue"/>
              </a:defRPr>
            </a:defPPr>
          </a:lstStyle>
          <a:p xmlns:a="http://schemas.openxmlformats.org/drawingml/2006/main">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Agenda">
            <a:extLst xmlns:a="http://schemas.openxmlformats.org/drawingml/2006/main">
              <a:ext uri="{FF2B5EF4-FFF2-40B4-BE49-F238E27FC236}">
                <a16:creationId xmlns:a16="http://schemas.microsoft.com/office/drawing/2014/main" id="{CF15880C-FAC8-4E31-8F11-A298F5128FE6}"/>
              </a:ext>
            </a:extLst>
          </p:cNvPr>
          <p:cNvSpPr>
            <a:spLocks xmlns:a="http://schemas.openxmlformats.org/drawingml/2006/main" noGrp="1"/>
          </p:cNvSpPr>
          <p:nvPr/>
        </p:nvSpPr>
        <p:spPr>
          <a:xfrm xmlns:a="http://schemas.openxmlformats.org/drawingml/2006/main">
            <a:off x="609600" y="7810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300" b="1">
                <a:solidFill>
                  <a:srgbClr val="102D35"/>
                </a:solidFill>
                <a:latin typeface="Helvetica Neue"/>
                <a:ea typeface="Helvetica Neue"/>
                <a:cs typeface="Helvetica Neue"/>
              </a:defRPr>
            </a:defPPr>
          </a:lstStyle>
          <a:p xmlns:a="http://schemas.openxmlformats.org/drawingml/2006/main">
            <a:pPr>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Agenda</a:t>
            </a:r>
          </a:p>
        </p:txBody>
      </p:sp>
      <p:sp>
        <p:nvSpPr>
          <p:cNvPr id="3" name="Team 15 · Mahmoud El-Hassan &amp; Moayed Shawesh">
            <a:extLst xmlns:a="http://schemas.openxmlformats.org/drawingml/2006/main">
              <a:ext uri="{FF2B5EF4-FFF2-40B4-BE49-F238E27FC236}">
                <a16:creationId xmlns:a16="http://schemas.microsoft.com/office/drawing/2014/main" id="{B3BD07BA-C22D-40E7-99FE-B531044E7E19}"/>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2">
            <a:extLst xmlns:a="http://schemas.openxmlformats.org/drawingml/2006/main">
              <a:ext uri="{FF2B5EF4-FFF2-40B4-BE49-F238E27FC236}">
                <a16:creationId xmlns:a16="http://schemas.microsoft.com/office/drawing/2014/main" id="{0C0B675C-18D9-4F40-9A99-CDA4B6653D24}"/>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26B70"/>
                </a:solidFill>
                <a:latin typeface="Helvetica Neue"/>
                <a:ea typeface="Helvetica Neue"/>
                <a:cs typeface="Helvetica Neue"/>
              </a:defRPr>
            </a:defPPr>
          </a:lstStyle>
          <a:p xmlns:a="http://schemas.openxmlformats.org/drawingml/2006/main">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02</a:t>
            </a:r>
          </a:p>
        </p:txBody>
      </p:sp>
      <p:sp>
        <p:nvSpPr>
          <p:cNvPr id="5" name="1.">
            <a:extLst xmlns:a="http://schemas.openxmlformats.org/drawingml/2006/main">
              <a:ext uri="{FF2B5EF4-FFF2-40B4-BE49-F238E27FC236}">
                <a16:creationId xmlns:a16="http://schemas.microsoft.com/office/drawing/2014/main" id="{326581D1-8A36-4D6D-99D9-580D296121B9}"/>
              </a:ext>
            </a:extLst>
          </p:cNvPr>
          <p:cNvSpPr>
            <a:spLocks xmlns:a="http://schemas.openxmlformats.org/drawingml/2006/main" noGrp="1"/>
          </p:cNvSpPr>
          <p:nvPr/>
        </p:nvSpPr>
        <p:spPr>
          <a:xfrm xmlns:a="http://schemas.openxmlformats.org/drawingml/2006/main">
            <a:off x="990600" y="1943100"/>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007D7B"/>
                </a:solidFill>
                <a:latin typeface="Helvetica Neue"/>
                <a:ea typeface="Helvetica Neue"/>
                <a:cs typeface="Helvetica Neue"/>
              </a:defRPr>
            </a:defPPr>
          </a:lstStyle>
          <a:p xmlns:a="http://schemas.openxmlformats.org/drawingml/2006/main">
            <a:pPr>
              <a:defRPr sz="2400" b="1">
                <a:solidFill>
                  <a:srgbClr val="007D7B"/>
                </a:solidFill>
                <a:latin typeface="Helvetica Neue"/>
                <a:ea typeface="Helvetica Neue"/>
                <a:cs typeface="Helvetica Neue"/>
              </a:defRPr>
            </a:pPr>
            <a:r>
              <a:rPr sz="2400" b="1">
                <a:solidFill>
                  <a:srgbClr val="007D7B"/>
                </a:solidFill>
                <a:latin typeface="Helvetica Neue"/>
                <a:ea typeface="Helvetica Neue"/>
                <a:cs typeface="Helvetica Neue"/>
              </a:rPr>
              <a:t>1.</a:t>
            </a:r>
          </a:p>
        </p:txBody>
      </p:sp>
      <p:sp>
        <p:nvSpPr>
          <p:cNvPr id="6" name="Spielidee und Ziel">
            <a:extLst xmlns:a="http://schemas.openxmlformats.org/drawingml/2006/main">
              <a:ext uri="{FF2B5EF4-FFF2-40B4-BE49-F238E27FC236}">
                <a16:creationId xmlns:a16="http://schemas.microsoft.com/office/drawing/2014/main" id="{765CF1AA-E43A-4D6F-87D7-D33E77B1C6F0}"/>
              </a:ext>
            </a:extLst>
          </p:cNvPr>
          <p:cNvSpPr>
            <a:spLocks xmlns:a="http://schemas.openxmlformats.org/drawingml/2006/main" noGrp="1"/>
          </p:cNvSpPr>
          <p:nvPr/>
        </p:nvSpPr>
        <p:spPr>
          <a:xfrm xmlns:a="http://schemas.openxmlformats.org/drawingml/2006/main">
            <a:off x="1752600" y="1943100"/>
            <a:ext cx="942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02D35"/>
                </a:solidFill>
                <a:latin typeface="Helvetica Neue"/>
                <a:ea typeface="Helvetica Neue"/>
                <a:cs typeface="Helvetica Neue"/>
              </a:defRPr>
            </a:defPPr>
          </a:lstStyle>
          <a:p xmlns:a="http://schemas.openxmlformats.org/drawingml/2006/main">
            <a:pPr>
              <a:defRPr sz="2400" b="0">
                <a:solidFill>
                  <a:srgbClr val="102D35"/>
                </a:solidFill>
                <a:latin typeface="Helvetica Neue"/>
                <a:ea typeface="Helvetica Neue"/>
                <a:cs typeface="Helvetica Neue"/>
              </a:defRPr>
            </a:pPr>
            <a:r>
              <a:rPr sz="2400" b="0">
                <a:solidFill>
                  <a:srgbClr val="102D35"/>
                </a:solidFill>
                <a:latin typeface="Helvetica Neue"/>
                <a:ea typeface="Helvetica Neue"/>
                <a:cs typeface="Helvetica Neue"/>
              </a:rPr>
              <a:t>Spielidee und Ziel</a:t>
            </a:r>
          </a:p>
        </p:txBody>
      </p:sp>
      <p:sp>
        <p:nvSpPr>
          <p:cNvPr id="7" name="2.">
            <a:extLst xmlns:a="http://schemas.openxmlformats.org/drawingml/2006/main">
              <a:ext uri="{FF2B5EF4-FFF2-40B4-BE49-F238E27FC236}">
                <a16:creationId xmlns:a16="http://schemas.microsoft.com/office/drawing/2014/main" id="{16C7F777-7A13-447F-A78A-B8BD8CCA5AA2}"/>
              </a:ext>
            </a:extLst>
          </p:cNvPr>
          <p:cNvSpPr>
            <a:spLocks xmlns:a="http://schemas.openxmlformats.org/drawingml/2006/main" noGrp="1"/>
          </p:cNvSpPr>
          <p:nvPr/>
        </p:nvSpPr>
        <p:spPr>
          <a:xfrm xmlns:a="http://schemas.openxmlformats.org/drawingml/2006/main">
            <a:off x="990600" y="2600325"/>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007D7B"/>
                </a:solidFill>
                <a:latin typeface="Helvetica Neue"/>
                <a:ea typeface="Helvetica Neue"/>
                <a:cs typeface="Helvetica Neue"/>
              </a:defRPr>
            </a:defPPr>
          </a:lstStyle>
          <a:p xmlns:a="http://schemas.openxmlformats.org/drawingml/2006/main">
            <a:pPr>
              <a:defRPr sz="2400" b="1">
                <a:solidFill>
                  <a:srgbClr val="007D7B"/>
                </a:solidFill>
                <a:latin typeface="Helvetica Neue"/>
                <a:ea typeface="Helvetica Neue"/>
                <a:cs typeface="Helvetica Neue"/>
              </a:defRPr>
            </a:pPr>
            <a:r>
              <a:rPr sz="2400" b="1">
                <a:solidFill>
                  <a:srgbClr val="007D7B"/>
                </a:solidFill>
                <a:latin typeface="Helvetica Neue"/>
                <a:ea typeface="Helvetica Neue"/>
                <a:cs typeface="Helvetica Neue"/>
              </a:rPr>
              <a:t>2.</a:t>
            </a:r>
          </a:p>
        </p:txBody>
      </p:sp>
      <p:sp>
        <p:nvSpPr>
          <p:cNvPr id="8" name="Agent und Merkmale">
            <a:extLst xmlns:a="http://schemas.openxmlformats.org/drawingml/2006/main">
              <a:ext uri="{FF2B5EF4-FFF2-40B4-BE49-F238E27FC236}">
                <a16:creationId xmlns:a16="http://schemas.microsoft.com/office/drawing/2014/main" id="{02D31940-4101-4615-A933-96D81F92AFAC}"/>
              </a:ext>
            </a:extLst>
          </p:cNvPr>
          <p:cNvSpPr>
            <a:spLocks xmlns:a="http://schemas.openxmlformats.org/drawingml/2006/main" noGrp="1"/>
          </p:cNvSpPr>
          <p:nvPr/>
        </p:nvSpPr>
        <p:spPr>
          <a:xfrm xmlns:a="http://schemas.openxmlformats.org/drawingml/2006/main">
            <a:off x="1752600" y="2600325"/>
            <a:ext cx="942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02D35"/>
                </a:solidFill>
                <a:latin typeface="Helvetica Neue"/>
                <a:ea typeface="Helvetica Neue"/>
                <a:cs typeface="Helvetica Neue"/>
              </a:defRPr>
            </a:defPPr>
          </a:lstStyle>
          <a:p xmlns:a="http://schemas.openxmlformats.org/drawingml/2006/main">
            <a:pPr>
              <a:defRPr sz="2400" b="0">
                <a:solidFill>
                  <a:srgbClr val="102D35"/>
                </a:solidFill>
                <a:latin typeface="Helvetica Neue"/>
                <a:ea typeface="Helvetica Neue"/>
                <a:cs typeface="Helvetica Neue"/>
              </a:defRPr>
            </a:pPr>
            <a:r>
              <a:rPr sz="2400" b="0">
                <a:solidFill>
                  <a:srgbClr val="102D35"/>
                </a:solidFill>
                <a:latin typeface="Helvetica Neue"/>
                <a:ea typeface="Helvetica Neue"/>
                <a:cs typeface="Helvetica Neue"/>
              </a:rPr>
              <a:t>Agent und Merkmale</a:t>
            </a:r>
          </a:p>
        </p:txBody>
      </p:sp>
      <p:sp>
        <p:nvSpPr>
          <p:cNvPr id="9" name="3.">
            <a:extLst xmlns:a="http://schemas.openxmlformats.org/drawingml/2006/main">
              <a:ext uri="{FF2B5EF4-FFF2-40B4-BE49-F238E27FC236}">
                <a16:creationId xmlns:a16="http://schemas.microsoft.com/office/drawing/2014/main" id="{6980250E-EDA0-400F-89D6-73761753468F}"/>
              </a:ext>
            </a:extLst>
          </p:cNvPr>
          <p:cNvSpPr>
            <a:spLocks xmlns:a="http://schemas.openxmlformats.org/drawingml/2006/main" noGrp="1"/>
          </p:cNvSpPr>
          <p:nvPr/>
        </p:nvSpPr>
        <p:spPr>
          <a:xfrm xmlns:a="http://schemas.openxmlformats.org/drawingml/2006/main">
            <a:off x="990600" y="3257550"/>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007D7B"/>
                </a:solidFill>
                <a:latin typeface="Helvetica Neue"/>
                <a:ea typeface="Helvetica Neue"/>
                <a:cs typeface="Helvetica Neue"/>
              </a:defRPr>
            </a:defPPr>
          </a:lstStyle>
          <a:p xmlns:a="http://schemas.openxmlformats.org/drawingml/2006/main">
            <a:pPr>
              <a:defRPr sz="2400" b="1">
                <a:solidFill>
                  <a:srgbClr val="007D7B"/>
                </a:solidFill>
                <a:latin typeface="Helvetica Neue"/>
                <a:ea typeface="Helvetica Neue"/>
                <a:cs typeface="Helvetica Neue"/>
              </a:defRPr>
            </a:pPr>
            <a:r>
              <a:rPr sz="2400" b="1">
                <a:solidFill>
                  <a:srgbClr val="007D7B"/>
                </a:solidFill>
                <a:latin typeface="Helvetica Neue"/>
                <a:ea typeface="Helvetica Neue"/>
                <a:cs typeface="Helvetica Neue"/>
              </a:rPr>
              <a:t>3.</a:t>
            </a:r>
          </a:p>
        </p:txBody>
      </p:sp>
      <p:sp>
        <p:nvSpPr>
          <p:cNvPr id="10" name="Netzarchitektur und Lernverfahren">
            <a:extLst xmlns:a="http://schemas.openxmlformats.org/drawingml/2006/main">
              <a:ext uri="{FF2B5EF4-FFF2-40B4-BE49-F238E27FC236}">
                <a16:creationId xmlns:a16="http://schemas.microsoft.com/office/drawing/2014/main" id="{567F9081-5523-44FC-BC71-20351ADBAA0B}"/>
              </a:ext>
            </a:extLst>
          </p:cNvPr>
          <p:cNvSpPr>
            <a:spLocks xmlns:a="http://schemas.openxmlformats.org/drawingml/2006/main" noGrp="1"/>
          </p:cNvSpPr>
          <p:nvPr/>
        </p:nvSpPr>
        <p:spPr>
          <a:xfrm xmlns:a="http://schemas.openxmlformats.org/drawingml/2006/main">
            <a:off x="1752600" y="3257550"/>
            <a:ext cx="942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02D35"/>
                </a:solidFill>
                <a:latin typeface="Helvetica Neue"/>
                <a:ea typeface="Helvetica Neue"/>
                <a:cs typeface="Helvetica Neue"/>
              </a:defRPr>
            </a:defPPr>
          </a:lstStyle>
          <a:p xmlns:a="http://schemas.openxmlformats.org/drawingml/2006/main">
            <a:pPr>
              <a:defRPr sz="2400" b="0">
                <a:solidFill>
                  <a:srgbClr val="102D35"/>
                </a:solidFill>
                <a:latin typeface="Helvetica Neue"/>
                <a:ea typeface="Helvetica Neue"/>
                <a:cs typeface="Helvetica Neue"/>
              </a:defRPr>
            </a:pPr>
            <a:r>
              <a:rPr sz="2400" b="0">
                <a:solidFill>
                  <a:srgbClr val="102D35"/>
                </a:solidFill>
                <a:latin typeface="Helvetica Neue"/>
                <a:ea typeface="Helvetica Neue"/>
                <a:cs typeface="Helvetica Neue"/>
              </a:rPr>
              <a:t>Netzarchitektur und Lernverfahren</a:t>
            </a:r>
          </a:p>
        </p:txBody>
      </p:sp>
      <p:sp>
        <p:nvSpPr>
          <p:cNvPr id="11" name="4.">
            <a:extLst xmlns:a="http://schemas.openxmlformats.org/drawingml/2006/main">
              <a:ext uri="{FF2B5EF4-FFF2-40B4-BE49-F238E27FC236}">
                <a16:creationId xmlns:a16="http://schemas.microsoft.com/office/drawing/2014/main" id="{2D96320F-FFE4-4880-9A93-DF660873DCCD}"/>
              </a:ext>
            </a:extLst>
          </p:cNvPr>
          <p:cNvSpPr>
            <a:spLocks xmlns:a="http://schemas.openxmlformats.org/drawingml/2006/main" noGrp="1"/>
          </p:cNvSpPr>
          <p:nvPr/>
        </p:nvSpPr>
        <p:spPr>
          <a:xfrm xmlns:a="http://schemas.openxmlformats.org/drawingml/2006/main">
            <a:off x="990600" y="3914775"/>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007D7B"/>
                </a:solidFill>
                <a:latin typeface="Helvetica Neue"/>
                <a:ea typeface="Helvetica Neue"/>
                <a:cs typeface="Helvetica Neue"/>
              </a:defRPr>
            </a:defPPr>
          </a:lstStyle>
          <a:p xmlns:a="http://schemas.openxmlformats.org/drawingml/2006/main">
            <a:pPr>
              <a:defRPr sz="2400" b="1">
                <a:solidFill>
                  <a:srgbClr val="007D7B"/>
                </a:solidFill>
                <a:latin typeface="Helvetica Neue"/>
                <a:ea typeface="Helvetica Neue"/>
                <a:cs typeface="Helvetica Neue"/>
              </a:defRPr>
            </a:pPr>
            <a:r>
              <a:rPr sz="2400" b="1">
                <a:solidFill>
                  <a:srgbClr val="007D7B"/>
                </a:solidFill>
                <a:latin typeface="Helvetica Neue"/>
                <a:ea typeface="Helvetica Neue"/>
                <a:cs typeface="Helvetica Neue"/>
              </a:rPr>
              <a:t>4.</a:t>
            </a:r>
          </a:p>
        </p:txBody>
      </p:sp>
      <p:sp>
        <p:nvSpPr>
          <p:cNvPr id="12" name="Training und Auswertung">
            <a:extLst xmlns:a="http://schemas.openxmlformats.org/drawingml/2006/main">
              <a:ext uri="{FF2B5EF4-FFF2-40B4-BE49-F238E27FC236}">
                <a16:creationId xmlns:a16="http://schemas.microsoft.com/office/drawing/2014/main" id="{D64CA8EA-DF54-4D54-8D1C-3EAA1E37236B}"/>
              </a:ext>
            </a:extLst>
          </p:cNvPr>
          <p:cNvSpPr>
            <a:spLocks xmlns:a="http://schemas.openxmlformats.org/drawingml/2006/main" noGrp="1"/>
          </p:cNvSpPr>
          <p:nvPr/>
        </p:nvSpPr>
        <p:spPr>
          <a:xfrm xmlns:a="http://schemas.openxmlformats.org/drawingml/2006/main">
            <a:off x="1752600" y="3914775"/>
            <a:ext cx="942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02D35"/>
                </a:solidFill>
                <a:latin typeface="Helvetica Neue"/>
                <a:ea typeface="Helvetica Neue"/>
                <a:cs typeface="Helvetica Neue"/>
              </a:defRPr>
            </a:defPPr>
          </a:lstStyle>
          <a:p xmlns:a="http://schemas.openxmlformats.org/drawingml/2006/main">
            <a:pPr>
              <a:defRPr sz="2400" b="0">
                <a:solidFill>
                  <a:srgbClr val="102D35"/>
                </a:solidFill>
                <a:latin typeface="Helvetica Neue"/>
                <a:ea typeface="Helvetica Neue"/>
                <a:cs typeface="Helvetica Neue"/>
              </a:defRPr>
            </a:pPr>
            <a:r>
              <a:rPr sz="2400" b="0">
                <a:solidFill>
                  <a:srgbClr val="102D35"/>
                </a:solidFill>
                <a:latin typeface="Helvetica Neue"/>
                <a:ea typeface="Helvetica Neue"/>
                <a:cs typeface="Helvetica Neue"/>
              </a:rPr>
              <a:t>Training und Auswertung</a:t>
            </a:r>
          </a:p>
        </p:txBody>
      </p:sp>
      <p:sp>
        <p:nvSpPr>
          <p:cNvPr id="13" name="5.">
            <a:extLst xmlns:a="http://schemas.openxmlformats.org/drawingml/2006/main">
              <a:ext uri="{FF2B5EF4-FFF2-40B4-BE49-F238E27FC236}">
                <a16:creationId xmlns:a16="http://schemas.microsoft.com/office/drawing/2014/main" id="{F5266D6F-72D7-46E0-ADD8-B3D95FF6B80C}"/>
              </a:ext>
            </a:extLst>
          </p:cNvPr>
          <p:cNvSpPr>
            <a:spLocks xmlns:a="http://schemas.openxmlformats.org/drawingml/2006/main" noGrp="1"/>
          </p:cNvSpPr>
          <p:nvPr/>
        </p:nvSpPr>
        <p:spPr>
          <a:xfrm xmlns:a="http://schemas.openxmlformats.org/drawingml/2006/main">
            <a:off x="990600" y="4572000"/>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007D7B"/>
                </a:solidFill>
                <a:latin typeface="Helvetica Neue"/>
                <a:ea typeface="Helvetica Neue"/>
                <a:cs typeface="Helvetica Neue"/>
              </a:defRPr>
            </a:defPPr>
          </a:lstStyle>
          <a:p xmlns:a="http://schemas.openxmlformats.org/drawingml/2006/main">
            <a:pPr>
              <a:defRPr sz="2400" b="1">
                <a:solidFill>
                  <a:srgbClr val="007D7B"/>
                </a:solidFill>
                <a:latin typeface="Helvetica Neue"/>
                <a:ea typeface="Helvetica Neue"/>
                <a:cs typeface="Helvetica Neue"/>
              </a:defRPr>
            </a:pPr>
            <a:r>
              <a:rPr sz="2400" b="1">
                <a:solidFill>
                  <a:srgbClr val="007D7B"/>
                </a:solidFill>
                <a:latin typeface="Helvetica Neue"/>
                <a:ea typeface="Helvetica Neue"/>
                <a:cs typeface="Helvetica Neue"/>
              </a:rPr>
              <a:t>5.</a:t>
            </a:r>
          </a:p>
        </p:txBody>
      </p:sp>
      <p:sp>
        <p:nvSpPr>
          <p:cNvPr id="14" name="Ergebnisse und Spielbeispiel">
            <a:extLst xmlns:a="http://schemas.openxmlformats.org/drawingml/2006/main">
              <a:ext uri="{FF2B5EF4-FFF2-40B4-BE49-F238E27FC236}">
                <a16:creationId xmlns:a16="http://schemas.microsoft.com/office/drawing/2014/main" id="{6D651846-F33A-4681-88BB-FCDD9C4E8809}"/>
              </a:ext>
            </a:extLst>
          </p:cNvPr>
          <p:cNvSpPr>
            <a:spLocks xmlns:a="http://schemas.openxmlformats.org/drawingml/2006/main" noGrp="1"/>
          </p:cNvSpPr>
          <p:nvPr/>
        </p:nvSpPr>
        <p:spPr>
          <a:xfrm xmlns:a="http://schemas.openxmlformats.org/drawingml/2006/main">
            <a:off x="1752600" y="4572000"/>
            <a:ext cx="942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02D35"/>
                </a:solidFill>
                <a:latin typeface="Helvetica Neue"/>
                <a:ea typeface="Helvetica Neue"/>
                <a:cs typeface="Helvetica Neue"/>
              </a:defRPr>
            </a:defPPr>
          </a:lstStyle>
          <a:p xmlns:a="http://schemas.openxmlformats.org/drawingml/2006/main">
            <a:pPr>
              <a:defRPr sz="2400" b="0">
                <a:solidFill>
                  <a:srgbClr val="102D35"/>
                </a:solidFill>
                <a:latin typeface="Helvetica Neue"/>
                <a:ea typeface="Helvetica Neue"/>
                <a:cs typeface="Helvetica Neue"/>
              </a:defRPr>
            </a:pPr>
            <a:r>
              <a:rPr sz="2400" b="0">
                <a:solidFill>
                  <a:srgbClr val="102D35"/>
                </a:solidFill>
                <a:latin typeface="Helvetica Neue"/>
                <a:ea typeface="Helvetica Neue"/>
                <a:cs typeface="Helvetica Neue"/>
              </a:rPr>
              <a:t>Ergebnisse und Spielbeispiel</a:t>
            </a:r>
          </a:p>
        </p:txBody>
      </p:sp>
      <p:sp>
        <p:nvSpPr>
          <p:cNvPr id="15" name="6.">
            <a:extLst xmlns:a="http://schemas.openxmlformats.org/drawingml/2006/main">
              <a:ext uri="{FF2B5EF4-FFF2-40B4-BE49-F238E27FC236}">
                <a16:creationId xmlns:a16="http://schemas.microsoft.com/office/drawing/2014/main" id="{EE11B27D-EC8F-45BF-AB4A-95F95A4FAAC3}"/>
              </a:ext>
            </a:extLst>
          </p:cNvPr>
          <p:cNvSpPr>
            <a:spLocks xmlns:a="http://schemas.openxmlformats.org/drawingml/2006/main" noGrp="1"/>
          </p:cNvSpPr>
          <p:nvPr/>
        </p:nvSpPr>
        <p:spPr>
          <a:xfrm xmlns:a="http://schemas.openxmlformats.org/drawingml/2006/main">
            <a:off x="990600" y="5229225"/>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1">
                <a:solidFill>
                  <a:srgbClr val="007D7B"/>
                </a:solidFill>
                <a:latin typeface="Helvetica Neue"/>
                <a:ea typeface="Helvetica Neue"/>
                <a:cs typeface="Helvetica Neue"/>
              </a:defRPr>
            </a:defPPr>
          </a:lstStyle>
          <a:p xmlns:a="http://schemas.openxmlformats.org/drawingml/2006/main">
            <a:pPr>
              <a:defRPr sz="2400" b="1">
                <a:solidFill>
                  <a:srgbClr val="007D7B"/>
                </a:solidFill>
                <a:latin typeface="Helvetica Neue"/>
                <a:ea typeface="Helvetica Neue"/>
                <a:cs typeface="Helvetica Neue"/>
              </a:defRPr>
            </a:pPr>
            <a:r>
              <a:rPr sz="2400" b="1">
                <a:solidFill>
                  <a:srgbClr val="007D7B"/>
                </a:solidFill>
                <a:latin typeface="Helvetica Neue"/>
                <a:ea typeface="Helvetica Neue"/>
                <a:cs typeface="Helvetica Neue"/>
              </a:rPr>
              <a:t>6.</a:t>
            </a:r>
          </a:p>
        </p:txBody>
      </p:sp>
      <p:sp>
        <p:nvSpPr>
          <p:cNvPr id="16" name="Erkenntnisse und Ausblick">
            <a:extLst xmlns:a="http://schemas.openxmlformats.org/drawingml/2006/main">
              <a:ext uri="{FF2B5EF4-FFF2-40B4-BE49-F238E27FC236}">
                <a16:creationId xmlns:a16="http://schemas.microsoft.com/office/drawing/2014/main" id="{880088CE-1090-413E-AB50-E11D5F22B4BA}"/>
              </a:ext>
            </a:extLst>
          </p:cNvPr>
          <p:cNvSpPr>
            <a:spLocks xmlns:a="http://schemas.openxmlformats.org/drawingml/2006/main" noGrp="1"/>
          </p:cNvSpPr>
          <p:nvPr/>
        </p:nvSpPr>
        <p:spPr>
          <a:xfrm xmlns:a="http://schemas.openxmlformats.org/drawingml/2006/main">
            <a:off x="1752600" y="5229225"/>
            <a:ext cx="942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02D35"/>
                </a:solidFill>
                <a:latin typeface="Helvetica Neue"/>
                <a:ea typeface="Helvetica Neue"/>
                <a:cs typeface="Helvetica Neue"/>
              </a:defRPr>
            </a:defPPr>
          </a:lstStyle>
          <a:p xmlns:a="http://schemas.openxmlformats.org/drawingml/2006/main">
            <a:pPr>
              <a:defRPr sz="2400" b="0">
                <a:solidFill>
                  <a:srgbClr val="102D35"/>
                </a:solidFill>
                <a:latin typeface="Helvetica Neue"/>
                <a:ea typeface="Helvetica Neue"/>
                <a:cs typeface="Helvetica Neue"/>
              </a:defRPr>
            </a:pPr>
            <a:r>
              <a:rPr sz="2400" b="0">
                <a:solidFill>
                  <a:srgbClr val="102D35"/>
                </a:solidFill>
                <a:latin typeface="Helvetica Neue"/>
                <a:ea typeface="Helvetica Neue"/>
                <a:cs typeface="Helvetica Neue"/>
              </a:rPr>
              <a:t>Erkenntnisse und Ausblick</a:t>
            </a:r>
          </a:p>
        </p:txBody>
      </p:sp>
    </p:spTree>
    <p:extLst>
      <p:ext uri="{BB962C8B-B14F-4D97-AF65-F5344CB8AC3E}">
        <p14:creationId xmlns:p14="http://schemas.microsoft.com/office/powerpoint/2010/main" val="1632561184"/>
      </p:ext>
    </p:extLst>
  </p:cSld>
</p:sld>
</file>

<file path=ppt/slides/slide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8A821AD7-827B-4464-A2B0-4A5953C9B460}"/>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Punkte finden, Felder halten, Matches gewinne">
            <a:extLst>
              <a:ext uri="{FF2B5EF4-FFF2-40B4-BE49-F238E27FC236}">
                <ns2:creationId id="{03D0DC90-6ADE-4ACA-8683-2F7B48C0FB8C}"/>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Spielidee und Ziel</a:t>
            </a:r>
          </a:p>
        </p:txBody>
      </p:sp>
      <p:sp>
        <p:nvSpPr>
          <p:cNvPr id="3" name="Team 15 · Mahmoud El-Hassan &amp; Moayed Shawesh">
            <a:extLst>
              <a:ext uri="{FF2B5EF4-FFF2-40B4-BE49-F238E27FC236}">
                <ns2:creationId id="{ADB466FC-58DE-4DE7-A6C1-340A4063D7D0}"/>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2">
            <a:extLst>
              <a:ext uri="{FF2B5EF4-FFF2-40B4-BE49-F238E27FC236}">
                <ns2:creationId id="{DC094024-AC17-483A-ACC5-4D03D652C3C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03</a:t>
            </a:r>
          </a:p>
        </p:txBody>
      </p:sp>
      <p:sp>
        <p:nvSpPr>
          <p:cNvPr id="5" name="24 × 24 Felder&#10;Bis zu 16 Einheiten pro Team">
            <a:extLst>
              <a:ext uri="{FF2B5EF4-FFF2-40B4-BE49-F238E27FC236}">
                <ns2:creationId id="{7BFD6114-6810-4C2B-A8DD-E65FEBD8431A}"/>
              </a:ext>
            </a:extLst>
          </p:cNvPr>
          <p:cNvSpPr>
            <a:spLocks noGrp="1"/>
          </p:cNvSpPr>
          <p:nvPr/>
        </p:nvSpPr>
        <p:spPr>
          <a:xfrm>
            <a:off x="609600" y="2076450"/>
            <a:ext cx="5810250" cy="97155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80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24 × 24 Felder</a:t>
            </a:r>
          </a:p>
          <a:p>
            <a:pPr marL="330200" indent="-254000" algn="l">
              <a:spcAft>
                <a:spcPts val="80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Bis zu 16 Einheiten pro Team</a:t>
            </a:r>
          </a:p>
        </p:txBody>
      </p:sp>
      <p:sp>
        <p:nvSpPr>
          <p:cNvPr id="6" name="Erkunden: Informationen fehlen.&#10;Planen: Energ">
            <a:extLst>
              <a:ext uri="{FF2B5EF4-FFF2-40B4-BE49-F238E27FC236}">
                <ns2:creationId id="{8759D40C-53CB-4992-8AD5-7DF6D0167C58}"/>
              </a:ext>
            </a:extLst>
          </p:cNvPr>
          <p:cNvSpPr>
            <a:spLocks noGrp="1"/>
          </p:cNvSpPr>
          <p:nvPr/>
        </p:nvSpPr>
        <p:spPr>
          <a:xfrm>
            <a:off x="609600" y="3438525"/>
            <a:ext cx="5810250" cy="1524000"/>
          </a:xfrm>
          <a:prstGeom prst="rect">
            <a:avLst/>
          </a:prstGeom>
          <a:noFill/>
          <a:ln w="0">
            <a:noFill/>
          </a:ln>
        </p:spPr>
        <p:txBody>
          <a:bodyPr>
            <a:noAutofit/>
          </a:bodyPr>
          <a:lstStyle>
            <a:defPPr algn="l">
              <a:defRPr sz="2175" b="0">
                <a:solidFill>
                  <a:srgbClr val="526B70"/>
                </a:solidFill>
                <a:latin typeface="Helvetica Neue"/>
                <a:ea typeface="Helvetica Neue"/>
                <a:cs typeface="Helvetica Neue"/>
              </a:defRPr>
            </a:defPPr>
          </a:lstStyle>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Erkunden: Informationen fehlen</a:t>
            </a:r>
          </a:p>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Planen: Energie ist begrenzt</a:t>
            </a:r>
          </a:p>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Punkten: geeignete Felder besetzen</a:t>
            </a:r>
          </a:p>
        </p:txBody>
      </p:sp>
      <p:sp>
        <p:nvSpPr>
          <p:cNvPr id="7" name="Kurs: 3 Matches je Spiel">
            <a:extLst>
              <a:ext uri="{FF2B5EF4-FFF2-40B4-BE49-F238E27FC236}">
                <ns2:creationId id="{A806DAF2-CC4A-4B2D-A449-2ABA2F23DD88}"/>
              </a:ext>
            </a:extLst>
          </p:cNvPr>
          <p:cNvSpPr>
            <a:spLocks noGrp="1"/>
          </p:cNvSpPr>
          <p:nvPr/>
        </p:nvSpPr>
        <p:spPr>
          <a:xfrm>
            <a:off x="609600" y="5276850"/>
            <a:ext cx="5810250" cy="457200"/>
          </a:xfrm>
          <a:prstGeom prst="rect">
            <a:avLst/>
          </a:prstGeom>
          <a:noFill/>
          <a:ln w="0">
            <a:noFill/>
          </a:ln>
        </p:spPr>
        <p:txBody>
          <a:bodyPr>
            <a:noAutofit/>
          </a:bodyPr>
          <a:lstStyle>
            <a:defPPr algn="l">
              <a:defRPr sz="2175" b="1">
                <a:solidFill>
                  <a:srgbClr val="007D7B"/>
                </a:solidFill>
                <a:latin typeface="Helvetica Neue"/>
                <a:ea typeface="Helvetica Neue"/>
                <a:cs typeface="Helvetica Neue"/>
              </a:defRPr>
            </a:defPPr>
          </a:lstStyle>
          <a:p>
            <a:pPr marL="330200" indent="-254000" algn="l">
              <a:spcAft>
                <a:spcPts val="0"/>
              </a:spcAft>
              <a:buFont typeface="Helvetica Neue"/>
              <a:buChar cha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Kurs: 3 Matches je Spiel</a:t>
            </a:r>
          </a:p>
        </p:txBody>
      </p:sp>
      <p:pic>
        <p:nvPicPr>
          <p:cNvPr id="8" name="">
            <a:extLst>
              <a:ext uri="{FF2B5EF4-FFF2-40B4-BE49-F238E27FC236}">
                <ns2:creationId id="{B54AF145-BFA5-4066-9854-2BCB2A830553}"/>
              </a:ext>
            </a:extLst>
          </p:cNvPr>
          <p:cNvPicPr>
            <a:picLocks noChangeAspect="1"/>
          </p:cNvPicPr>
          <p:nvPr/>
        </p:nvPicPr>
        <p:blipFill>
          <a:blip r:embed="R05965ca62d664334"/>
          <a:stretch/>
        </p:blipFill>
        <p:spPr>
          <a:xfrm>
            <a:off x="7086600" y="1847850"/>
            <a:ext cx="4191000" cy="4191000"/>
          </a:xfrm>
          <a:prstGeom prst="rect">
            <a:avLst/>
          </a:prstGeom>
        </p:spPr>
      </p:pic>
    </p:spTree>
    <p:extLst>
      <p:ext uri="{BB962C8B-B14F-4D97-AF65-F5344CB8AC3E}">
        <ns4:creationId val="1129645486"/>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5" name=""/>
        <p:cNvGrpSpPr/>
        <p:nvPr/>
      </p:nvGrpSpPr>
      <p:grpSpPr>
        <a:xfrm/>
      </p:grpSpPr>
      <p:sp>
        <p:nvSpPr>
          <p:cNvPr id="14" name="SHERLOCK / REVIEW 01">
            <a:extLst>
              <a:ext uri="{FF2B5EF4-FFF2-40B4-BE49-F238E27FC236}">
                <ns2:creationId id="{7338FA58-0222-4FB1-B19B-6C5C3D747C2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herlock verbindet Gedächtnis und Lernen">
            <a:extLst>
              <a:ext uri="{FF2B5EF4-FFF2-40B4-BE49-F238E27FC236}">
                <ns2:creationId id="{B8EE9733-97A3-4D50-BFFA-377A4F9585F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Unser Agent</a:t>
            </a:r>
          </a:p>
        </p:txBody>
      </p:sp>
      <p:sp>
        <p:nvSpPr>
          <p:cNvPr id="3" name="Team 15 · Mahmoud El-Hassan &amp; Moayed Shawesh">
            <a:extLst>
              <a:ext uri="{FF2B5EF4-FFF2-40B4-BE49-F238E27FC236}">
                <ns2:creationId id="{DB01F9D5-F2AB-421A-8A6C-8DA739EDABFF}"/>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3">
            <a:extLst>
              <a:ext uri="{FF2B5EF4-FFF2-40B4-BE49-F238E27FC236}">
                <ns2:creationId id="{9D05B7E7-02E6-4E14-8C60-297CE22B98E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04</a:t>
            </a:r>
          </a:p>
        </p:txBody>
      </p:sp>
      <p:sp>
        <p:nvSpPr>
          <p:cNvPr id="16" name="revision-code-panel">
            <a:extLst>
              <a:ext uri="{FF2B5EF4-FFF2-40B4-BE49-F238E27FC236}">
                <ns2:creationId id="{2780FA82-746A-4A3C-835D-70842E3DD1B8}"/>
              </a:ext>
            </a:extLst>
          </p:cNvPr>
          <p:cNvSpPr>
            <a:spLocks noGrp="1"/>
          </p:cNvSpPr>
          <p:nvPr/>
        </p:nvSpPr>
        <p:spPr>
          <a:xfrm>
            <a:off x="3714750" y="1847850"/>
            <a:ext cx="7867650" cy="4000500"/>
          </a:xfrm>
          <a:prstGeom prst="roundRect">
            <a:avLst>
              <a:gd name="adj" fmla="val 1905"/>
            </a:avLst>
          </a:prstGeom>
          <a:solidFill>
            <a:srgbClr val="EDF2F2"/>
          </a:solidFill>
          <a:ln w="11430">
            <a:solidFill>
              <a:srgbClr val="CFDBD7"/>
            </a:solidFill>
          </a:ln>
        </p:spPr>
      </p:sp>
      <p:sp>
        <p:nvSpPr>
          <p:cNvPr id="17" name="revision-Merken">
            <a:extLst>
              <a:ext uri="{FF2B5EF4-FFF2-40B4-BE49-F238E27FC236}">
                <ns2:creationId id="{8968B2E5-9369-4A57-AC44-245AAF905467}"/>
              </a:ext>
            </a:extLst>
          </p:cNvPr>
          <p:cNvSpPr>
            <a:spLocks noGrp="1"/>
          </p:cNvSpPr>
          <p:nvPr/>
        </p:nvSpPr>
        <p:spPr>
          <a:xfrm>
            <a:off x="609600" y="202882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Merken</a:t>
            </a:r>
          </a:p>
        </p:txBody>
      </p:sp>
      <p:sp>
        <p:nvSpPr>
          <p:cNvPr id="18" name="revision-Beobachtungen im&#10;Gedächtnis sammeln.">
            <a:extLst>
              <a:ext uri="{FF2B5EF4-FFF2-40B4-BE49-F238E27FC236}">
                <ns2:creationId id="{2B532376-CCC7-42B5-A4D3-07979C9C8BA6}"/>
              </a:ext>
            </a:extLst>
          </p:cNvPr>
          <p:cNvSpPr>
            <a:spLocks noGrp="1"/>
          </p:cNvSpPr>
          <p:nvPr/>
        </p:nvSpPr>
        <p:spPr>
          <a:xfrm>
            <a:off x="609600" y="247650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Beobachtungen im</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Gedächtnis sammeln.</a:t>
            </a:r>
          </a:p>
        </p:txBody>
      </p:sp>
      <p:sp>
        <p:nvSpPr>
          <p:cNvPr id="19" name="revision-Bewerten">
            <a:extLst>
              <a:ext uri="{FF2B5EF4-FFF2-40B4-BE49-F238E27FC236}">
                <ns2:creationId id="{B34027A2-F6EB-4EF2-A3C7-5B31C3E64695}"/>
              </a:ext>
            </a:extLst>
          </p:cNvPr>
          <p:cNvSpPr>
            <a:spLocks noGrp="1"/>
          </p:cNvSpPr>
          <p:nvPr/>
        </p:nvSpPr>
        <p:spPr>
          <a:xfrm>
            <a:off x="609600" y="3371850"/>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Bewerten</a:t>
            </a:r>
          </a:p>
        </p:txBody>
      </p:sp>
      <p:sp>
        <p:nvSpPr>
          <p:cNvPr id="20" name="revision-Sechs Netze schätzen&#10;den Aktionsnutzen.">
            <a:extLst>
              <a:ext uri="{FF2B5EF4-FFF2-40B4-BE49-F238E27FC236}">
                <ns2:creationId id="{A7EA7DD1-2E75-4371-B3AD-9612EA697DB0}"/>
              </a:ext>
            </a:extLst>
          </p:cNvPr>
          <p:cNvSpPr>
            <a:spLocks noGrp="1"/>
          </p:cNvSpPr>
          <p:nvPr/>
        </p:nvSpPr>
        <p:spPr>
          <a:xfrm>
            <a:off x="609600" y="3819525"/>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Sechs Netze schätzen</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den Aktionsnutzen.</a:t>
            </a:r>
          </a:p>
        </p:txBody>
      </p:sp>
      <p:sp>
        <p:nvSpPr>
          <p:cNvPr id="21" name="revision-Handeln">
            <a:extLst>
              <a:ext uri="{FF2B5EF4-FFF2-40B4-BE49-F238E27FC236}">
                <ns2:creationId id="{AEBA7F50-A02A-4E60-99E9-D5B92A0E056D}"/>
              </a:ext>
            </a:extLst>
          </p:cNvPr>
          <p:cNvSpPr>
            <a:spLocks noGrp="1"/>
          </p:cNvSpPr>
          <p:nvPr/>
        </p:nvSpPr>
        <p:spPr>
          <a:xfrm>
            <a:off x="609600" y="471487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Handeln</a:t>
            </a:r>
          </a:p>
        </p:txBody>
      </p:sp>
      <p:sp>
        <p:nvSpPr>
          <p:cNvPr id="22" name="revision-Die beste erlaubte&#10;Aktion auswählen.">
            <a:extLst>
              <a:ext uri="{FF2B5EF4-FFF2-40B4-BE49-F238E27FC236}">
                <ns2:creationId id="{807F6D00-8ED9-474F-82E1-2CF931D65185}"/>
              </a:ext>
            </a:extLst>
          </p:cNvPr>
          <p:cNvSpPr>
            <a:spLocks noGrp="1"/>
          </p:cNvSpPr>
          <p:nvPr/>
        </p:nvSpPr>
        <p:spPr>
          <a:xfrm>
            <a:off x="609600" y="516255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Die beste erlaubte</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Aktion auswählen.</a:t>
            </a:r>
          </a:p>
        </p:txBody>
      </p:sp>
      <p:sp>
        <p:nvSpPr>
          <p:cNvPr id="23" name="revision-Ablauf beim Spielen · Pseudocode">
            <a:extLst>
              <a:ext uri="{FF2B5EF4-FFF2-40B4-BE49-F238E27FC236}">
                <ns2:creationId id="{4D0143FA-87C7-4A60-86CF-F20C799E4824}"/>
              </a:ext>
            </a:extLst>
          </p:cNvPr>
          <p:cNvSpPr>
            <a:spLocks noGrp="1"/>
          </p:cNvSpPr>
          <p:nvPr/>
        </p:nvSpPr>
        <p:spPr>
          <a:xfrm>
            <a:off x="3943350" y="2028825"/>
            <a:ext cx="7334250" cy="361950"/>
          </a:xfrm>
          <a:prstGeom prst="rect">
            <a:avLst/>
          </a:prstGeom>
          <a:noFill/>
          <a:ln w="0">
            <a:noFill/>
          </a:ln>
        </p:spPr>
        <p:txBody>
          <a:bodyPr>
            <a:noAutofit/>
          </a:bodyPr>
          <a:lstStyle>
            <a:defPPr>
              <a:defRPr sz="1725" b="1">
                <a:solidFill>
                  <a:srgbClr val="526B70"/>
                </a:solidFill>
                <a:latin typeface="Helvetica Neue"/>
                <a:ea typeface="Helvetica Neue"/>
                <a:cs typeface="Helvetica Neue"/>
              </a:defRPr>
            </a:defPPr>
          </a:lstStyle>
          <a:p>
            <a:pPr>
              <a:defRPr sz="1725" b="1">
                <a:solidFill>
                  <a:srgbClr val="526B70"/>
                </a:solidFill>
                <a:latin typeface="Helvetica Neue"/>
                <a:ea typeface="Helvetica Neue"/>
                <a:cs typeface="Helvetica Neue"/>
              </a:defRPr>
            </a:pPr>
            <a:r>
              <a:rPr sz="1725" b="1">
                <a:solidFill>
                  <a:srgbClr val="526B70"/>
                </a:solidFill>
                <a:latin typeface="Helvetica Neue"/>
                <a:ea typeface="Helvetica Neue"/>
                <a:cs typeface="Helvetica Neue"/>
              </a:rPr>
              <a:t>Ablauf beim Spielen · Pseudocode</a:t>
            </a:r>
          </a:p>
        </p:txBody>
      </p:sp>
      <p:sp>
        <p:nvSpPr>
          <p:cNvPr id="24" name="revision-FÜR jeden Spielschritt:">
            <a:extLst>
              <a:ext uri="{FF2B5EF4-FFF2-40B4-BE49-F238E27FC236}">
                <ns2:creationId id="{8AFAFB75-1296-4C53-B33B-6F67F9580352}"/>
              </a:ext>
            </a:extLst>
          </p:cNvPr>
          <p:cNvSpPr>
            <a:spLocks noGrp="1"/>
          </p:cNvSpPr>
          <p:nvPr/>
        </p:nvSpPr>
        <p:spPr>
          <a:xfrm>
            <a:off x="4010025" y="25527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FÜR jeden Spielschritt:</a:t>
            </a:r>
          </a:p>
        </p:txBody>
      </p:sp>
      <p:sp>
        <p:nvSpPr>
          <p:cNvPr id="25" name="revision-    Belief mit Beobachtung aktualisieren">
            <a:extLst>
              <a:ext uri="{FF2B5EF4-FFF2-40B4-BE49-F238E27FC236}">
                <ns2:creationId id="{779C5D59-5951-4252-9E69-5567F03FD728}"/>
              </a:ext>
            </a:extLst>
          </p:cNvPr>
          <p:cNvSpPr>
            <a:spLocks noGrp="1"/>
          </p:cNvSpPr>
          <p:nvPr/>
        </p:nvSpPr>
        <p:spPr>
          <a:xfrm>
            <a:off x="4010025" y="28765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Belief mit Beobachtung aktualisieren</a:t>
            </a:r>
          </a:p>
        </p:txBody>
      </p:sp>
      <p:sp>
        <p:nvSpPr>
          <p:cNvPr id="26" name="revision-    FÜR jede aktive eigene Einheit:">
            <a:extLst>
              <a:ext uri="{FF2B5EF4-FFF2-40B4-BE49-F238E27FC236}">
                <ns2:creationId id="{685BEE9F-0852-4F38-A942-A915B37051DB}"/>
              </a:ext>
            </a:extLst>
          </p:cNvPr>
          <p:cNvSpPr>
            <a:spLocks noGrp="1"/>
          </p:cNvSpPr>
          <p:nvPr/>
        </p:nvSpPr>
        <p:spPr>
          <a:xfrm>
            <a:off x="4010025" y="32004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FÜR jede aktive eigene Einheit:</a:t>
            </a:r>
          </a:p>
        </p:txBody>
      </p:sp>
      <p:sp>
        <p:nvSpPr>
          <p:cNvPr id="27" name="revision-        x = 79 Merkmale berechnen">
            <a:extLst>
              <a:ext uri="{FF2B5EF4-FFF2-40B4-BE49-F238E27FC236}">
                <ns2:creationId id="{46190EBE-D59B-4DB8-B354-6C21D5616FC3}"/>
              </a:ext>
            </a:extLst>
          </p:cNvPr>
          <p:cNvSpPr>
            <a:spLocks noGrp="1"/>
          </p:cNvSpPr>
          <p:nvPr/>
        </p:nvSpPr>
        <p:spPr>
          <a:xfrm>
            <a:off x="4010025" y="35242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x = 79 Merkmale berechnen</a:t>
            </a:r>
          </a:p>
        </p:txBody>
      </p:sp>
      <p:sp>
        <p:nvSpPr>
          <p:cNvPr id="28" name="revision-        Q = Mittelwert der sechs Netze(x">
            <a:extLst>
              <a:ext uri="{FF2B5EF4-FFF2-40B4-BE49-F238E27FC236}">
                <ns2:creationId id="{EF630A91-F254-4892-95C3-C5F3BE9F0575}"/>
              </a:ext>
            </a:extLst>
          </p:cNvPr>
          <p:cNvSpPr>
            <a:spLocks noGrp="1"/>
          </p:cNvSpPr>
          <p:nvPr/>
        </p:nvSpPr>
        <p:spPr>
          <a:xfrm>
            <a:off x="4010025" y="38481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Q = Mittelwert der sechs Netze(x)</a:t>
            </a:r>
          </a:p>
        </p:txBody>
      </p:sp>
      <p:sp>
        <p:nvSpPr>
          <p:cNvPr id="29" name="revision-        a = beste erlaubte Aktion aus Q">
            <a:extLst>
              <a:ext uri="{FF2B5EF4-FFF2-40B4-BE49-F238E27FC236}">
                <ns2:creationId id="{F4E09BE0-8537-4C9C-8030-8A49FE5E4DC3}"/>
              </a:ext>
            </a:extLst>
          </p:cNvPr>
          <p:cNvSpPr>
            <a:spLocks noGrp="1"/>
          </p:cNvSpPr>
          <p:nvPr/>
        </p:nvSpPr>
        <p:spPr>
          <a:xfrm>
            <a:off x="4010025" y="41719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 = beste erlaubte Aktion aus Q</a:t>
            </a:r>
          </a:p>
        </p:txBody>
      </p:sp>
      <p:sp>
        <p:nvSpPr>
          <p:cNvPr id="30" name="revision-        Aktion für die Einheit speichern">
            <a:extLst>
              <a:ext uri="{FF2B5EF4-FFF2-40B4-BE49-F238E27FC236}">
                <ns2:creationId id="{48D8B9ED-EB9D-493A-8BF8-FEE33A23B6EC}"/>
              </a:ext>
            </a:extLst>
          </p:cNvPr>
          <p:cNvSpPr>
            <a:spLocks noGrp="1"/>
          </p:cNvSpPr>
          <p:nvPr/>
        </p:nvSpPr>
        <p:spPr>
          <a:xfrm>
            <a:off x="4010025" y="44958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Aktion für die Einheit speichern</a:t>
            </a:r>
          </a:p>
        </p:txBody>
      </p:sp>
      <p:sp>
        <p:nvSpPr>
          <p:cNvPr id="31" name="revision-    Aktionen zurückgeben">
            <a:extLst>
              <a:ext uri="{FF2B5EF4-FFF2-40B4-BE49-F238E27FC236}">
                <ns2:creationId id="{60E7E1AA-33BA-46A1-AAEA-012350AE007B}"/>
              </a:ext>
            </a:extLst>
          </p:cNvPr>
          <p:cNvSpPr>
            <a:spLocks noGrp="1"/>
          </p:cNvSpPr>
          <p:nvPr/>
        </p:nvSpPr>
        <p:spPr>
          <a:xfrm>
            <a:off x="4010025" y="48196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Aktionen zurückgeben</a:t>
            </a:r>
          </a:p>
        </p:txBody>
      </p:sp>
      <p:sp>
        <p:nvSpPr>
          <p:cNvPr id="32" name="revision-# Auswertung: kein Lernen, ε = 0">
            <a:extLst>
              <a:ext uri="{FF2B5EF4-FFF2-40B4-BE49-F238E27FC236}">
                <ns2:creationId id="{DD9B22D8-4C67-4666-AD85-A3C0B837AF44}"/>
              </a:ext>
            </a:extLst>
          </p:cNvPr>
          <p:cNvSpPr>
            <a:spLocks noGrp="1"/>
          </p:cNvSpPr>
          <p:nvPr/>
        </p:nvSpPr>
        <p:spPr>
          <a:xfrm>
            <a:off x="4010025" y="5410200"/>
            <a:ext cx="7334250" cy="304800"/>
          </a:xfrm>
          <a:prstGeom prst="rect">
            <a:avLst/>
          </a:prstGeom>
          <a:noFill/>
          <a:ln w="0">
            <a:noFill/>
          </a:ln>
        </p:spPr>
        <p:txBody>
          <a:bodyPr>
            <a:noAutofit/>
          </a:bodyPr>
          <a:lstStyle>
            <a:defPPr>
              <a:defRPr sz="1575" b="0">
                <a:solidFill>
                  <a:srgbClr val="526B70"/>
                </a:solidFill>
                <a:latin typeface="Courier New"/>
                <a:ea typeface="Courier New"/>
                <a:cs typeface="Courier New"/>
              </a:defRPr>
            </a:defPPr>
          </a:lstStyle>
          <a:p>
            <a:pPr>
              <a:defRPr sz="1575" b="0">
                <a:solidFill>
                  <a:srgbClr val="526B70"/>
                </a:solidFill>
                <a:latin typeface="Courier New"/>
                <a:ea typeface="Courier New"/>
                <a:cs typeface="Courier New"/>
              </a:defRPr>
            </a:pPr>
            <a:r>
              <a:rPr sz="1575" b="0">
                <a:solidFill>
                  <a:srgbClr val="526B70"/>
                </a:solidFill>
                <a:latin typeface="Courier New"/>
                <a:ea typeface="Courier New"/>
                <a:cs typeface="Courier New"/>
              </a:rPr>
              <a:t># Auswertung: kein Lernen, ε = 0</a:t>
            </a:r>
          </a:p>
        </p:txBody>
      </p:sp>
    </p:spTree>
    <p:extLst>
      <p:ext uri="{BB962C8B-B14F-4D97-AF65-F5344CB8AC3E}">
        <ns3:creationId val="1915235498"/>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7" name="SHERLOCK / REVIEW 01">
            <a:extLst>
              <a:ext uri="{FF2B5EF4-FFF2-40B4-BE49-F238E27FC236}">
                <ns2:creationId id="{8E5AC5FE-F045-4507-B73A-1BDDDD053F17}"/>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79 Merkmale machen die Situation greifbar">
            <a:extLst>
              <a:ext uri="{FF2B5EF4-FFF2-40B4-BE49-F238E27FC236}">
                <ns2:creationId id="{1819B007-30CB-4B63-AB73-B65AD1F9EEDA}"/>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Merkmale und Gedächtnis</a:t>
            </a:r>
          </a:p>
        </p:txBody>
      </p:sp>
      <p:sp>
        <p:nvSpPr>
          <p:cNvPr id="3" name="Team 15 · Mahmoud El-Hassan &amp; Moayed Shawesh">
            <a:extLst>
              <a:ext uri="{FF2B5EF4-FFF2-40B4-BE49-F238E27FC236}">
                <ns2:creationId id="{8F742ABC-40ED-4485-B98B-FC878F16D2B4}"/>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4">
            <a:extLst>
              <a:ext uri="{FF2B5EF4-FFF2-40B4-BE49-F238E27FC236}">
                <ns2:creationId id="{93EB07D1-FB9B-4036-871A-868E95D9A8DE}"/>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05</a:t>
            </a:r>
          </a:p>
        </p:txBody>
      </p:sp>
      <p:graphicFrame>
        <p:nvGraphicFramePr>
          <p:cNvPr id="5" name="">
            <a:extLst>
              <a:ext uri="{FF2B5EF4-FFF2-40B4-BE49-F238E27FC236}">
                <ns2:creationId id="{599CFDB5-6633-4A71-9E92-826BE0FD5F46}"/>
              </a:ext>
            </a:extLst>
          </p:cNvPr>
          <p:cNvGraphicFramePr/>
          <p:nvPr/>
        </p:nvGraphicFramePr>
        <p:xfrm>
          <a:off x="609600" y="1924050"/>
          <a:ext cx="10972800" cy="3124200"/>
        </p:xfrm>
        <a:graphic>
          <a:graphicData uri="http://schemas.openxmlformats.org/drawingml/2006/table">
            <a:tbl>
              <a:tblPr/>
              <a:tblGrid>
                <a:gridCol w="3429000"/>
                <a:gridCol w="7543800"/>
              </a:tblGrid>
              <a:tr h="624840">
                <a:tc>
                  <a:txBody>
                    <a:bodyPr/>
                    <a:lstStyle/>
                    <a:p>
                      <a:r>
                        <a:rPr sz="2025" b="1">
                          <a:solidFill>
                            <a:srgbClr val="FFFFFF"/>
                          </a:solidFill>
                          <a:latin typeface="Helvetica Neue"/>
                          <a:ea typeface="Helvetica Neue"/>
                          <a:cs typeface="Helvetica Neue"/>
                        </a:rPr>
                        <a:t>Merkmalsgruppe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Beispiele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24840">
                <a:tc>
                  <a:txBody>
                    <a:bodyPr/>
                    <a:lstStyle/>
                    <a:p>
                      <a:r>
                        <a:rPr sz="2025" b="0">
                          <a:solidFill>
                            <a:srgbClr val="102D35"/>
                          </a:solidFill>
                          <a:latin typeface="Helvetica Neue"/>
                          <a:ea typeface="Helvetica Neue"/>
                          <a:cs typeface="Helvetica Neue"/>
                        </a:rPr>
                        <a:t>Eigene Einheit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Position, Energie, mögliche Bewegung</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Umgebung und Gedächtnis</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Gelände, Relics, bekannte Punktefelder</a:t>
                      </a:r>
                    </a:p>
                  </a:txBody>
                  <a:tcPr marL="91440" marR="91440" marT="45720" marB="45720">
                    <a:lnR w="9525">
                      <a:solidFill>
                        <a:srgbClr val="CFDBD7"/>
                      </a:solidFill>
                      <a:prstDash val="solid"/>
                    </a:lnR>
                    <a:lnB w="9525">
                      <a:solidFill>
                        <a:srgbClr val="CFDBD7"/>
                      </a:solidFill>
                      <a:prstDash val="solid"/>
                    </a:lnB>
                    <a:solidFill>
                      <a:srgbClr val="EDF2ED"/>
                    </a:solidFill>
                  </a:tcPr>
                </a:tc>
              </a:tr>
              <a:tr h="624840">
                <a:tc>
                  <a:txBody>
                    <a:bodyPr/>
                    <a:lstStyle/>
                    <a:p>
                      <a:r>
                        <a:rPr sz="2025" b="0">
                          <a:solidFill>
                            <a:srgbClr val="102D35"/>
                          </a:solidFill>
                          <a:latin typeface="Helvetica Neue"/>
                          <a:ea typeface="Helvetica Neue"/>
                          <a:cs typeface="Helvetica Neue"/>
                        </a:rPr>
                        <a:t>Ziele und Gegner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Zielrichtung, Belegung, Sap-Möglichkeiten</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Spielkontext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Matchfortschritt und Teamzustand</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Belief: aus Beobachtungen Wissen über die Kar">
            <a:extLst>
              <a:ext uri="{FF2B5EF4-FFF2-40B4-BE49-F238E27FC236}">
                <ns2:creationId id="{7BB15468-0F41-4F95-B835-1637FFF8AD61}"/>
              </a:ext>
            </a:extLst>
          </p:cNvPr>
          <p:cNvSpPr>
            <a:spLocks noGrp="1"/>
          </p:cNvSpPr>
          <p:nvPr/>
        </p:nvSpPr>
        <p:spPr>
          <a:xfrm>
            <a:off x="609600" y="5334000"/>
            <a:ext cx="10972800" cy="762000"/>
          </a:xfrm>
          <a:prstGeom prst="rect">
            <a:avLst/>
          </a:prstGeom>
          <a:noFill/>
          <a:ln w="0">
            <a:noFill/>
          </a:ln>
        </p:spPr>
        <p:txBody>
          <a:bodyPr/>
          <a:lstStyle>
            <a:defPPr>
              <a:defRPr sz="2250" b="1">
                <a:solidFill>
                  <a:srgbClr val="007D7B"/>
                </a:solidFill>
                <a:latin typeface="Helvetica Neue"/>
                <a:ea typeface="Helvetica Neue"/>
                <a:cs typeface="Helvetica Neue"/>
              </a:defRPr>
            </a:defPPr>
          </a:lstStyle>
          <a:p>
            <a:pPr>
              <a:defRPr sz="2250" b="1">
                <a:solidFill>
                  <a:srgbClr val="007D7B"/>
                </a:solidFill>
                <a:latin typeface="Helvetica Neue"/>
                <a:ea typeface="Helvetica Neue"/>
                <a:cs typeface="Helvetica Neue"/>
              </a:defRPr>
            </a:pPr>
            <a:r>
              <a:rPr sz="2250" b="1">
                <a:solidFill>
                  <a:srgbClr val="007D7B"/>
                </a:solidFill>
                <a:latin typeface="Helvetica Neue"/>
                <a:ea typeface="Helvetica Neue"/>
                <a:cs typeface="Helvetica Neue"/>
              </a:rPr>
              <a:t>Belief: aus Beobachtungen Wissen über die Karte ableiten.</a:t>
            </a:r>
          </a:p>
        </p:txBody>
      </p:sp>
    </p:spTree>
    <p:extLst>
      <p:ext uri="{BB962C8B-B14F-4D97-AF65-F5344CB8AC3E}">
        <ns3:creationId val="1757940146"/>
      </p:ext>
    </p:extLst>
  </p:cSld>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9" name="SHERLOCK / REVIEW 01">
            <a:extLst>
              <a:ext uri="{FF2B5EF4-FFF2-40B4-BE49-F238E27FC236}">
                <ns2:creationId id="{F559B7CA-7D14-4786-B366-D9E113D666BB}"/>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Netze bewerten dieselben sechs Aktionen">
            <a:extLst>
              <a:ext uri="{FF2B5EF4-FFF2-40B4-BE49-F238E27FC236}">
                <ns2:creationId id="{3B0BDC30-043E-41FB-9ECF-90F1793EA5E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Netzarchitektur und Ensemble</a:t>
            </a:r>
          </a:p>
        </p:txBody>
      </p:sp>
      <p:sp>
        <p:nvSpPr>
          <p:cNvPr id="3" name="Team 15 · Mahmoud El-Hassan &amp; Moayed Shawesh">
            <a:extLst>
              <a:ext uri="{FF2B5EF4-FFF2-40B4-BE49-F238E27FC236}">
                <ns2:creationId id="{2989CE1B-2CFF-483B-97DA-4D05EFE33DC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5">
            <a:extLst>
              <a:ext uri="{FF2B5EF4-FFF2-40B4-BE49-F238E27FC236}">
                <ns2:creationId id="{4E0CCA43-757B-4329-934D-ADFC8CF66D1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06</a:t>
            </a:r>
          </a:p>
        </p:txBody>
      </p:sp>
      <p:sp>
        <p:nvSpPr>
          <p:cNvPr id="5" name="79  →  256  →  256">
            <a:extLst>
              <a:ext uri="{FF2B5EF4-FFF2-40B4-BE49-F238E27FC236}">
                <ns2:creationId id="{D383602B-C859-45D7-A75D-0F0BD984A959}"/>
              </a:ext>
            </a:extLst>
          </p:cNvPr>
          <p:cNvSpPr>
            <a:spLocks noGrp="1"/>
          </p:cNvSpPr>
          <p:nvPr/>
        </p:nvSpPr>
        <p:spPr>
          <a:xfrm>
            <a:off x="609600" y="1952625"/>
            <a:ext cx="10972800" cy="704850"/>
          </a:xfrm>
          <a:prstGeom prst="rect">
            <a:avLst/>
          </a:prstGeom>
          <a:noFill/>
          <a:ln w="0">
            <a:noFill/>
          </a:ln>
        </p:spPr>
        <p:txBody>
          <a:bodyPr/>
          <a:lstStyle>
            <a:defPPr>
              <a:defRPr sz="4050" b="1">
                <a:solidFill>
                  <a:srgbClr val="007D7B"/>
                </a:solidFill>
                <a:latin typeface="Helvetica Neue"/>
                <a:ea typeface="Helvetica Neue"/>
                <a:cs typeface="Helvetica Neue"/>
              </a:defRPr>
            </a:defPPr>
          </a:lstStyle>
          <a:p>
            <a:pPr>
              <a:defRPr sz="4050" b="1">
                <a:solidFill>
                  <a:srgbClr val="007D7B"/>
                </a:solidFill>
                <a:latin typeface="Helvetica Neue"/>
                <a:ea typeface="Helvetica Neue"/>
                <a:cs typeface="Helvetica Neue"/>
              </a:defRPr>
            </a:pPr>
            <a:r>
              <a:rPr sz="4050" b="1">
                <a:solidFill>
                  <a:srgbClr val="007D7B"/>
                </a:solidFill>
                <a:latin typeface="Helvetica Neue"/>
                <a:ea typeface="Helvetica Neue"/>
                <a:cs typeface="Helvetica Neue"/>
              </a:rPr>
              <a:t>79  →  256  →  256</a:t>
            </a:r>
          </a:p>
        </p:txBody>
      </p:sp>
      <p:sp>
        <p:nvSpPr>
          <p:cNvPr id="6" name="Pro Einheit · gemeinsame MLP-Schichten mit Re">
            <a:extLst>
              <a:ext uri="{FF2B5EF4-FFF2-40B4-BE49-F238E27FC236}">
                <ns2:creationId id="{609808A7-CA9B-4752-BC9B-7750F1810D23}"/>
              </a:ext>
            </a:extLst>
          </p:cNvPr>
          <p:cNvSpPr>
            <a:spLocks noGrp="1"/>
          </p:cNvSpPr>
          <p:nvPr/>
        </p:nvSpPr>
        <p:spPr>
          <a:xfrm>
            <a:off x="609600" y="2705100"/>
            <a:ext cx="10972800" cy="457200"/>
          </a:xfrm>
          <a:prstGeom prst="rect">
            <a:avLst/>
          </a:prstGeom>
          <a:noFill/>
          <a:ln w="0">
            <a:noFill/>
          </a:ln>
        </p:spPr>
        <p:txBody>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Pro Einheit · gemeinsame MLP-Schichten mit ReLU</a:t>
            </a:r>
          </a:p>
        </p:txBody>
      </p:sp>
      <p:graphicFrame>
        <p:nvGraphicFramePr>
          <p:cNvPr id="7" name="">
            <a:extLst>
              <a:ext uri="{FF2B5EF4-FFF2-40B4-BE49-F238E27FC236}">
                <ns2:creationId id="{1E859834-6787-4F2C-9FBC-54104F0DA635}"/>
              </a:ext>
            </a:extLst>
          </p:cNvPr>
          <p:cNvGraphicFramePr/>
          <p:nvPr/>
        </p:nvGraphicFramePr>
        <p:xfrm>
          <a:off x="609600" y="3390900"/>
          <a:ext cx="10972800" cy="1924050"/>
        </p:xfrm>
        <a:graphic>
          <a:graphicData uri="http://schemas.openxmlformats.org/drawingml/2006/table">
            <a:tbl>
              <a:tblPr/>
              <a:tblGrid>
                <a:gridCol w="3048000"/>
                <a:gridCol w="3143250"/>
                <a:gridCol w="4781550"/>
              </a:tblGrid>
              <a:tr h="641350">
                <a:tc>
                  <a:txBody>
                    <a:bodyPr/>
                    <a:lstStyle/>
                    <a:p>
                      <a:r>
                        <a:rPr sz="2025" b="1">
                          <a:solidFill>
                            <a:srgbClr val="FFFFFF"/>
                          </a:solidFill>
                          <a:latin typeface="Helvetica Neue"/>
                          <a:ea typeface="Helvetica Neue"/>
                          <a:cs typeface="Helvetica Neue"/>
                        </a:rPr>
                        <a:t>Dueling-Kopf</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Schichten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Ausgabe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1350">
                <a:tc>
                  <a:txBody>
                    <a:bodyPr/>
                    <a:lstStyle/>
                    <a:p>
                      <a:r>
                        <a:rPr sz="2025" b="0">
                          <a:solidFill>
                            <a:srgbClr val="102D35"/>
                          </a:solidFill>
                          <a:latin typeface="Helvetica Neue"/>
                          <a:ea typeface="Helvetica Neue"/>
                          <a:cs typeface="Helvetica Neue"/>
                        </a:rPr>
                        <a:t>Zustandswert V</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256 → 128 → 1</a:t>
                      </a:r>
                    </a:p>
                  </a:txBody>
                  <a:tcPr marL="91440" marR="91440" marT="45720" marB="45720">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Ein Wert für die Situation</a:t>
                      </a:r>
                    </a:p>
                  </a:txBody>
                  <a:tcPr marL="91440" marR="91440" marT="45720" marB="45720">
                    <a:lnR w="9525">
                      <a:solidFill>
                        <a:srgbClr val="CFDBD7"/>
                      </a:solidFill>
                      <a:prstDash val="solid"/>
                    </a:lnR>
                    <a:lnB w="9525">
                      <a:solidFill>
                        <a:srgbClr val="CFDBD7"/>
                      </a:solidFill>
                      <a:prstDash val="solid"/>
                    </a:lnB>
                    <a:solidFill>
                      <a:srgbClr val="FFFFFF"/>
                    </a:solidFill>
                  </a:tcPr>
                </a:tc>
              </a:tr>
              <a:tr h="641350">
                <a:tc>
                  <a:txBody>
                    <a:bodyPr/>
                    <a:lstStyle/>
                    <a:p>
                      <a:r>
                        <a:rPr sz="2025" b="0">
                          <a:solidFill>
                            <a:srgbClr val="102D35"/>
                          </a:solidFill>
                          <a:latin typeface="Helvetica Neue"/>
                          <a:ea typeface="Helvetica Neue"/>
                          <a:cs typeface="Helvetica Neue"/>
                        </a:rPr>
                        <a:t>Aktionsvorteil A</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256 → 128 → 6</a:t>
                      </a:r>
                    </a:p>
                  </a:txBody>
                  <a:tcPr marL="91440" marR="91440" marT="45720" marB="45720">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Ein Wert pro Aktion</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8" name="Ensemble: 3 × full + 3 × full_sym → Q-Mittelw">
            <a:extLst>
              <a:ext uri="{FF2B5EF4-FFF2-40B4-BE49-F238E27FC236}">
                <ns2:creationId id="{DD4376FB-0FF7-4608-9C9E-293F0DA546E3}"/>
              </a:ext>
            </a:extLst>
          </p:cNvPr>
          <p:cNvSpPr>
            <a:spLocks noGrp="1"/>
          </p:cNvSpPr>
          <p:nvPr/>
        </p:nvSpPr>
        <p:spPr>
          <a:xfrm>
            <a:off x="609600" y="5610225"/>
            <a:ext cx="10972800" cy="571500"/>
          </a:xfrm>
          <a:prstGeom prst="rect">
            <a:avLst/>
          </a:prstGeom>
          <a:noFill/>
          <a:ln w="0">
            <a:noFill/>
          </a:ln>
        </p:spPr>
        <p:txBody>
          <a:bodyPr/>
          <a:lstStyle>
            <a:defPPr>
              <a:defRPr sz="2025" b="1">
                <a:solidFill>
                  <a:srgbClr val="007D7B"/>
                </a:solidFill>
                <a:latin typeface="Helvetica Neue"/>
                <a:ea typeface="Helvetica Neue"/>
                <a:cs typeface="Helvetica Neue"/>
              </a:defRPr>
            </a:defPPr>
          </a:lstStyle>
          <a:p>
            <a:pP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Ensemble: 3 × full + 3 × full_sym → Q-Mittelwert → Aktionsmaske</a:t>
            </a:r>
          </a:p>
        </p:txBody>
      </p:sp>
    </p:spTree>
    <p:extLst>
      <p:ext uri="{BB962C8B-B14F-4D97-AF65-F5344CB8AC3E}">
        <ns3:creationId val="663061882"/>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8" name="SHERLOCK / REVIEW 01">
            <a:extLst>
              <a:ext uri="{FF2B5EF4-FFF2-40B4-BE49-F238E27FC236}">
                <ns2:creationId id="{CD87C596-8699-4590-B5AB-F23DB5AE8DF8}"/>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Double DQN: auswählen und bewerten trennen">
            <a:extLst>
              <a:ext uri="{FF2B5EF4-FFF2-40B4-BE49-F238E27FC236}">
                <ns2:creationId id="{FA2650E1-09AD-42F1-9051-9E2260AADF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Double DQN</a:t>
            </a:r>
          </a:p>
        </p:txBody>
      </p:sp>
      <p:sp>
        <p:nvSpPr>
          <p:cNvPr id="3" name="Team 15 · Mahmoud El-Hassan &amp; Moayed Shawesh">
            <a:extLst>
              <a:ext uri="{FF2B5EF4-FFF2-40B4-BE49-F238E27FC236}">
                <ns2:creationId id="{C36A35F7-6738-4156-A017-68EA16095B2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6">
            <a:extLst>
              <a:ext uri="{FF2B5EF4-FFF2-40B4-BE49-F238E27FC236}">
                <ns2:creationId id="{35D71D06-A7EF-44E5-84DF-B2F1AEC6847C}"/>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07</a:t>
            </a:r>
          </a:p>
        </p:txBody>
      </p:sp>
      <p:sp>
        <p:nvSpPr>
          <p:cNvPr id="9" name="revision-code-panel">
            <a:extLst>
              <a:ext uri="{FF2B5EF4-FFF2-40B4-BE49-F238E27FC236}">
                <ns2:creationId id="{31916FFF-E749-417D-9080-2C442A44ACB1}"/>
              </a:ext>
            </a:extLst>
          </p:cNvPr>
          <p:cNvSpPr>
            <a:spLocks noGrp="1"/>
          </p:cNvSpPr>
          <p:nvPr/>
        </p:nvSpPr>
        <p:spPr>
          <a:xfrm>
            <a:off x="3714750" y="1847850"/>
            <a:ext cx="7867650" cy="4000500"/>
          </a:xfrm>
          <a:prstGeom prst="roundRect">
            <a:avLst>
              <a:gd name="adj" fmla="val 1905"/>
            </a:avLst>
          </a:prstGeom>
          <a:solidFill>
            <a:srgbClr val="EDF2F2"/>
          </a:solidFill>
          <a:ln w="11430">
            <a:solidFill>
              <a:srgbClr val="CFDBD7"/>
            </a:solidFill>
          </a:ln>
        </p:spPr>
      </p:sp>
      <p:sp>
        <p:nvSpPr>
          <p:cNvPr id="10" name="revision-Erfahrungen">
            <a:extLst>
              <a:ext uri="{FF2B5EF4-FFF2-40B4-BE49-F238E27FC236}">
                <ns2:creationId id="{AF51FF84-4A61-4137-8EF6-D9BFABF22566}"/>
              </a:ext>
            </a:extLst>
          </p:cNvPr>
          <p:cNvSpPr>
            <a:spLocks noGrp="1"/>
          </p:cNvSpPr>
          <p:nvPr/>
        </p:nvSpPr>
        <p:spPr>
          <a:xfrm>
            <a:off x="609600" y="202882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Erfahrungen</a:t>
            </a:r>
          </a:p>
        </p:txBody>
      </p:sp>
      <p:sp>
        <p:nvSpPr>
          <p:cNvPr id="11" name="revision-Zufällige Erfahrungen&#10;aus dem Buffer zie">
            <a:extLst>
              <a:ext uri="{FF2B5EF4-FFF2-40B4-BE49-F238E27FC236}">
                <ns2:creationId id="{384F6DC7-46F7-4483-993F-A78FBA893216}"/>
              </a:ext>
            </a:extLst>
          </p:cNvPr>
          <p:cNvSpPr>
            <a:spLocks noGrp="1"/>
          </p:cNvSpPr>
          <p:nvPr/>
        </p:nvSpPr>
        <p:spPr>
          <a:xfrm>
            <a:off x="609600" y="247650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Zufällige Erfahrungen</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aus dem Buffer ziehen.</a:t>
            </a:r>
          </a:p>
        </p:txBody>
      </p:sp>
      <p:sp>
        <p:nvSpPr>
          <p:cNvPr id="12" name="revision-Lernen">
            <a:extLst>
              <a:ext uri="{FF2B5EF4-FFF2-40B4-BE49-F238E27FC236}">
                <ns2:creationId id="{FA940F2B-2912-4133-8F25-C27913D241D8}"/>
              </a:ext>
            </a:extLst>
          </p:cNvPr>
          <p:cNvSpPr>
            <a:spLocks noGrp="1"/>
          </p:cNvSpPr>
          <p:nvPr/>
        </p:nvSpPr>
        <p:spPr>
          <a:xfrm>
            <a:off x="609600" y="3371850"/>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Lernen</a:t>
            </a:r>
          </a:p>
        </p:txBody>
      </p:sp>
      <p:sp>
        <p:nvSpPr>
          <p:cNvPr id="13" name="revision-Online-Netz wählt;&#10;Target-Netz bewertet.">
            <a:extLst>
              <a:ext uri="{FF2B5EF4-FFF2-40B4-BE49-F238E27FC236}">
                <ns2:creationId id="{66586737-48FF-484D-B1B9-FDF87B6B2237}"/>
              </a:ext>
            </a:extLst>
          </p:cNvPr>
          <p:cNvSpPr>
            <a:spLocks noGrp="1"/>
          </p:cNvSpPr>
          <p:nvPr/>
        </p:nvSpPr>
        <p:spPr>
          <a:xfrm>
            <a:off x="609600" y="3819525"/>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Online-Netz wählt;</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Target-Netz bewertet.</a:t>
            </a:r>
          </a:p>
        </p:txBody>
      </p:sp>
      <p:sp>
        <p:nvSpPr>
          <p:cNvPr id="14" name="revision-Belohnung">
            <a:extLst>
              <a:ext uri="{FF2B5EF4-FFF2-40B4-BE49-F238E27FC236}">
                <ns2:creationId id="{43FE2FA4-8653-4290-963D-21B57DA63D90}"/>
              </a:ext>
            </a:extLst>
          </p:cNvPr>
          <p:cNvSpPr>
            <a:spLocks noGrp="1"/>
          </p:cNvSpPr>
          <p:nvPr/>
        </p:nvSpPr>
        <p:spPr>
          <a:xfrm>
            <a:off x="609600" y="471487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Belohnung</a:t>
            </a:r>
          </a:p>
        </p:txBody>
      </p:sp>
      <p:sp>
        <p:nvSpPr>
          <p:cNvPr id="15" name="revision-Punkte, Matchsieg&#10;und Shaping-Signale.">
            <a:extLst>
              <a:ext uri="{FF2B5EF4-FFF2-40B4-BE49-F238E27FC236}">
                <ns2:creationId id="{26925455-EFF4-45B4-9562-A68EA5E8F199}"/>
              </a:ext>
            </a:extLst>
          </p:cNvPr>
          <p:cNvSpPr>
            <a:spLocks noGrp="1"/>
          </p:cNvSpPr>
          <p:nvPr/>
        </p:nvSpPr>
        <p:spPr>
          <a:xfrm>
            <a:off x="609600" y="516255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Punkte, Matchsieg</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und Shaping-Signale.</a:t>
            </a:r>
          </a:p>
        </p:txBody>
      </p:sp>
      <p:sp>
        <p:nvSpPr>
          <p:cNvPr id="16" name="revision-Double DQN · Pseudocode">
            <a:extLst>
              <a:ext uri="{FF2B5EF4-FFF2-40B4-BE49-F238E27FC236}">
                <ns2:creationId id="{048EE7C3-8DE3-4F42-8DBA-A291D22D142B}"/>
              </a:ext>
            </a:extLst>
          </p:cNvPr>
          <p:cNvSpPr>
            <a:spLocks noGrp="1"/>
          </p:cNvSpPr>
          <p:nvPr/>
        </p:nvSpPr>
        <p:spPr>
          <a:xfrm>
            <a:off x="3943350" y="2028825"/>
            <a:ext cx="7334250" cy="361950"/>
          </a:xfrm>
          <a:prstGeom prst="rect">
            <a:avLst/>
          </a:prstGeom>
          <a:noFill/>
          <a:ln w="0">
            <a:noFill/>
          </a:ln>
        </p:spPr>
        <p:txBody>
          <a:bodyPr>
            <a:noAutofit/>
          </a:bodyPr>
          <a:lstStyle>
            <a:defPPr>
              <a:defRPr sz="1725" b="1">
                <a:solidFill>
                  <a:srgbClr val="526B70"/>
                </a:solidFill>
                <a:latin typeface="Helvetica Neue"/>
                <a:ea typeface="Helvetica Neue"/>
                <a:cs typeface="Helvetica Neue"/>
              </a:defRPr>
            </a:defPPr>
          </a:lstStyle>
          <a:p>
            <a:pPr>
              <a:defRPr sz="1725" b="1">
                <a:solidFill>
                  <a:srgbClr val="526B70"/>
                </a:solidFill>
                <a:latin typeface="Helvetica Neue"/>
                <a:ea typeface="Helvetica Neue"/>
                <a:cs typeface="Helvetica Neue"/>
              </a:defRPr>
            </a:pPr>
            <a:r>
              <a:rPr sz="1725" b="1">
                <a:solidFill>
                  <a:srgbClr val="526B70"/>
                </a:solidFill>
                <a:latin typeface="Helvetica Neue"/>
                <a:ea typeface="Helvetica Neue"/>
                <a:cs typeface="Helvetica Neue"/>
              </a:rPr>
              <a:t>Double DQN · Pseudocode</a:t>
            </a:r>
          </a:p>
        </p:txBody>
      </p:sp>
      <p:sp>
        <p:nvSpPr>
          <p:cNvPr id="17" name="revision-BEI jedem Lernupdate:">
            <a:extLst>
              <a:ext uri="{FF2B5EF4-FFF2-40B4-BE49-F238E27FC236}">
                <ns2:creationId id="{4B31EEA0-CB12-4D3C-A400-9725F2E8C7C7}"/>
              </a:ext>
            </a:extLst>
          </p:cNvPr>
          <p:cNvSpPr>
            <a:spLocks noGrp="1"/>
          </p:cNvSpPr>
          <p:nvPr/>
        </p:nvSpPr>
        <p:spPr>
          <a:xfrm>
            <a:off x="4010025" y="25527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BEI jedem Lernupdate:</a:t>
            </a:r>
          </a:p>
        </p:txBody>
      </p:sp>
      <p:sp>
        <p:nvSpPr>
          <p:cNvPr id="18" name="revision-    Batch = 256 Übergänge aus dem Buffer">
            <a:extLst>
              <a:ext uri="{FF2B5EF4-FFF2-40B4-BE49-F238E27FC236}">
                <ns2:creationId id="{BFAA9AA4-8C49-4579-A94F-9E87C22FCCE7}"/>
              </a:ext>
            </a:extLst>
          </p:cNvPr>
          <p:cNvSpPr>
            <a:spLocks noGrp="1"/>
          </p:cNvSpPr>
          <p:nvPr/>
        </p:nvSpPr>
        <p:spPr>
          <a:xfrm>
            <a:off x="4010025" y="2867025"/>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Batch = 256 Übergänge aus dem Buffer</a:t>
            </a:r>
          </a:p>
        </p:txBody>
      </p:sp>
      <p:sp>
        <p:nvSpPr>
          <p:cNvPr id="19" name="revision-    FÜR jeden Übergang (s, a, r, s', End">
            <a:extLst>
              <a:ext uri="{FF2B5EF4-FFF2-40B4-BE49-F238E27FC236}">
                <ns2:creationId id="{FF609B7D-55EF-4289-94D3-F86DFA94EDFB}"/>
              </a:ext>
            </a:extLst>
          </p:cNvPr>
          <p:cNvSpPr>
            <a:spLocks noGrp="1"/>
          </p:cNvSpPr>
          <p:nvPr/>
        </p:nvSpPr>
        <p:spPr>
          <a:xfrm>
            <a:off x="4010025" y="31813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FÜR jeden Übergang (s, a, r, s', Ende):</a:t>
            </a:r>
          </a:p>
        </p:txBody>
      </p:sp>
      <p:sp>
        <p:nvSpPr>
          <p:cNvPr id="20" name="revision-        a* = beste erlaubte Folgeaktion">
            <a:extLst>
              <a:ext uri="{FF2B5EF4-FFF2-40B4-BE49-F238E27FC236}">
                <ns2:creationId id="{83735135-0A41-49D4-BB53-FFBB4709A50E}"/>
              </a:ext>
            </a:extLst>
          </p:cNvPr>
          <p:cNvSpPr>
            <a:spLocks noGrp="1"/>
          </p:cNvSpPr>
          <p:nvPr/>
        </p:nvSpPr>
        <p:spPr>
          <a:xfrm>
            <a:off x="4010025" y="3495675"/>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 = beste erlaubte Folgeaktion</a:t>
            </a:r>
          </a:p>
        </p:txBody>
      </p:sp>
      <p:sp>
        <p:nvSpPr>
          <p:cNvPr id="21" name="revision-             laut Online-Netz">
            <a:extLst>
              <a:ext uri="{FF2B5EF4-FFF2-40B4-BE49-F238E27FC236}">
                <ns2:creationId id="{0B17DB1A-03D1-4792-869E-11C4A5D35C33}"/>
              </a:ext>
            </a:extLst>
          </p:cNvPr>
          <p:cNvSpPr>
            <a:spLocks noGrp="1"/>
          </p:cNvSpPr>
          <p:nvPr/>
        </p:nvSpPr>
        <p:spPr>
          <a:xfrm>
            <a:off x="4010025" y="38100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laut Online-Netz</a:t>
            </a:r>
          </a:p>
        </p:txBody>
      </p:sp>
      <p:sp>
        <p:nvSpPr>
          <p:cNvPr id="22" name="revision-        Ziel = r, falls Ende">
            <a:extLst>
              <a:ext uri="{FF2B5EF4-FFF2-40B4-BE49-F238E27FC236}">
                <ns2:creationId id="{BAB1719A-526D-44C9-8415-17625F7C25DC}"/>
              </a:ext>
            </a:extLst>
          </p:cNvPr>
          <p:cNvSpPr>
            <a:spLocks noGrp="1"/>
          </p:cNvSpPr>
          <p:nvPr/>
        </p:nvSpPr>
        <p:spPr>
          <a:xfrm>
            <a:off x="4010025" y="4124325"/>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Ziel = r, falls Ende</a:t>
            </a:r>
          </a:p>
        </p:txBody>
      </p:sp>
      <p:sp>
        <p:nvSpPr>
          <p:cNvPr id="23" name="revision-        SONST: Ziel = r + γ · Q_Target(s">
            <a:extLst>
              <a:ext uri="{FF2B5EF4-FFF2-40B4-BE49-F238E27FC236}">
                <ns2:creationId id="{B0858CA5-F652-4669-B92F-D5D93637AE16}"/>
              </a:ext>
            </a:extLst>
          </p:cNvPr>
          <p:cNvSpPr>
            <a:spLocks noGrp="1"/>
          </p:cNvSpPr>
          <p:nvPr/>
        </p:nvSpPr>
        <p:spPr>
          <a:xfrm>
            <a:off x="4010025" y="44386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SONST: Ziel = r + γ · Q_Target(s', a*)</a:t>
            </a:r>
          </a:p>
        </p:txBody>
      </p:sp>
      <p:sp>
        <p:nvSpPr>
          <p:cNvPr id="24" name="revision-    Online-Netz an die Ziele anpassen">
            <a:extLst>
              <a:ext uri="{FF2B5EF4-FFF2-40B4-BE49-F238E27FC236}">
                <ns2:creationId id="{7BFD4AEE-E9A9-4B13-9061-1B1F24A7E399}"/>
              </a:ext>
            </a:extLst>
          </p:cNvPr>
          <p:cNvSpPr>
            <a:spLocks noGrp="1"/>
          </p:cNvSpPr>
          <p:nvPr/>
        </p:nvSpPr>
        <p:spPr>
          <a:xfrm>
            <a:off x="4010025" y="4752975"/>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Online-Netz an die Ziele anpassen</a:t>
            </a:r>
          </a:p>
        </p:txBody>
      </p:sp>
      <p:sp>
        <p:nvSpPr>
          <p:cNvPr id="25" name="revision-    ALLE 500 Updates: Target = Online">
            <a:extLst>
              <a:ext uri="{FF2B5EF4-FFF2-40B4-BE49-F238E27FC236}">
                <ns2:creationId id="{11E73118-01BB-4673-A71B-0C0ACEEB2696}"/>
              </a:ext>
            </a:extLst>
          </p:cNvPr>
          <p:cNvSpPr>
            <a:spLocks noGrp="1"/>
          </p:cNvSpPr>
          <p:nvPr/>
        </p:nvSpPr>
        <p:spPr>
          <a:xfrm>
            <a:off x="4010025" y="50673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ALLE 500 Updates: Target = Online</a:t>
            </a:r>
          </a:p>
        </p:txBody>
      </p:sp>
      <p:sp>
        <p:nvSpPr>
          <p:cNvPr id="26" name="revision-# Online wählt, Target bewertet">
            <a:extLst>
              <a:ext uri="{FF2B5EF4-FFF2-40B4-BE49-F238E27FC236}">
                <ns2:creationId id="{F43E4925-E5B1-44A2-B250-15C62AE0F985}"/>
              </a:ext>
            </a:extLst>
          </p:cNvPr>
          <p:cNvSpPr>
            <a:spLocks noGrp="1"/>
          </p:cNvSpPr>
          <p:nvPr/>
        </p:nvSpPr>
        <p:spPr>
          <a:xfrm>
            <a:off x="4010025" y="5505450"/>
            <a:ext cx="7334250" cy="285750"/>
          </a:xfrm>
          <a:prstGeom prst="rect">
            <a:avLst/>
          </a:prstGeom>
          <a:noFill/>
          <a:ln w="0">
            <a:noFill/>
          </a:ln>
        </p:spPr>
        <p:txBody>
          <a:bodyPr>
            <a:noAutofit/>
          </a:bodyPr>
          <a:lstStyle>
            <a:defPPr>
              <a:defRPr sz="1575" b="0">
                <a:solidFill>
                  <a:srgbClr val="526B70"/>
                </a:solidFill>
                <a:latin typeface="Courier New"/>
                <a:ea typeface="Courier New"/>
                <a:cs typeface="Courier New"/>
              </a:defRPr>
            </a:defPPr>
          </a:lstStyle>
          <a:p>
            <a:pPr>
              <a:defRPr sz="1575" b="0">
                <a:solidFill>
                  <a:srgbClr val="526B70"/>
                </a:solidFill>
                <a:latin typeface="Courier New"/>
                <a:ea typeface="Courier New"/>
                <a:cs typeface="Courier New"/>
              </a:defRPr>
            </a:pPr>
            <a:r>
              <a:rPr sz="1575" b="0">
                <a:solidFill>
                  <a:srgbClr val="526B70"/>
                </a:solidFill>
                <a:latin typeface="Courier New"/>
                <a:ea typeface="Courier New"/>
                <a:cs typeface="Courier New"/>
              </a:rPr>
              <a:t># Online wählt, Target bewertet</a:t>
            </a:r>
          </a:p>
        </p:txBody>
      </p:sp>
    </p:spTree>
    <p:extLst>
      <p:ext uri="{BB962C8B-B14F-4D97-AF65-F5344CB8AC3E}">
        <ns3:creationId val="2012567408"/>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9" name=""/>
        <p:cNvGrpSpPr/>
        <p:nvPr/>
      </p:nvGrpSpPr>
      <p:grpSpPr>
        <a:xfrm/>
      </p:grpSpPr>
      <p:sp>
        <p:nvSpPr>
          <p:cNvPr id="8" name="SHERLOCK / REVIEW 01">
            <a:extLst>
              <a:ext uri="{FF2B5EF4-FFF2-40B4-BE49-F238E27FC236}">
                <ns2:creationId id="{61090A13-2EF2-43A2-A7D8-5A7BFE45E879}"/>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Trainingsläufe, danach feste Gewichte">
            <a:extLst>
              <a:ext uri="{FF2B5EF4-FFF2-40B4-BE49-F238E27FC236}">
                <ns2:creationId id="{68147D5A-06E0-4685-B507-E509E026E1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 und Auswertung</a:t>
            </a:r>
          </a:p>
        </p:txBody>
      </p:sp>
      <p:sp>
        <p:nvSpPr>
          <p:cNvPr id="3" name="Team 15 · Mahmoud El-Hassan &amp; Moayed Shawesh">
            <a:extLst>
              <a:ext uri="{FF2B5EF4-FFF2-40B4-BE49-F238E27FC236}">
                <ns2:creationId id="{4DD744E3-9890-407C-B701-A0F0238D5D4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7">
            <a:extLst>
              <a:ext uri="{FF2B5EF4-FFF2-40B4-BE49-F238E27FC236}">
                <ns2:creationId id="{FFCC985A-7711-4D44-B812-A9455C15353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08</a:t>
            </a:r>
          </a:p>
        </p:txBody>
      </p:sp>
      <p:sp>
        <p:nvSpPr>
          <p:cNvPr id="10" name="revision-6 × 3.000 = 18.000">
            <a:extLst>
              <a:ext uri="{FF2B5EF4-FFF2-40B4-BE49-F238E27FC236}">
                <ns2:creationId id="{4A88757F-4863-4249-B890-50B26A2C99D5}"/>
              </a:ext>
            </a:extLst>
          </p:cNvPr>
          <p:cNvSpPr>
            <a:spLocks noGrp="1"/>
          </p:cNvSpPr>
          <p:nvPr/>
        </p:nvSpPr>
        <p:spPr>
          <a:xfrm>
            <a:off x="609600" y="1762125"/>
            <a:ext cx="10972800" cy="628650"/>
          </a:xfrm>
          <a:prstGeom prst="rect">
            <a:avLst/>
          </a:prstGeom>
          <a:noFill/>
          <a:ln w="0">
            <a:noFill/>
          </a:ln>
        </p:spPr>
        <p:txBody>
          <a:bodyPr>
            <a:noAutofit/>
          </a:bodyPr>
          <a:lstStyle>
            <a:defPPr>
              <a:defRPr sz="3900" b="1">
                <a:solidFill>
                  <a:srgbClr val="007D7B"/>
                </a:solidFill>
                <a:latin typeface="Helvetica Neue"/>
                <a:ea typeface="Helvetica Neue"/>
                <a:cs typeface="Helvetica Neue"/>
              </a:defRPr>
            </a:defPPr>
          </a:lstStyle>
          <a:p>
            <a:pPr>
              <a:defRPr sz="3900" b="1">
                <a:solidFill>
                  <a:srgbClr val="007D7B"/>
                </a:solidFill>
                <a:latin typeface="Helvetica Neue"/>
                <a:ea typeface="Helvetica Neue"/>
                <a:cs typeface="Helvetica Neue"/>
              </a:defRPr>
            </a:pPr>
            <a:r>
              <a:rPr sz="3900" b="1">
                <a:solidFill>
                  <a:srgbClr val="007D7B"/>
                </a:solidFill>
                <a:latin typeface="Helvetica Neue"/>
                <a:ea typeface="Helvetica Neue"/>
                <a:cs typeface="Helvetica Neue"/>
              </a:rPr>
              <a:t>6 × 3.000 = 18.000</a:t>
            </a:r>
          </a:p>
        </p:txBody>
      </p:sp>
      <p:sp>
        <p:nvSpPr>
          <p:cNvPr id="11" name="revision-Trainingsspiele der sechs Basisläufe des">
            <a:extLst>
              <a:ext uri="{FF2B5EF4-FFF2-40B4-BE49-F238E27FC236}">
                <ns2:creationId id="{1304225F-3324-4D09-89C9-6C6C60280466}"/>
              </a:ext>
            </a:extLst>
          </p:cNvPr>
          <p:cNvSpPr>
            <a:spLocks noGrp="1"/>
          </p:cNvSpPr>
          <p:nvPr/>
        </p:nvSpPr>
        <p:spPr>
          <a:xfrm>
            <a:off x="609600" y="2457450"/>
            <a:ext cx="10972800" cy="381000"/>
          </a:xfrm>
          <a:prstGeom prst="rect">
            <a:avLst/>
          </a:prstGeom>
          <a:noFill/>
          <a:ln w="0">
            <a:noFill/>
          </a:ln>
        </p:spPr>
        <p:txBody>
          <a:bodyPr>
            <a:noAutofit/>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Trainingsspiele der sechs Basisläufe des aktuellen Ensembles</a:t>
            </a:r>
          </a:p>
        </p:txBody>
      </p:sp>
      <p:graphicFrame>
        <p:nvGraphicFramePr>
          <p:cNvPr id="13" name="">
            <a:extLst>
              <a:ext uri="{FF2B5EF4-FFF2-40B4-BE49-F238E27FC236}">
                <ns2:creationId id="{837EE017-2FAA-40E9-B2FA-4F859F1CED9A}"/>
              </a:ext>
            </a:extLst>
          </p:cNvPr>
          <p:cNvGraphicFramePr/>
          <p:nvPr/>
        </p:nvGraphicFramePr>
        <p:xfrm>
          <a:off x="609600" y="3105150"/>
          <a:ext cx="5295900" cy="2857500"/>
        </p:xfrm>
        <a:graphic>
          <a:graphicData uri="http://schemas.openxmlformats.org/drawingml/2006/table">
            <a:tbl>
              <a:tblPr/>
              <a:tblGrid>
                <a:gridCol w="1619250"/>
                <a:gridCol w="3676650"/>
              </a:tblGrid>
              <a:tr h="495300">
                <a:tc>
                  <a:txBody>
                    <a:bodyPr/>
                    <a:lstStyle/>
                    <a:p>
                      <a:r>
                        <a:rPr sz="1800" b="1">
                          <a:solidFill>
                            <a:srgbClr val="FFFFFF"/>
                          </a:solidFill>
                          <a:latin typeface="Helvetica Neue"/>
                          <a:ea typeface="Helvetica Neue"/>
                          <a:cs typeface="Helvetica Neue"/>
                        </a:rPr>
                        <a:t>Phase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800" b="1">
                          <a:solidFill>
                            <a:srgbClr val="FFFFFF"/>
                          </a:solidFill>
                          <a:latin typeface="Helvetica Neue"/>
                          <a:ea typeface="Helvetica Neue"/>
                          <a:cs typeface="Helvetica Neue"/>
                        </a:rPr>
                        <a:t>Vorgehen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781050">
                <a:tc>
                  <a:txBody>
                    <a:bodyPr/>
                    <a:lstStyle/>
                    <a:p>
                      <a:r>
                        <a:rPr sz="1800" b="0">
                          <a:solidFill>
                            <a:srgbClr val="102D35"/>
                          </a:solidFill>
                          <a:latin typeface="Helvetica Neue"/>
                          <a:ea typeface="Helvetica Neue"/>
                          <a:cs typeface="Helvetica Neue"/>
                        </a:rPr>
                        <a:t>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Erst default; danach default</a:t>
                      </a:r>
                    </a:p>
                    <a:p>
                      <a:r>
                        <a:rPr sz="1800" b="0">
                          <a:solidFill>
                            <a:srgbClr val="102D35"/>
                          </a:solidFill>
                          <a:latin typeface="Helvetica Neue"/>
                          <a:ea typeface="Helvetica Neue"/>
                          <a:cs typeface="Helvetica Neue"/>
                        </a:rPr>
                        <a:t>und Solution_92 im Wechsel</a:t>
                      </a:r>
                    </a:p>
                  </a:txBody>
                  <a:tcPr marL="91440" marR="91440" marT="45720" marB="45720">
                    <a:lnR w="9525">
                      <a:solidFill>
                        <a:srgbClr val="CFDBD7"/>
                      </a:solidFill>
                      <a:prstDash val="solid"/>
                    </a:lnR>
                    <a:lnB w="9525">
                      <a:solidFill>
                        <a:srgbClr val="CFDBD7"/>
                      </a:solidFill>
                      <a:prstDash val="solid"/>
                    </a:lnB>
                    <a:solidFill>
                      <a:srgbClr val="FFFFFF"/>
                    </a:solidFill>
                  </a:tcPr>
                </a:tc>
              </a:tr>
              <a:tr h="790575">
                <a:tc>
                  <a:txBody>
                    <a:bodyPr/>
                    <a:lstStyle/>
                    <a:p>
                      <a:r>
                        <a:rPr sz="1800" b="0">
                          <a:solidFill>
                            <a:srgbClr val="102D35"/>
                          </a:solidFill>
                          <a:latin typeface="Helvetica Neue"/>
                          <a:ea typeface="Helvetica Neue"/>
                          <a:cs typeface="Helvetica Neue"/>
                        </a:rPr>
                        <a:t>Validierung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800" b="0">
                          <a:solidFill>
                            <a:srgbClr val="102D35"/>
                          </a:solidFill>
                          <a:latin typeface="Helvetica Neue"/>
                          <a:ea typeface="Helvetica Neue"/>
                          <a:cs typeface="Helvetica Neue"/>
                        </a:rPr>
                        <a:t>Getrennte Karten;</a:t>
                      </a:r>
                    </a:p>
                    <a:p>
                      <a:r>
                        <a:rPr sz="1800" b="0">
                          <a:solidFill>
                            <a:srgbClr val="102D35"/>
                          </a:solidFill>
                          <a:latin typeface="Helvetica Neue"/>
                          <a:ea typeface="Helvetica Neue"/>
                          <a:cs typeface="Helvetica Neue"/>
                        </a:rPr>
                        <a:t>Checkpoints vergleichen</a:t>
                      </a:r>
                    </a:p>
                  </a:txBody>
                  <a:tcPr marL="91440" marR="91440" marT="45720" marB="45720">
                    <a:lnR w="9525">
                      <a:solidFill>
                        <a:srgbClr val="CFDBD7"/>
                      </a:solidFill>
                      <a:prstDash val="solid"/>
                    </a:lnR>
                    <a:lnB w="9525">
                      <a:solidFill>
                        <a:srgbClr val="CFDBD7"/>
                      </a:solidFill>
                      <a:prstDash val="solid"/>
                    </a:lnB>
                    <a:solidFill>
                      <a:srgbClr val="EDF2ED"/>
                    </a:solidFill>
                  </a:tcPr>
                </a:tc>
              </a:tr>
              <a:tr h="790575">
                <a:tc>
                  <a:txBody>
                    <a:bodyPr/>
                    <a:lstStyle/>
                    <a:p>
                      <a:r>
                        <a:rPr sz="1800" b="0">
                          <a:solidFill>
                            <a:srgbClr val="102D35"/>
                          </a:solidFill>
                          <a:latin typeface="Helvetica Neue"/>
                          <a:ea typeface="Helvetica Neue"/>
                          <a:cs typeface="Helvetica Neue"/>
                        </a:rPr>
                        <a:t>Auswertung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Beide Seiten; ε = 0;</a:t>
                      </a:r>
                    </a:p>
                    <a:p>
                      <a:r>
                        <a:rPr sz="1800" b="0">
                          <a:solidFill>
                            <a:srgbClr val="102D35"/>
                          </a:solidFill>
                          <a:latin typeface="Helvetica Neue"/>
                          <a:ea typeface="Helvetica Neue"/>
                          <a:cs typeface="Helvetica Neue"/>
                        </a:rPr>
                        <a:t>kein weiteres Lernen</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graphicFrame>
        <p:nvGraphicFramePr>
          <p:cNvPr id="14" name="">
            <a:extLst>
              <a:ext uri="{FF2B5EF4-FFF2-40B4-BE49-F238E27FC236}">
                <ns2:creationId id="{2B94D99E-4265-4049-BBD7-C4073FC3BAF1}"/>
              </a:ext>
            </a:extLst>
          </p:cNvPr>
          <p:cNvGraphicFramePr/>
          <p:nvPr/>
        </p:nvGraphicFramePr>
        <p:xfrm>
          <a:off x="6286500" y="3105150"/>
          <a:ext cx="5295900" cy="2857500"/>
        </p:xfrm>
        <a:graphic>
          <a:graphicData uri="http://schemas.openxmlformats.org/drawingml/2006/table">
            <a:tbl>
              <a:tblPr/>
              <a:tblGrid>
                <a:gridCol w="1619250"/>
                <a:gridCol w="3676650"/>
              </a:tblGrid>
              <a:tr h="495300">
                <a:tc>
                  <a:txBody>
                    <a:bodyPr/>
                    <a:lstStyle/>
                    <a:p>
                      <a:r>
                        <a:rPr sz="180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80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552450">
                <a:tc>
                  <a:txBody>
                    <a:bodyPr/>
                    <a:lstStyle/>
                    <a:p>
                      <a:r>
                        <a:rPr sz="1800" b="0">
                          <a:solidFill>
                            <a:srgbClr val="102D35"/>
                          </a:solidFill>
                          <a:latin typeface="Helvetica Neue"/>
                          <a:ea typeface="Helvetica Neue"/>
                          <a:cs typeface="Helvetica Neue"/>
                        </a:rPr>
                        <a:t>Lernrate / γ</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0,0003 / 0,99</a:t>
                      </a:r>
                    </a:p>
                  </a:txBody>
                  <a:tcPr marL="91440" marR="91440" marT="45720" marB="45720">
                    <a:lnR w="9525">
                      <a:solidFill>
                        <a:srgbClr val="CFDBD7"/>
                      </a:solidFill>
                      <a:prstDash val="solid"/>
                    </a:lnR>
                    <a:lnB w="9525">
                      <a:solidFill>
                        <a:srgbClr val="CFDBD7"/>
                      </a:solidFill>
                      <a:prstDash val="solid"/>
                    </a:lnB>
                    <a:solidFill>
                      <a:srgbClr val="FFFFFF"/>
                    </a:solidFill>
                  </a:tcPr>
                </a:tc>
              </a:tr>
              <a:tr h="552450">
                <a:tc>
                  <a:txBody>
                    <a:bodyPr/>
                    <a:lstStyle/>
                    <a:p>
                      <a:r>
                        <a:rPr sz="1800" b="0">
                          <a:solidFill>
                            <a:srgbClr val="102D35"/>
                          </a:solidFill>
                          <a:latin typeface="Helvetica Neue"/>
                          <a:ea typeface="Helvetica Neue"/>
                          <a:cs typeface="Helvetica Neue"/>
                        </a:rPr>
                        <a:t>Batch / Buffer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800" b="0">
                          <a:solidFill>
                            <a:srgbClr val="102D35"/>
                          </a:solidFill>
                          <a:latin typeface="Helvetica Neue"/>
                          <a:ea typeface="Helvetica Neue"/>
                          <a:cs typeface="Helvetica Neue"/>
                        </a:rPr>
                        <a:t>256 / 300.000 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704850">
                <a:tc>
                  <a:txBody>
                    <a:bodyPr/>
                    <a:lstStyle/>
                    <a:p>
                      <a:r>
                        <a:rPr sz="1800" b="0">
                          <a:solidFill>
                            <a:srgbClr val="102D35"/>
                          </a:solidFill>
                          <a:latin typeface="Helvetica Neue"/>
                          <a:ea typeface="Helvetica Neue"/>
                          <a:cs typeface="Helvetica Neue"/>
                        </a:rPr>
                        <a:t>Exploration ε</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1,0 → 0,05 in 60.000</a:t>
                      </a:r>
                    </a:p>
                    <a:p>
                      <a:r>
                        <a:rPr sz="1800" b="0">
                          <a:solidFill>
                            <a:srgbClr val="102D35"/>
                          </a:solidFill>
                          <a:latin typeface="Helvetica Neue"/>
                          <a:ea typeface="Helvetica Neue"/>
                          <a:cs typeface="Helvetica Neue"/>
                        </a:rPr>
                        <a:t>Umgebungsschritten</a:t>
                      </a:r>
                    </a:p>
                  </a:txBody>
                  <a:tcPr marL="91440" marR="91440" marT="45720" marB="45720">
                    <a:lnR w="9525">
                      <a:solidFill>
                        <a:srgbClr val="CFDBD7"/>
                      </a:solidFill>
                      <a:prstDash val="solid"/>
                    </a:lnR>
                    <a:lnB w="9525">
                      <a:solidFill>
                        <a:srgbClr val="CFDBD7"/>
                      </a:solidFill>
                      <a:prstDash val="solid"/>
                    </a:lnB>
                    <a:solidFill>
                      <a:srgbClr val="FFFFFF"/>
                    </a:solidFill>
                  </a:tcPr>
                </a:tc>
              </a:tr>
              <a:tr h="552450">
                <a:tc>
                  <a:txBody>
                    <a:bodyPr/>
                    <a:lstStyle/>
                    <a:p>
                      <a:r>
                        <a:rPr sz="180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80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Tree>
    <p:extLst>
      <p:ext uri="{BB962C8B-B14F-4D97-AF65-F5344CB8AC3E}">
        <ns3:creationId val="2029611600"/>
      </p:ext>
    </p:extLst>
  </p:cSld>
</p:sld>
</file>

<file path=ppt/slides/slide9.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9DE6700D-25C4-4074-A736-65C0F47086D5}"/>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tark gegen default – der stärkere Gegner ble">
            <a:extLst>
              <a:ext uri="{FF2B5EF4-FFF2-40B4-BE49-F238E27FC236}">
                <ns2:creationId id="{4E667264-4180-43DA-A8C3-B96A6374C6E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Benchmark-Ergebnisse</a:t>
            </a:r>
          </a:p>
        </p:txBody>
      </p:sp>
      <p:sp>
        <p:nvSpPr>
          <p:cNvPr id="3" name="Team 15 · Mahmoud El-Hassan &amp; Moayed Shawesh">
            <a:extLst>
              <a:ext uri="{FF2B5EF4-FFF2-40B4-BE49-F238E27FC236}">
                <ns2:creationId id="{21F1CF2C-D3C7-49C8-95C8-379845550E6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8">
            <a:extLst>
              <a:ext uri="{FF2B5EF4-FFF2-40B4-BE49-F238E27FC236}">
                <ns2:creationId id="{6A2ADC49-233E-4D8F-B365-5BFC6D99D1E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09</a:t>
            </a:r>
          </a:p>
        </p:txBody>
      </p:sp>
      <p:graphicFrame>
        <p:nvGraphicFramePr>
          <p:cNvPr id="5" name="Chart">
            <a:extLst>
              <a:ext uri="{FF2B5EF4-FFF2-40B4-BE49-F238E27FC236}">
                <ns2:creationId id="{2E4EBE12-064B-4B26-9814-B5EF2CFA5AD1}"/>
              </a:ext>
            </a:extLst>
          </p:cNvPr>
          <p:cNvGraphicFramePr/>
          <p:nvPr/>
        </p:nvGraphicFramePr>
        <p:xfrm>
          <a:off x="609600" y="2047875"/>
          <a:ext cx="7000875" cy="3629025"/>
        </p:xfrm>
        <a:graphic>
          <a:graphicData uri="http://schemas.openxmlformats.org/drawingml/2006/chart">
            <ns3:chart r:id="Rc37e7090310d4e88"/>
          </a:graphicData>
        </a:graphic>
      </p:graphicFrame>
      <p:sp>
        <p:nvSpPr>
          <p:cNvPr id="6" name="60 / 60 Siege&#10;gegen default">
            <a:extLst>
              <a:ext uri="{FF2B5EF4-FFF2-40B4-BE49-F238E27FC236}">
                <ns2:creationId id="{2C1D552B-F705-4702-A832-9394DD8D9160}"/>
              </a:ext>
            </a:extLst>
          </p:cNvPr>
          <p:cNvSpPr>
            <a:spLocks noGrp="1"/>
          </p:cNvSpPr>
          <p:nvPr/>
        </p:nvSpPr>
        <p:spPr>
          <a:xfrm>
            <a:off x="8172450" y="2314575"/>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60 / 60 Siege gegen default</a:t>
            </a:r>
          </a:p>
        </p:txBody>
      </p:sp>
      <p:sp>
        <p:nvSpPr>
          <p:cNvPr id="7" name="28 / 60 Siege&#10;gegen Solution_92">
            <a:extLst>
              <a:ext uri="{FF2B5EF4-FFF2-40B4-BE49-F238E27FC236}">
                <ns2:creationId id="{350C1384-13C6-43A8-B6D2-8377F740B5F6}"/>
              </a:ext>
            </a:extLst>
          </p:cNvPr>
          <p:cNvSpPr>
            <a:spLocks noGrp="1"/>
          </p:cNvSpPr>
          <p:nvPr/>
        </p:nvSpPr>
        <p:spPr>
          <a:xfrm>
            <a:off x="8172450" y="3714750"/>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28 / 60 Siege gegen Solution_92</a:t>
            </a:r>
          </a:p>
        </p:txBody>
      </p:sp>
      <p:sp>
        <p:nvSpPr>
          <p:cNvPr id="8" name="Je Gegner: 30 Karten × 2 Seiten · bereits meh">
            <a:extLst>
              <a:ext uri="{FF2B5EF4-FFF2-40B4-BE49-F238E27FC236}">
                <ns2:creationId id="{F753D58F-8255-4ACC-B617-783246C3F5F7}"/>
              </a:ext>
            </a:extLst>
          </p:cNvPr>
          <p:cNvSpPr>
            <a:spLocks noGrp="1"/>
          </p:cNvSpPr>
          <p:nvPr/>
        </p:nvSpPr>
        <p:spPr>
          <a:xfrm>
            <a:off x="609600" y="5829300"/>
            <a:ext cx="10972800" cy="476250"/>
          </a:xfrm>
          <a:prstGeom prst="rect">
            <a:avLst/>
          </a:prstGeom>
          <a:noFill/>
          <a:ln w="0">
            <a:noFill/>
          </a:ln>
        </p:spPr>
        <p:txBody>
          <a:bodyPr>
            <a:noAutofit/>
          </a:bodyPr>
          <a:lstStyle>
            <a:defPPr algn="l">
              <a:defRPr sz="1800" b="0">
                <a:solidFill>
                  <a:srgbClr val="526B70"/>
                </a:solidFill>
                <a:latin typeface="Helvetica Neue"/>
                <a:ea typeface="Helvetica Neue"/>
                <a:cs typeface="Helvetica Neue"/>
              </a:defRPr>
            </a:defPPr>
          </a:lstStyle>
          <a:p>
            <a:pPr marL="0" indent="0" algn="l">
              <a:spcBef>
                <a:spcPts val="0"/>
              </a:spcBef>
              <a:spcAft>
                <a:spcPts val="0"/>
              </a:spcAft>
              <a:buNone/>
              <a:defRPr sz="1800" b="0">
                <a:solidFill>
                  <a:srgbClr val="526B70"/>
                </a:solidFill>
                <a:latin typeface="Helvetica Neue"/>
                <a:ea typeface="Helvetica Neue"/>
                <a:cs typeface="Helvetica Neue"/>
              </a:defRPr>
            </a:pPr>
            <a:r>
              <a:rPr sz="1800">
                <a:solidFill>
                  <a:srgbClr val="526B70"/>
                </a:solidFill>
                <a:latin typeface="Helvetica Neue"/>
                <a:ea typeface="Helvetica Neue"/>
                <a:cs typeface="Helvetica Neue"/>
              </a:rPr>
              <a:t>Je Gegner: 30 Karten × 2 Seiten · bereits mehrfach genutzter Benchmark</a:t>
            </a:r>
          </a:p>
        </p:txBody>
      </p:sp>
    </p:spTree>
    <p:extLst>
      <p:ext uri="{BB962C8B-B14F-4D97-AF65-F5344CB8AC3E}">
        <ns5:creationId val="1247860106"/>
      </p:ext>
    </p:extLst>
  </p:cSld>
</p:sld>
</file>

<file path=ppt/slides/slide1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12" name="SHERLOCK / REVIEW 01">
            <a:extLst>
              <a:ext uri="{FF2B5EF4-FFF2-40B4-BE49-F238E27FC236}">
                <ns2:creationId id="{D649A959-7497-4988-9EFE-00D58627A30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in Spiel: erst verteilen, dann Punktefelder ">
            <a:extLst>
              <a:ext uri="{FF2B5EF4-FFF2-40B4-BE49-F238E27FC236}">
                <ns2:creationId id="{57BEE2ED-FC67-4D2F-B7FA-21C62FDCD0D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Spielbeispiel</a:t>
            </a:r>
          </a:p>
        </p:txBody>
      </p:sp>
      <p:sp>
        <p:nvSpPr>
          <p:cNvPr id="3" name="Team 15 · Mahmoud El-Hassan &amp; Moayed Shawesh">
            <a:extLst>
              <a:ext uri="{FF2B5EF4-FFF2-40B4-BE49-F238E27FC236}">
                <ns2:creationId id="{8A6E3A1D-ACC3-4871-9E94-ADE9E4C15B2C}"/>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9">
            <a:extLst>
              <a:ext uri="{FF2B5EF4-FFF2-40B4-BE49-F238E27FC236}">
                <ns2:creationId id="{21F839A6-5B12-48CE-9DBD-C3A10D4AA9A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10</a:t>
            </a:r>
          </a:p>
        </p:txBody>
      </p:sp>
      <p:pic>
        <p:nvPicPr>
          <p:cNvPr id="5" name="">
            <a:extLst>
              <a:ext uri="{FF2B5EF4-FFF2-40B4-BE49-F238E27FC236}">
                <ns2:creationId id="{5B4A15C1-179F-4AF5-A36A-DE63BEBC5540}"/>
              </a:ext>
            </a:extLst>
          </p:cNvPr>
          <p:cNvPicPr>
            <a:picLocks noChangeAspect="1"/>
          </p:cNvPicPr>
          <p:nvPr/>
        </p:nvPicPr>
        <p:blipFill>
          <a:blip r:embed="Re2337e6fc3c2434d"/>
          <a:stretch/>
        </p:blipFill>
        <p:spPr>
          <a:xfrm>
            <a:off x="609600" y="1924050"/>
            <a:ext cx="3733800" cy="3733800"/>
          </a:xfrm>
          <a:prstGeom prst="rect">
            <a:avLst/>
          </a:prstGeom>
        </p:spPr>
      </p:pic>
      <p:pic>
        <p:nvPicPr>
          <p:cNvPr id="6" name="">
            <a:extLst>
              <a:ext uri="{FF2B5EF4-FFF2-40B4-BE49-F238E27FC236}">
                <ns2:creationId id="{EE23A9C9-EE08-4115-868A-36B887E13C00}"/>
              </a:ext>
            </a:extLst>
          </p:cNvPr>
          <p:cNvPicPr>
            <a:picLocks noChangeAspect="1"/>
          </p:cNvPicPr>
          <p:nvPr/>
        </p:nvPicPr>
        <p:blipFill>
          <a:blip r:embed="R4c0eb88b0e674139"/>
          <a:stretch/>
        </p:blipFill>
        <p:spPr>
          <a:xfrm>
            <a:off x="4543425" y="1924050"/>
            <a:ext cx="3733800" cy="3733800"/>
          </a:xfrm>
          <a:prstGeom prst="rect">
            <a:avLst/>
          </a:prstGeom>
        </p:spPr>
      </p:pic>
      <p:sp>
        <p:nvSpPr>
          <p:cNvPr id="7" name="Schritt 23 · 0 : 0">
            <a:extLst>
              <a:ext uri="{FF2B5EF4-FFF2-40B4-BE49-F238E27FC236}">
                <ns2:creationId id="{BE563A49-DAB7-4FAC-BC14-4BBE0559632A}"/>
              </a:ext>
            </a:extLst>
          </p:cNvPr>
          <p:cNvSpPr>
            <a:spLocks noGrp="1"/>
          </p:cNvSpPr>
          <p:nvPr/>
        </p:nvSpPr>
        <p:spPr>
          <a:xfrm>
            <a:off x="609600"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23 · 0 : 0</a:t>
            </a:r>
          </a:p>
        </p:txBody>
      </p:sp>
      <p:sp>
        <p:nvSpPr>
          <p:cNvPr id="8" name="Schritt 90 · 374 : 11">
            <a:extLst>
              <a:ext uri="{FF2B5EF4-FFF2-40B4-BE49-F238E27FC236}">
                <ns2:creationId id="{15EA00B8-A570-4921-B800-06AC2AB009B3}"/>
              </a:ext>
            </a:extLst>
          </p:cNvPr>
          <p:cNvSpPr>
            <a:spLocks noGrp="1"/>
          </p:cNvSpPr>
          <p:nvPr/>
        </p:nvSpPr>
        <p:spPr>
          <a:xfrm>
            <a:off x="4543425"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90 · 374 : 11</a:t>
            </a:r>
          </a:p>
        </p:txBody>
      </p:sp>
      <p:sp>
        <p:nvSpPr>
          <p:cNvPr id="9" name="Sherlock: blau&#10;Gegner: rot">
            <a:extLst>
              <a:ext uri="{FF2B5EF4-FFF2-40B4-BE49-F238E27FC236}">
                <ns2:creationId id="{A4849F7E-04F9-4CDB-9887-2CE754AAE9CA}"/>
              </a:ext>
            </a:extLst>
          </p:cNvPr>
          <p:cNvSpPr>
            <a:spLocks noGrp="1"/>
          </p:cNvSpPr>
          <p:nvPr/>
        </p:nvSpPr>
        <p:spPr>
          <a:xfrm>
            <a:off x="8724900" y="2057400"/>
            <a:ext cx="2857500" cy="952500"/>
          </a:xfrm>
          <a:prstGeom prst="rect">
            <a:avLst/>
          </a:prstGeom>
          <a:noFill/>
          <a:ln w="0">
            <a:noFill/>
          </a:ln>
        </p:spPr>
        <p:txBody>
          <a:bodyPr>
            <a:noAutofit/>
          </a:bodyPr>
          <a:lstStyle>
            <a:defPPr algn="l">
              <a:defRPr sz="2025" b="1">
                <a:solidFill>
                  <a:srgbClr val="007D7B"/>
                </a:solidFill>
                <a:latin typeface="Helvetica Neue"/>
                <a:ea typeface="Helvetica Neue"/>
                <a:cs typeface="Helvetica Neue"/>
              </a:defRPr>
            </a:defPPr>
          </a:lstStyle>
          <a:p>
            <a:pPr marL="330200" indent="-254000" algn="l">
              <a:spcAft>
                <a:spcPts val="800"/>
              </a:spcAft>
              <a:buFont typeface="Helvetica Neue"/>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Sherlock: blau</a:t>
            </a:r>
          </a:p>
          <a:p>
            <a:pPr marL="330200" indent="-254000" algn="l">
              <a:spcAft>
                <a:spcPts val="800"/>
              </a:spcAft>
              <a:buFont typeface="Helvetica Neue"/>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Gegner: rot</a:t>
            </a:r>
          </a:p>
        </p:txBody>
      </p:sp>
      <p:sp>
        <p:nvSpPr>
          <p:cNvPr id="10" name="Blaue Einheiten&#10;besetzen Punktefelder.&#10;&#10;Stehe">
            <a:extLst>
              <a:ext uri="{FF2B5EF4-FFF2-40B4-BE49-F238E27FC236}">
                <ns2:creationId id="{F57BBD97-C9BE-4063-922D-45E9DF7DDCED}"/>
              </a:ext>
            </a:extLst>
          </p:cNvPr>
          <p:cNvSpPr>
            <a:spLocks noGrp="1"/>
          </p:cNvSpPr>
          <p:nvPr/>
        </p:nvSpPr>
        <p:spPr>
          <a:xfrm>
            <a:off x="8724900" y="3343275"/>
            <a:ext cx="2857500" cy="2238375"/>
          </a:xfrm>
          <a:prstGeom prst="rect">
            <a:avLst/>
          </a:prstGeom>
          <a:noFill/>
          <a:ln w="0">
            <a:noFill/>
          </a:ln>
        </p:spPr>
        <p:txBody>
          <a:bodyPr>
            <a:noAutofit/>
          </a:bodyPr>
          <a:lstStyle>
            <a:defPPr algn="l">
              <a:defRPr sz="2025" b="0">
                <a:solidFill>
                  <a:srgbClr val="102D35"/>
                </a:solidFill>
                <a:latin typeface="Helvetica Neue"/>
                <a:ea typeface="Helvetica Neue"/>
                <a:cs typeface="Helvetica Neue"/>
              </a:defRPr>
            </a:defPPr>
          </a:lstStyle>
          <a:p>
            <a:pPr marL="330200" indent="-254000" algn="l">
              <a:spcAft>
                <a:spcPts val="1200"/>
              </a:spcAft>
              <a:buFont typeface="Helvetica Neue"/>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Blaue Einheiten besetzen Punktefelder</a:t>
            </a:r>
          </a:p>
          <a:p>
            <a:pPr marL="330200" indent="-254000" algn="l">
              <a:spcAft>
                <a:spcPts val="1200"/>
              </a:spcAft>
              <a:buFont typeface="Helvetica Neue"/>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Stehenbleiben kann sinnvoll sein</a:t>
            </a:r>
          </a:p>
        </p:txBody>
      </p:sp>
      <p:sp>
        <p:nvSpPr>
          <p:cNvPr id="11" name="Seed 900011 · Match 1&#10;Vollständige Replay-Ans">
            <a:extLst>
              <a:ext uri="{FF2B5EF4-FFF2-40B4-BE49-F238E27FC236}">
                <ns2:creationId id="{0FC615EC-C06C-4482-9275-6839DD877F5F}"/>
              </a:ext>
            </a:extLst>
          </p:cNvPr>
          <p:cNvSpPr>
            <a:spLocks noGrp="1"/>
          </p:cNvSpPr>
          <p:nvPr/>
        </p:nvSpPr>
        <p:spPr>
          <a:xfrm>
            <a:off x="8724900" y="5619750"/>
            <a:ext cx="2857500" cy="619125"/>
          </a:xfrm>
          <a:prstGeom prst="rect">
            <a:avLst/>
          </a:prstGeom>
          <a:noFill/>
          <a:ln w="0">
            <a:noFill/>
          </a:ln>
        </p:spPr>
        <p:txBody>
          <a:bodyPr/>
          <a:lstStyle>
            <a:defPPr>
              <a:defRPr sz="1500" b="0">
                <a:solidFill>
                  <a:srgbClr val="526B70"/>
                </a:solidFill>
                <a:latin typeface="Helvetica Neue"/>
                <a:ea typeface="Helvetica Neue"/>
                <a:cs typeface="Helvetica Neue"/>
              </a:defRPr>
            </a:defPPr>
          </a:lstStyle>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Seed 900011 · Match 1</a:t>
            </a:r>
          </a:p>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Vollständige Replay-Ansicht</a:t>
            </a:r>
          </a:p>
        </p:txBody>
      </p:sp>
    </p:spTree>
    <p:extLst>
      <p:ext uri="{BB962C8B-B14F-4D97-AF65-F5344CB8AC3E}">
        <ns4:creationId val="1042096664"/>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14" name="SHERLOCK / REVIEW 01">
            <a:extLst>
              <a:ext uri="{FF2B5EF4-FFF2-40B4-BE49-F238E27FC236}">
                <ns2:creationId id="{768977A4-33BF-46BE-8919-C4D4AA12D4DD}"/>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rkenntnisse und die nächsten Schritte">
            <a:extLst>
              <a:ext uri="{FF2B5EF4-FFF2-40B4-BE49-F238E27FC236}">
                <ns2:creationId id="{6ED39887-151D-4BD5-9855-DD8857DFFD8E}"/>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Erkenntnisse und Ausblick</a:t>
            </a:r>
          </a:p>
        </p:txBody>
      </p:sp>
      <p:sp>
        <p:nvSpPr>
          <p:cNvPr id="3" name="Team 15 · Mahmoud El-Hassan &amp; Moayed Shawesh">
            <a:extLst>
              <a:ext uri="{FF2B5EF4-FFF2-40B4-BE49-F238E27FC236}">
                <ns2:creationId id="{66E77D38-EF91-49EA-AB4D-5AA4B83CEB2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0">
            <a:extLst>
              <a:ext uri="{FF2B5EF4-FFF2-40B4-BE49-F238E27FC236}">
                <ns2:creationId id="{8E0273A7-4405-4CE9-B571-1064467E9E9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11</a:t>
            </a:r>
          </a:p>
        </p:txBody>
      </p:sp>
      <p:sp>
        <p:nvSpPr>
          <p:cNvPr id="5" name="01">
            <a:extLst>
              <a:ext uri="{FF2B5EF4-FFF2-40B4-BE49-F238E27FC236}">
                <ns2:creationId id="{AFC480BD-B344-41FA-8CD0-6C2E74A468D7}"/>
              </a:ext>
            </a:extLst>
          </p:cNvPr>
          <p:cNvSpPr>
            <a:spLocks noGrp="1"/>
          </p:cNvSpPr>
          <p:nvPr/>
        </p:nvSpPr>
        <p:spPr>
          <a:xfrm>
            <a:off x="609600" y="194310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Beobachtung">
            <a:extLst>
              <a:ext uri="{FF2B5EF4-FFF2-40B4-BE49-F238E27FC236}">
                <ns2:creationId id="{1820C6B8-74D4-449F-81D3-C1BE271F8C66}"/>
              </a:ext>
            </a:extLst>
          </p:cNvPr>
          <p:cNvSpPr>
            <a:spLocks noGrp="1"/>
          </p:cNvSpPr>
          <p:nvPr/>
        </p:nvSpPr>
        <p:spPr>
          <a:xfrm>
            <a:off x="1524000" y="194310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Beobachtung</a:t>
            </a:r>
          </a:p>
        </p:txBody>
      </p:sp>
      <p:sp>
        <p:nvSpPr>
          <p:cNvPr id="7" name="Weitertraining und Self-Play: bisher kein kla">
            <a:extLst>
              <a:ext uri="{FF2B5EF4-FFF2-40B4-BE49-F238E27FC236}">
                <ns2:creationId id="{BE9A7020-621E-4955-BD51-3E87C5A2D3C0}"/>
              </a:ext>
            </a:extLst>
          </p:cNvPr>
          <p:cNvSpPr>
            <a:spLocks noGrp="1"/>
          </p:cNvSpPr>
          <p:nvPr/>
        </p:nvSpPr>
        <p:spPr>
          <a:xfrm>
            <a:off x="1524000" y="240982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Weitertraining und Self-Play: bisher kein klarer Zusatzgewinn.</a:t>
            </a:r>
          </a:p>
        </p:txBody>
      </p:sp>
      <p:sp>
        <p:nvSpPr>
          <p:cNvPr id="8" name="02">
            <a:extLst>
              <a:ext uri="{FF2B5EF4-FFF2-40B4-BE49-F238E27FC236}">
                <ns2:creationId id="{9CB94756-3BDB-47E5-80A2-C23BD1DB5456}"/>
              </a:ext>
            </a:extLst>
          </p:cNvPr>
          <p:cNvSpPr>
            <a:spLocks noGrp="1"/>
          </p:cNvSpPr>
          <p:nvPr/>
        </p:nvSpPr>
        <p:spPr>
          <a:xfrm>
            <a:off x="609600" y="3286125"/>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Offene Hypothese">
            <a:extLst>
              <a:ext uri="{FF2B5EF4-FFF2-40B4-BE49-F238E27FC236}">
                <ns2:creationId id="{01656370-F555-4D41-A0F2-E4AC260C770C}"/>
              </a:ext>
            </a:extLst>
          </p:cNvPr>
          <p:cNvSpPr>
            <a:spLocks noGrp="1"/>
          </p:cNvSpPr>
          <p:nvPr/>
        </p:nvSpPr>
        <p:spPr>
          <a:xfrm>
            <a:off x="1524000" y="3286125"/>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Offene Hypothese</a:t>
            </a:r>
          </a:p>
        </p:txBody>
      </p:sp>
      <p:sp>
        <p:nvSpPr>
          <p:cNvPr id="10" name="Frühere Erkundung und Inferenz könnten Match ">
            <a:extLst>
              <a:ext uri="{FF2B5EF4-FFF2-40B4-BE49-F238E27FC236}">
                <ns2:creationId id="{BCF394DA-3212-4BBD-957A-66337048739E}"/>
              </a:ext>
            </a:extLst>
          </p:cNvPr>
          <p:cNvSpPr>
            <a:spLocks noGrp="1"/>
          </p:cNvSpPr>
          <p:nvPr/>
        </p:nvSpPr>
        <p:spPr>
          <a:xfrm>
            <a:off x="1524000" y="3752850"/>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Frühere Erkundung und Inferenz könnten Match 1 verbessern.</a:t>
            </a:r>
          </a:p>
        </p:txBody>
      </p:sp>
      <p:sp>
        <p:nvSpPr>
          <p:cNvPr id="11" name="03">
            <a:extLst>
              <a:ext uri="{FF2B5EF4-FFF2-40B4-BE49-F238E27FC236}">
                <ns2:creationId id="{D43F2B56-AF30-4829-ABF0-98A2A1D87295}"/>
              </a:ext>
            </a:extLst>
          </p:cNvPr>
          <p:cNvSpPr>
            <a:spLocks noGrp="1"/>
          </p:cNvSpPr>
          <p:nvPr/>
        </p:nvSpPr>
        <p:spPr>
          <a:xfrm>
            <a:off x="609600" y="46291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Nächster Schritt">
            <a:extLst>
              <a:ext uri="{FF2B5EF4-FFF2-40B4-BE49-F238E27FC236}">
                <ns2:creationId id="{7717E4D7-7EC3-4B42-B964-0E4596618185}"/>
              </a:ext>
            </a:extLst>
          </p:cNvPr>
          <p:cNvSpPr>
            <a:spLocks noGrp="1"/>
          </p:cNvSpPr>
          <p:nvPr/>
        </p:nvSpPr>
        <p:spPr>
          <a:xfrm>
            <a:off x="1524000" y="46291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Nächster Schritt</a:t>
            </a:r>
          </a:p>
        </p:txBody>
      </p:sp>
      <p:sp>
        <p:nvSpPr>
          <p:cNvPr id="13" name="Training absichern; m1_early prüfen; neue Tes">
            <a:extLst>
              <a:ext uri="{FF2B5EF4-FFF2-40B4-BE49-F238E27FC236}">
                <ns2:creationId id="{B53B8A02-3C24-4672-BCBA-C1BBE8CB3779}"/>
              </a:ext>
            </a:extLst>
          </p:cNvPr>
          <p:cNvSpPr>
            <a:spLocks noGrp="1"/>
          </p:cNvSpPr>
          <p:nvPr/>
        </p:nvSpPr>
        <p:spPr>
          <a:xfrm>
            <a:off x="1524000" y="50958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Training absichern; m1_early prüfen; neue Testkarten zurückhalten.</a:t>
            </a:r>
          </a:p>
        </p:txBody>
      </p:sp>
    </p:spTree>
    <p:extLst>
      <p:ext uri="{BB962C8B-B14F-4D97-AF65-F5344CB8AC3E}">
        <ns3:creationId val="93612771"/>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02D35"/>
        </a:solidFill>
      </p:bgPr>
    </p:bg>
    <p:spTree>
      <p:nvGrpSpPr>
        <p:cNvPr id="1" name=""/>
        <p:cNvGrpSpPr/>
        <p:nvPr/>
      </p:nvGrpSpPr>
      <p:grpSpPr>
        <a:xfrm/>
      </p:grpSpPr>
      <p:sp>
        <p:nvSpPr>
          <p:cNvPr id="8" name="SHERLOCK / REVIEW 01">
            <a:extLst>
              <a:ext uri="{FF2B5EF4-FFF2-40B4-BE49-F238E27FC236}">
                <ns2:creationId id="{5A20ABA5-B1EF-4F5C-9C4E-4353F31E02BC}"/>
              </a:ext>
            </a:extLst>
          </p:cNvPr>
          <p:cNvSpPr>
            <a:spLocks noGrp="1"/>
          </p:cNvSpPr>
          <p:nvPr/>
        </p:nvSpPr>
        <p:spPr>
          <a:xfrm>
            <a:off x="609600" y="266700"/>
            <a:ext cx="8572500" cy="304800"/>
          </a:xfrm>
          <a:prstGeom prst="rect">
            <a:avLst/>
          </a:prstGeom>
          <a:noFill/>
          <a:ln w="0">
            <a:noFill/>
          </a:ln>
        </p:spPr>
        <p:txBody>
          <a:bodyPr/>
          <a:lstStyle>
            <a:defPPr>
              <a:defRPr sz="1350" b="1">
                <a:solidFill>
                  <a:srgbClr val="A4C9C4"/>
                </a:solidFill>
                <a:latin typeface="Helvetica Neue"/>
                <a:ea typeface="Helvetica Neue"/>
                <a:cs typeface="Helvetica Neue"/>
              </a:defRPr>
            </a:defPPr>
          </a:lstStyle>
          <a:p>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Sherlock hat eine tragfähige Grundlage">
            <a:extLst>
              <a:ext uri="{FF2B5EF4-FFF2-40B4-BE49-F238E27FC236}">
                <ns2:creationId id="{25B16183-704C-4208-A3B0-0869761142C1}"/>
              </a:ext>
            </a:extLst>
          </p:cNvPr>
          <p:cNvSpPr>
            <a:spLocks noGrp="1"/>
          </p:cNvSpPr>
          <p:nvPr/>
        </p:nvSpPr>
        <p:spPr>
          <a:xfrm>
            <a:off x="609600" y="781050"/>
            <a:ext cx="10972800" cy="102870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buNone/>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Fazit und Fragen</a:t>
            </a:r>
          </a:p>
        </p:txBody>
      </p:sp>
      <p:sp>
        <p:nvSpPr>
          <p:cNvPr id="3" name="Team 15 · Mahmoud El-Hassan &amp; Moayed Shawesh">
            <a:extLst>
              <a:ext uri="{FF2B5EF4-FFF2-40B4-BE49-F238E27FC236}">
                <ns2:creationId id="{1CB83B49-4608-44E1-A957-6DC9D24320CB}"/>
              </a:ext>
            </a:extLst>
          </p:cNvPr>
          <p:cNvSpPr>
            <a:spLocks noGrp="1"/>
          </p:cNvSpPr>
          <p:nvPr/>
        </p:nvSpPr>
        <p:spPr>
          <a:xfrm>
            <a:off x="609600" y="6419850"/>
            <a:ext cx="99060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4" name="11">
            <a:extLst>
              <a:ext uri="{FF2B5EF4-FFF2-40B4-BE49-F238E27FC236}">
                <ns2:creationId id="{8A14202B-BEED-4C86-83A9-C1910B80A040}"/>
              </a:ext>
            </a:extLst>
          </p:cNvPr>
          <p:cNvSpPr>
            <a:spLocks noGrp="1"/>
          </p:cNvSpPr>
          <p:nvPr/>
        </p:nvSpPr>
        <p:spPr>
          <a:xfrm>
            <a:off x="11049000" y="6419850"/>
            <a:ext cx="5334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12</a:t>
            </a:r>
          </a:p>
        </p:txBody>
      </p:sp>
      <p:sp>
        <p:nvSpPr>
          <p:cNvPr id="5" name="Merken. Bewerten. Handeln.">
            <a:extLst>
              <a:ext uri="{FF2B5EF4-FFF2-40B4-BE49-F238E27FC236}">
                <ns2:creationId id="{C3776FEB-F865-48ED-AB96-87BA955C5284}"/>
              </a:ext>
            </a:extLst>
          </p:cNvPr>
          <p:cNvSpPr>
            <a:spLocks noGrp="1"/>
          </p:cNvSpPr>
          <p:nvPr/>
        </p:nvSpPr>
        <p:spPr>
          <a:xfrm>
            <a:off x="609600" y="2457450"/>
            <a:ext cx="10972800" cy="857250"/>
          </a:xfrm>
          <a:prstGeom prst="rect">
            <a:avLst/>
          </a:prstGeom>
          <a:noFill/>
          <a:ln w="0">
            <a:noFill/>
          </a:ln>
        </p:spPr>
        <p:txBody>
          <a:bodyPr>
            <a:noAutofit/>
          </a:bodyPr>
          <a:lstStyle>
            <a:defPPr algn="l">
              <a:defRPr sz="4275" b="1">
                <a:solidFill>
                  <a:srgbClr val="FFFFFF"/>
                </a:solidFill>
                <a:latin typeface="Helvetica Neue"/>
                <a:ea typeface="Helvetica Neue"/>
                <a:cs typeface="Helvetica Neue"/>
              </a:defRPr>
            </a:defPPr>
          </a:lstStyle>
          <a:p>
            <a:pPr marL="0" indent="0" algn="l">
              <a:spcBef>
                <a:spcPts val="0"/>
              </a:spcBef>
              <a:spcAft>
                <a:spcPts val="0"/>
              </a:spcAft>
              <a:buNone/>
              <a:defRPr sz="4275" b="1">
                <a:solidFill>
                  <a:srgbClr val="FFFFFF"/>
                </a:solidFill>
                <a:latin typeface="Helvetica Neue"/>
                <a:ea typeface="Helvetica Neue"/>
                <a:cs typeface="Helvetica Neue"/>
              </a:defRPr>
            </a:pPr>
            <a:r>
              <a:rPr sz="4275" b="1">
                <a:solidFill>
                  <a:srgbClr val="FFFFFF"/>
                </a:solidFill>
                <a:latin typeface="Helvetica Neue"/>
                <a:ea typeface="Helvetica Neue"/>
                <a:cs typeface="Helvetica Neue"/>
              </a:rPr>
              <a:t>Gedächtnis + sechs Netze</a:t>
            </a:r>
          </a:p>
        </p:txBody>
      </p:sp>
      <p:sp>
        <p:nvSpPr>
          <p:cNvPr id="6" name="Trainierter Agent · nachvollziehbare Auswertu">
            <a:extLst>
              <a:ext uri="{FF2B5EF4-FFF2-40B4-BE49-F238E27FC236}">
                <ns2:creationId id="{9EDDDC56-3694-49A0-983E-29F72EDAC7BE}"/>
              </a:ext>
            </a:extLst>
          </p:cNvPr>
          <p:cNvSpPr>
            <a:spLocks noGrp="1"/>
          </p:cNvSpPr>
          <p:nvPr/>
        </p:nvSpPr>
        <p:spPr>
          <a:xfrm>
            <a:off x="609600" y="3524250"/>
            <a:ext cx="10972800" cy="1428750"/>
          </a:xfrm>
          <a:prstGeom prst="rect">
            <a:avLst/>
          </a:prstGeom>
          <a:noFill/>
          <a:ln w="0">
            <a:noFill/>
          </a:ln>
        </p:spPr>
        <p:txBody>
          <a:bodyPr>
            <a:noAutofit/>
          </a:bodyPr>
          <a:lstStyle>
            <a:defPPr algn="l">
              <a:defRPr sz="2250" b="0">
                <a:solidFill>
                  <a:srgbClr val="B7D8D0"/>
                </a:solidFill>
                <a:latin typeface="Helvetica Neue"/>
                <a:ea typeface="Helvetica Neue"/>
                <a:cs typeface="Helvetica Neue"/>
              </a:defRPr>
            </a:defPPr>
          </a:lstStyle>
          <a:p>
            <a:pPr marL="330200" indent="-254000" algn="l">
              <a:spcAft>
                <a:spcPts val="1600"/>
              </a:spcAft>
              <a:buFont typeface="Helvetica Neue"/>
              <a:buChar char="–"/>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Im Benchmark: 60/60 Siege gegen default, 28/60 gegen Solution_92.</a:t>
            </a:r>
          </a:p>
          <a:p>
            <a:pPr marL="330200" indent="-254000" algn="l">
              <a:spcAft>
                <a:spcPts val="1600"/>
              </a:spcAft>
              <a:buFont typeface="Helvetica Neue"/>
              <a:buChar char="–"/>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Nächster Schritt: Frühe Erkundung verbessern und neue Testkarten nutzen.</a:t>
            </a:r>
          </a:p>
        </p:txBody>
      </p:sp>
      <p:sp>
        <p:nvSpPr>
          <p:cNvPr id="7" name="Fragen?">
            <a:extLst>
              <a:ext uri="{FF2B5EF4-FFF2-40B4-BE49-F238E27FC236}">
                <ns2:creationId id="{CD0D7F6A-E443-45D1-AF4A-DFD393C829C7}"/>
              </a:ext>
            </a:extLst>
          </p:cNvPr>
          <p:cNvSpPr>
            <a:spLocks noGrp="1"/>
          </p:cNvSpPr>
          <p:nvPr/>
        </p:nvSpPr>
        <p:spPr>
          <a:xfrm>
            <a:off x="609600" y="5191125"/>
            <a:ext cx="10972800" cy="66675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Fragen?</a:t>
            </a:r>
          </a:p>
        </p:txBody>
      </p:sp>
    </p:spTree>
    <p:extLst>
      <p:ext uri="{BB962C8B-B14F-4D97-AF65-F5344CB8AC3E}">
        <ns3:creationId val="108237947"/>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6" name="ANHANG · NUR FÜR RÜCKFRAGEN">
            <a:extLst>
              <a:ext uri="{FF2B5EF4-FFF2-40B4-BE49-F238E27FC236}">
                <ns2:creationId id="{F177653E-E536-403B-B9B3-C246EA5FE864}"/>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Trainingsparameter zum Nachschlagen">
            <a:extLst>
              <a:ext uri="{FF2B5EF4-FFF2-40B4-BE49-F238E27FC236}">
                <ns2:creationId id="{7E4A7D21-E808-4EC1-B186-666944E737D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Trainingsparameter</a:t>
            </a:r>
          </a:p>
        </p:txBody>
      </p:sp>
      <p:sp>
        <p:nvSpPr>
          <p:cNvPr id="3" name="Team 15 · Mahmoud El-Hassan &amp; Moayed Shawesh">
            <a:extLst>
              <a:ext uri="{FF2B5EF4-FFF2-40B4-BE49-F238E27FC236}">
                <ns2:creationId id="{09E1306A-8FE0-488E-B1B6-8FED6F7ADC4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2">
            <a:extLst>
              <a:ext uri="{FF2B5EF4-FFF2-40B4-BE49-F238E27FC236}">
                <ns2:creationId id="{E53BAB6E-C455-4BF4-BBEB-5EB155758CB2}"/>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13</a:t>
            </a:r>
          </a:p>
        </p:txBody>
      </p:sp>
      <p:graphicFrame>
        <p:nvGraphicFramePr>
          <p:cNvPr id="5" name="">
            <a:extLst>
              <a:ext uri="{FF2B5EF4-FFF2-40B4-BE49-F238E27FC236}">
                <ns2:creationId id="{FB9AE093-4AA4-49FB-AE7F-7ACD76F4FB98}"/>
              </a:ext>
            </a:extLst>
          </p:cNvPr>
          <p:cNvGraphicFramePr/>
          <p:nvPr/>
        </p:nvGraphicFramePr>
        <p:xfrm>
          <a:off x="609600" y="1943100"/>
          <a:ext cx="10972800" cy="3943350"/>
        </p:xfrm>
        <a:graphic>
          <a:graphicData uri="http://schemas.openxmlformats.org/drawingml/2006/table">
            <a:tbl>
              <a:tblPr/>
              <a:tblGrid>
                <a:gridCol w="4191000"/>
                <a:gridCol w="6781800"/>
              </a:tblGrid>
              <a:tr h="657225">
                <a:tc>
                  <a:txBody>
                    <a:bodyPr/>
                    <a:lstStyle/>
                    <a:p>
                      <a:r>
                        <a:rPr sz="195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95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57225">
                <a:tc>
                  <a:txBody>
                    <a:bodyPr/>
                    <a:lstStyle/>
                    <a:p>
                      <a:r>
                        <a:rPr sz="1950" b="0">
                          <a:solidFill>
                            <a:srgbClr val="102D35"/>
                          </a:solidFill>
                          <a:latin typeface="Helvetica Neue"/>
                          <a:ea typeface="Helvetica Neue"/>
                          <a:cs typeface="Helvetica Neue"/>
                        </a:rPr>
                        <a:t>γ / Lernrate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0,99 / 0,0003</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Batch / Buffer-Kapazität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256 / 300.000 Einheitenübergänge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Lernbeginn / Trainingsintervall</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5.000 Übergänge / alle 2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Exploration im 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ε: 1,0 → 0,05 über 60.000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ns3:creationId val="990433649"/>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7" name="ANHANG · NUR FÜR RÜCKFRAGEN">
            <a:extLst>
              <a:ext uri="{FF2B5EF4-FFF2-40B4-BE49-F238E27FC236}">
                <ns2:creationId id="{E59EC4EC-419C-4120-9CCD-4BFE6A1022E3}"/>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Was wird gelernt – und was ist vorgegeben?">
            <a:extLst>
              <a:ext uri="{FF2B5EF4-FFF2-40B4-BE49-F238E27FC236}">
                <ns2:creationId id="{ECD25D0A-D38B-4DFB-AB7A-BCF7584715E7}"/>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Gelernt und programmiert</a:t>
            </a:r>
          </a:p>
        </p:txBody>
      </p:sp>
      <p:sp>
        <p:nvSpPr>
          <p:cNvPr id="3" name="Team 15 · Mahmoud El-Hassan &amp; Moayed Shawesh">
            <a:extLst>
              <a:ext uri="{FF2B5EF4-FFF2-40B4-BE49-F238E27FC236}">
                <ns2:creationId id="{BFC3E7A7-2DFF-4AC6-8D0B-764621CF79AE}"/>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3">
            <a:extLst>
              <a:ext uri="{FF2B5EF4-FFF2-40B4-BE49-F238E27FC236}">
                <ns2:creationId id="{FAA950BE-A905-442D-9E9B-FAF916D99A9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14</a:t>
            </a:r>
          </a:p>
        </p:txBody>
      </p:sp>
      <p:graphicFrame>
        <p:nvGraphicFramePr>
          <p:cNvPr id="5" name="">
            <a:extLst>
              <a:ext uri="{FF2B5EF4-FFF2-40B4-BE49-F238E27FC236}">
                <ns2:creationId id="{FBACD6E0-199C-4746-9FAC-E1E9396F5178}"/>
              </a:ext>
            </a:extLst>
          </p:cNvPr>
          <p:cNvGraphicFramePr/>
          <p:nvPr/>
        </p:nvGraphicFramePr>
        <p:xfrm>
          <a:off x="609600" y="2009775"/>
          <a:ext cx="10972800" cy="3219450"/>
        </p:xfrm>
        <a:graphic>
          <a:graphicData uri="http://schemas.openxmlformats.org/drawingml/2006/table">
            <a:tbl>
              <a:tblPr/>
              <a:tblGrid>
                <a:gridCol w="5048250"/>
                <a:gridCol w="5924550"/>
              </a:tblGrid>
              <a:tr h="643890">
                <a:tc>
                  <a:txBody>
                    <a:bodyPr/>
                    <a:lstStyle/>
                    <a:p>
                      <a:r>
                        <a:rPr sz="2100" b="1">
                          <a:solidFill>
                            <a:srgbClr val="FFFFFF"/>
                          </a:solidFill>
                          <a:latin typeface="Helvetica Neue"/>
                          <a:ea typeface="Helvetica Neue"/>
                          <a:cs typeface="Helvetica Neue"/>
                        </a:rPr>
                        <a:t>Gelernt</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Programmiert / festgelegt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3890">
                <a:tc>
                  <a:txBody>
                    <a:bodyPr/>
                    <a:lstStyle/>
                    <a:p>
                      <a:r>
                        <a:rPr sz="2100" b="0">
                          <a:solidFill>
                            <a:srgbClr val="102D35"/>
                          </a:solidFill>
                          <a:latin typeface="Helvetica Neue"/>
                          <a:ea typeface="Helvetica Neue"/>
                          <a:cs typeface="Helvetica Neue"/>
                        </a:rPr>
                        <a:t>Q-Werte und Aktionspräferenzen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Belief, Merkmale und Reward Shaping</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Gewichte der sechs Netze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Zielzuweisung und erlaubte Aktionen</a:t>
                      </a:r>
                    </a:p>
                  </a:txBody>
                  <a:tcPr marL="91440" marR="91440" marT="45720" marB="45720">
                    <a:lnR w="9525">
                      <a:solidFill>
                        <a:srgbClr val="CFDBD7"/>
                      </a:solidFill>
                      <a:prstDash val="solid"/>
                    </a:lnR>
                    <a:lnB w="9525">
                      <a:solidFill>
                        <a:srgbClr val="CFDBD7"/>
                      </a:solidFill>
                      <a:prstDash val="solid"/>
                    </a:lnB>
                    <a:solidFill>
                      <a:srgbClr val="EDF2ED"/>
                    </a:solidFill>
                  </a:tcPr>
                </a:tc>
              </a:tr>
              <a:tr h="643890">
                <a:tc>
                  <a:txBody>
                    <a:bodyPr/>
                    <a:lstStyle/>
                    <a:p>
                      <a:r>
                        <a:rPr sz="2100" b="0">
                          <a:solidFill>
                            <a:srgbClr val="102D35"/>
                          </a:solidFill>
                          <a:latin typeface="Helvetica Neue"/>
                          <a:ea typeface="Helvetica Neue"/>
                          <a:cs typeface="Helvetica Neue"/>
                        </a:rPr>
                        <a:t>Bewertung der Aktion Sap</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Konkretes Sap-Ziel</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Entscheidung aus Netzbewertungen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Mittelwertbildung im Ensemble</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Double DQN = Lernverfahren · Dueling = Archit">
            <a:extLst>
              <a:ext uri="{FF2B5EF4-FFF2-40B4-BE49-F238E27FC236}">
                <ns2:creationId id="{0B522DC7-02EC-4CC4-81AC-35CCCA5A35FC}"/>
              </a:ext>
            </a:extLst>
          </p:cNvPr>
          <p:cNvSpPr>
            <a:spLocks noGrp="1"/>
          </p:cNvSpPr>
          <p:nvPr/>
        </p:nvSpPr>
        <p:spPr>
          <a:xfrm>
            <a:off x="609600" y="5591175"/>
            <a:ext cx="10972800" cy="619125"/>
          </a:xfrm>
          <a:prstGeom prst="rect">
            <a:avLst/>
          </a:prstGeom>
          <a:noFill/>
          <a:ln w="0">
            <a:noFill/>
          </a:ln>
        </p:spPr>
        <p:txBody>
          <a:bodyPr/>
          <a:lstStyle>
            <a:defPPr>
              <a:defRPr sz="1875" b="1">
                <a:solidFill>
                  <a:srgbClr val="007D7B"/>
                </a:solidFill>
                <a:latin typeface="Helvetica Neue"/>
                <a:ea typeface="Helvetica Neue"/>
                <a:cs typeface="Helvetica Neue"/>
              </a:defRPr>
            </a:defPPr>
          </a:lstStyle>
          <a:p>
            <a:pPr>
              <a:defRPr sz="1875" b="1">
                <a:solidFill>
                  <a:srgbClr val="007D7B"/>
                </a:solidFill>
                <a:latin typeface="Helvetica Neue"/>
                <a:ea typeface="Helvetica Neue"/>
                <a:cs typeface="Helvetica Neue"/>
              </a:defRPr>
            </a:pPr>
            <a:r>
              <a:rPr sz="1875" b="1">
                <a:solidFill>
                  <a:srgbClr val="007D7B"/>
                </a:solidFill>
                <a:latin typeface="Helvetica Neue"/>
                <a:ea typeface="Helvetica Neue"/>
                <a:cs typeface="Helvetica Neue"/>
              </a:rPr>
              <a:t>Double DQN = Lernverfahren · Dueling = Architektur · Ensemble = Kombination</a:t>
            </a:r>
          </a:p>
        </p:txBody>
      </p:sp>
    </p:spTree>
    <p:extLst>
      <p:ext uri="{BB962C8B-B14F-4D97-AF65-F5344CB8AC3E}">
        <ns3:creationId val="19125782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ns0:Properties xmlns:ns0="http://schemas.openxmlformats.org/officeDocument/2006/extended-properties">
  <ns0:Application>Walnut Exporter</ns0:Application>
  <ns0:PresentationFormat>Converted Presentation</ns0:PresentationFormat>
  <ns0:Slides>14</ns0:Slides>
  <ns0:Notes>0</ns0:Notes>
  <ns0:HiddenSlides>0</ns0:HiddenSlides>
  <ns0:SharedDoc>false</ns0:SharedDoc>
  <ns0:DocSecurity>0</ns0:DocSecurity>
</ns0: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2026-10-14T13:28:30.3020000Z</dcterms:created>
  <dcterms:modified xsi:type="dcterms:W3CDTF">2026-10-14T13:28:30.3020000Z</dcterms:modified>
</coreProperties>
</file>