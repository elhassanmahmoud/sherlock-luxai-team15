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55 Sekunden</a:t>
            </a:r>
          </a:p>
          <a:p xmlns:a="http://schemas.openxmlformats.org/drawingml/2006/main">
            <a:r>
              <a:t/>
            </a:r>
          </a:p>
          <a:p xmlns:a="http://schemas.openxmlformats.org/drawingml/2006/main">
            <a:r>
              <a:t>Die Grundidee lässt sich in drei Schritten erklären. Zuerst merkt Sherlock sich, was er schon gesehen hat. Dieses Gedächtnis nennen wir Belief. Danach erhält jede Einheit eine kompakte Beschreibung ihrer Situation. Sechs trainierte Netze bewerten die möglichen Aktionen. Schließlich wählen wir aus den erlaubten Aktionen die mit dem höchsten gemittelten Wert aus. Das Gedächtnis lernt nicht durch ein neuronales Netz: Es folgt programmierten Regeln und nutzt Beobachtungen. Die Bewertung der Aktionen wird dagegen im Training gelernt. Während der Auswertung wird nicht weitergelernt. Mahmoud erklärt jetzt, welche Informationen in die Netze eingehen und wie das Training funktioniert.</a:t>
            </a:r>
          </a:p>
          <a:p xmlns:a="http://schemas.openxmlformats.org/drawingml/2006/main">
            <a:r>
              <a:t/>
            </a:r>
          </a:p>
          <a:p xmlns:a="http://schemas.openxmlformats.org/drawingml/2006/main">
            <a:r>
              <a:t>Quellen / Nachweise (Repository, Stand 14.10.2026):</a:t>
            </a:r>
          </a:p>
          <a:p xmlns:a="http://schemas.openxmlformats.org/drawingml/2006/main">
            <a:r>
              <a:t>agents/sherlock/main.py</a:t>
            </a:r>
          </a:p>
          <a:p xmlns:a="http://schemas.openxmlformats.org/drawingml/2006/main">
            <a:r>
              <a:t>agents/sherlock/belief.py</a:t>
            </a:r>
          </a:p>
          <a:p xmlns:a="http://schemas.openxmlformats.org/drawingml/2006/main">
            <a:r>
              <a:t>agents/sherlock/model.py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Die sechs Basisläufe des aktuellen Ensembles hatten jeweils ein Budget von 3.000 Spielen. Das sind zusammen 18.000 Trainingsspiele über diese Läufe. Die ausgewählten Checkpoints können früher im Lauf liegen. Andere Varianten und Validierungsspiele sind hier nicht mitgezählt. In den ersten 25 Prozent wird gegen default trainiert, anschließend abwechselnd gegen default und Solution_92. Die Spielseite wechselt. Wir prüfen regelmäßig auf getrennten Validierungskarten und wählen dort Checkpoints aus. Wichtige Einstellungen sind Gamma 0,99, Lernrate 0,0003, Batchgröße 256 und ein Buffer mit 300.000 Übergängen. Epsilon fällt in 60.000 Umgebungsschritten von 1 auf 0,05. Für die Ergebnisfolie gilt dagegen Epsilon null: Die Gewichte sind fest, es wird nicht gelernt.</a:t>
            </a:r>
          </a:p>
          <a:p xmlns:a="http://schemas.openxmlformats.org/drawingml/2006/main">
            <a:r>
              <a:t/>
            </a:r>
          </a:p>
          <a:p xmlns:a="http://schemas.openxmlformats.org/drawingml/2006/main">
            <a:r>
              <a:t>Quellen / Nachweise (Repository, Stand 14.10.2026):</a:t>
            </a:r>
          </a:p>
          <a:p xmlns:a="http://schemas.openxmlformats.org/drawingml/2006/main">
            <a:r>
              <a:t>experiments/runs/20261010_full_s{0,1,2}/manifest.json</a:t>
            </a:r>
          </a:p>
          <a:p xmlns:a="http://schemas.openxmlformats.org/drawingml/2006/main">
            <a:r>
              <a:t>experiments/runs/20261011_full_sym_s{0,1,2}/manifest.json</a:t>
            </a:r>
          </a:p>
          <a:p xmlns:a="http://schemas.openxmlformats.org/drawingml/2006/main">
            <a:r>
              <a:t>scripts/protocol.py</a:t>
            </a:r>
          </a:p>
          <a:p xmlns:a="http://schemas.openxmlformats.org/drawingml/2006/main">
            <a:r>
              <a:t>agents/sherlock/weights/agent_p0.pth ·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25 Sekunden</a:t>
            </a:r>
          </a:p>
          <a:p>
            <a:r>
              <a:t/>
            </a:r>
          </a:p>
          <a:p>
            <a:r>
              <a:t>Sherlock verbindet ein Gedächtnis für die Karte mit sechs trainierten Netzen. Auf unserem Benchmark gewinnen wir alle 60 Spiele gegen default und 28 von 60 gegen Solution_92. Gegen den stärkeren Gegner bleibt also Verbesserungspotenzial. Als Nächstes wollen wir die frühe Erkundung verbessern und auf neuen Karten prüfen. Vielen Dank – welche Fragen habt ihr?</a:t>
            </a:r>
          </a:p>
          <a:p>
            <a:r>
              <a:t/>
            </a:r>
          </a:p>
          <a:p>
            <a:r>
              <a:t>Quellen / Nachweise (Repository, Stand 14.10.2026):</a:t>
            </a:r>
          </a:p>
          <a:p>
            <a:r>
              <a:t>README.md</a:t>
            </a:r>
          </a:p>
          <a:p>
            <a:r>
              <a:t>docs/EXPERIMENT_PROTOKOLL.md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228600" indent="-152400" algn="l">
              <a:spcAft>
                <a:spcPts val="800"/>
              </a:spcAft>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228600" indent="-152400" algn="l">
              <a:spcAft>
                <a:spcPts val="800"/>
              </a:spcAft>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228600" indent="-152400" algn="l">
              <a:spcAft>
                <a:spcPts val="800"/>
              </a:spcAft>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228600" indent="-152400" algn="l">
              <a:spcAft>
                <a:spcPts val="800"/>
              </a:spcAft>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228600" indent="-152400" algn="l">
              <a:spcAft>
                <a:spcPts val="800"/>
              </a:spcAft>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228600" indent="-152400" algn="l">
              <a:spcAft>
                <a:spcPts val="0"/>
              </a:spcAft>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5" name="01">
            <a:extLst>
              <a:ext uri="{FF2B5EF4-FFF2-40B4-BE49-F238E27FC236}">
                <ns2:creationId id="{ED7862FB-44B4-470F-B98E-E69C219DB3FA}"/>
              </a:ext>
            </a:extLst>
          </p:cNvPr>
          <p:cNvSpPr>
            <a:spLocks noGrp="1"/>
          </p:cNvSpPr>
          <p:nvPr/>
        </p:nvSpPr>
        <p:spPr>
          <a:xfrm>
            <a:off x="609600" y="20002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Merken">
            <a:extLst>
              <a:ext uri="{FF2B5EF4-FFF2-40B4-BE49-F238E27FC236}">
                <ns2:creationId id="{2F64C5E2-D580-4106-A6D9-1A59256FFC05}"/>
              </a:ext>
            </a:extLst>
          </p:cNvPr>
          <p:cNvSpPr>
            <a:spLocks noGrp="1"/>
          </p:cNvSpPr>
          <p:nvPr/>
        </p:nvSpPr>
        <p:spPr>
          <a:xfrm>
            <a:off x="1524000" y="20002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Merken</a:t>
            </a:r>
          </a:p>
        </p:txBody>
      </p:sp>
      <p:sp>
        <p:nvSpPr>
          <p:cNvPr id="7" name="Beobachtungen sammeln und Punktefelder erschl">
            <a:extLst>
              <a:ext uri="{FF2B5EF4-FFF2-40B4-BE49-F238E27FC236}">
                <ns2:creationId id="{E1CA507A-5374-4805-820C-574C75A805AC}"/>
              </a:ext>
            </a:extLst>
          </p:cNvPr>
          <p:cNvSpPr>
            <a:spLocks noGrp="1"/>
          </p:cNvSpPr>
          <p:nvPr/>
        </p:nvSpPr>
        <p:spPr>
          <a:xfrm>
            <a:off x="1524000" y="24669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Beobachtungen sammeln und Punktefelder erschließen.</a:t>
            </a:r>
          </a:p>
        </p:txBody>
      </p:sp>
      <p:sp>
        <p:nvSpPr>
          <p:cNvPr id="8" name="02">
            <a:extLst>
              <a:ext uri="{FF2B5EF4-FFF2-40B4-BE49-F238E27FC236}">
                <ns2:creationId id="{40D0CE8F-6C2B-46ED-AF8F-D2EC8A148249}"/>
              </a:ext>
            </a:extLst>
          </p:cNvPr>
          <p:cNvSpPr>
            <a:spLocks noGrp="1"/>
          </p:cNvSpPr>
          <p:nvPr/>
        </p:nvSpPr>
        <p:spPr>
          <a:xfrm>
            <a:off x="609600" y="33337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Bewerten">
            <a:extLst>
              <a:ext uri="{FF2B5EF4-FFF2-40B4-BE49-F238E27FC236}">
                <ns2:creationId id="{D065DFD0-DA3A-47B0-8E64-1F6A94A14B98}"/>
              </a:ext>
            </a:extLst>
          </p:cNvPr>
          <p:cNvSpPr>
            <a:spLocks noGrp="1"/>
          </p:cNvSpPr>
          <p:nvPr/>
        </p:nvSpPr>
        <p:spPr>
          <a:xfrm>
            <a:off x="1524000" y="33337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Bewerten</a:t>
            </a:r>
          </a:p>
        </p:txBody>
      </p:sp>
      <p:sp>
        <p:nvSpPr>
          <p:cNvPr id="10" name="Sechs trainierte Netze schätzen den Nutzen de">
            <a:extLst>
              <a:ext uri="{FF2B5EF4-FFF2-40B4-BE49-F238E27FC236}">
                <ns2:creationId id="{788A43DC-A97D-47B4-82E7-1C018E5B7B83}"/>
              </a:ext>
            </a:extLst>
          </p:cNvPr>
          <p:cNvSpPr>
            <a:spLocks noGrp="1"/>
          </p:cNvSpPr>
          <p:nvPr/>
        </p:nvSpPr>
        <p:spPr>
          <a:xfrm>
            <a:off x="1524000" y="38004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Sechs trainierte Netze schätzen den Nutzen der Aktionen.</a:t>
            </a:r>
          </a:p>
        </p:txBody>
      </p:sp>
      <p:sp>
        <p:nvSpPr>
          <p:cNvPr id="11" name="03">
            <a:extLst>
              <a:ext uri="{FF2B5EF4-FFF2-40B4-BE49-F238E27FC236}">
                <ns2:creationId id="{8710FC37-FDCB-44DD-A652-80F6D6866F8B}"/>
              </a:ext>
            </a:extLst>
          </p:cNvPr>
          <p:cNvSpPr>
            <a:spLocks noGrp="1"/>
          </p:cNvSpPr>
          <p:nvPr/>
        </p:nvSpPr>
        <p:spPr>
          <a:xfrm>
            <a:off x="609600" y="46672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Handeln">
            <a:extLst>
              <a:ext uri="{FF2B5EF4-FFF2-40B4-BE49-F238E27FC236}">
                <ns2:creationId id="{9735AB79-6EE4-4E1A-BCA5-2D98EB711E5E}"/>
              </a:ext>
            </a:extLst>
          </p:cNvPr>
          <p:cNvSpPr>
            <a:spLocks noGrp="1"/>
          </p:cNvSpPr>
          <p:nvPr/>
        </p:nvSpPr>
        <p:spPr>
          <a:xfrm>
            <a:off x="1524000" y="46672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Handeln</a:t>
            </a:r>
          </a:p>
        </p:txBody>
      </p:sp>
      <p:sp>
        <p:nvSpPr>
          <p:cNvPr id="13" name="Q-Werte mitteln; die beste erlaubte Aktion au">
            <a:extLst>
              <a:ext uri="{FF2B5EF4-FFF2-40B4-BE49-F238E27FC236}">
                <ns2:creationId id="{F22B44A2-A65A-4B4D-BC32-93BBE55B3289}"/>
              </a:ext>
            </a:extLst>
          </p:cNvPr>
          <p:cNvSpPr>
            <a:spLocks noGrp="1"/>
          </p:cNvSpPr>
          <p:nvPr/>
        </p:nvSpPr>
        <p:spPr>
          <a:xfrm>
            <a:off x="1524000" y="51339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Q-Werte mitteln; die beste erlaubte Aktion auswählen.</a:t>
            </a:r>
          </a:p>
        </p:txBody>
      </p:sp>
    </p:spTree>
    <p:extLst>
      <p:ext uri="{BB962C8B-B14F-4D97-AF65-F5344CB8AC3E}">
        <ns3:creationId val="191523549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Vereinfachter Trainingsschritt">
            <a:extLst>
              <a:ext uri="{FF2B5EF4-FFF2-40B4-BE49-F238E27FC236}">
                <ns2:creationId id="{B829BE7C-C0A7-4CFF-A291-1084E281D8CE}"/>
              </a:ext>
            </a:extLst>
          </p:cNvPr>
          <p:cNvSpPr>
            <a:spLocks noGrp="1"/>
          </p:cNvSpPr>
          <p:nvPr/>
        </p:nvSpPr>
        <p:spPr>
          <a:xfrm>
            <a:off x="609600" y="1885950"/>
            <a:ext cx="10972800" cy="476250"/>
          </a:xfrm>
          <a:prstGeom prst="rect">
            <a:avLst/>
          </a:prstGeom>
          <a:noFill/>
          <a:ln w="0">
            <a:noFill/>
          </a:ln>
        </p:spPr>
        <p:txBody>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Vereinfachter Trainingsschritt</a:t>
            </a:r>
          </a:p>
        </p:txBody>
      </p:sp>
      <p:sp>
        <p:nvSpPr>
          <p:cNvPr id="6" name="1   Ziehe Übergänge (s, a, r, s′, Ende) aus d">
            <a:extLst>
              <a:ext uri="{FF2B5EF4-FFF2-40B4-BE49-F238E27FC236}">
                <ns2:creationId id="{CDCF703F-9844-4F00-B13C-2643C05DCE0B}"/>
              </a:ext>
            </a:extLst>
          </p:cNvPr>
          <p:cNvSpPr>
            <a:spLocks noGrp="1"/>
          </p:cNvSpPr>
          <p:nvPr/>
        </p:nvSpPr>
        <p:spPr>
          <a:xfrm>
            <a:off x="609600" y="2543175"/>
            <a:ext cx="10972800" cy="2590800"/>
          </a:xfrm>
          <a:prstGeom prst="rect">
            <a:avLst/>
          </a:prstGeom>
          <a:noFill/>
          <a:ln w="0">
            <a:noFill/>
          </a:ln>
        </p:spPr>
        <p:txBody>
          <a:bodyPr/>
          <a:lstStyle>
            <a:defPPr>
              <a:defRPr sz="2175" b="0">
                <a:solidFill>
                  <a:srgbClr val="102D35"/>
                </a:solidFill>
                <a:latin typeface="Helvetica Neue"/>
                <a:ea typeface="Helvetica Neue"/>
                <a:cs typeface="Helvetica Neue"/>
              </a:defRPr>
            </a:defPPr>
          </a:lstStyle>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1   Ziehe Übergänge (s, a, r, s′, Ende) aus dem Buffer.</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2   a* = beste erlaubte Folgeaktion laut Online-Netz</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3   Ziel = r + γ · Q_Target(s′, a*)  [ohne Folgewert bei Ende]</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4   Passe Q_Online(s, a) an das Ziel an.</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5   Kopiere das Online-Netz periodisch ins Target-Netz.</a:t>
            </a:r>
          </a:p>
        </p:txBody>
      </p:sp>
      <p:sp>
        <p:nvSpPr>
          <p:cNvPr id="7" name="Belohnung: Punkte + Matchsieg + zusätzliche S">
            <a:extLst>
              <a:ext uri="{FF2B5EF4-FFF2-40B4-BE49-F238E27FC236}">
                <ns2:creationId id="{FE5B8263-3A52-4F38-9DE1-4A65083C9701}"/>
              </a:ext>
            </a:extLst>
          </p:cNvPr>
          <p:cNvSpPr>
            <a:spLocks noGrp="1"/>
          </p:cNvSpPr>
          <p:nvPr/>
        </p:nvSpPr>
        <p:spPr>
          <a:xfrm>
            <a:off x="609600" y="5495925"/>
            <a:ext cx="10972800" cy="619125"/>
          </a:xfrm>
          <a:prstGeom prst="rect">
            <a:avLst/>
          </a:prstGeom>
          <a:noFill/>
          <a:ln w="0">
            <a:noFill/>
          </a:ln>
        </p:spPr>
        <p:txBody>
          <a:bodyPr/>
          <a:lstStyle>
            <a:defPPr>
              <a:defRPr sz="2100" b="1">
                <a:solidFill>
                  <a:srgbClr val="007D7B"/>
                </a:solidFill>
                <a:latin typeface="Helvetica Neue"/>
                <a:ea typeface="Helvetica Neue"/>
                <a:cs typeface="Helvetica Neue"/>
              </a:defRPr>
            </a:defPPr>
          </a:lstStyle>
          <a:p>
            <a:pPr>
              <a:defRPr sz="2100" b="1">
                <a:solidFill>
                  <a:srgbClr val="007D7B"/>
                </a:solidFill>
                <a:latin typeface="Helvetica Neue"/>
                <a:ea typeface="Helvetica Neue"/>
                <a:cs typeface="Helvetica Neue"/>
              </a:defRPr>
            </a:pPr>
            <a:r>
              <a:rPr sz="2100" b="1">
                <a:solidFill>
                  <a:srgbClr val="007D7B"/>
                </a:solidFill>
                <a:latin typeface="Helvetica Neue"/>
                <a:ea typeface="Helvetica Neue"/>
                <a:cs typeface="Helvetica Neue"/>
              </a:rPr>
              <a:t>Belohnung: Punkte + Matchsieg + zusätzliche Shaping-Signale</a:t>
            </a:r>
          </a:p>
        </p:txBody>
      </p:sp>
    </p:spTree>
    <p:extLst>
      <p:ext uri="{BB962C8B-B14F-4D97-AF65-F5344CB8AC3E}">
        <ns3:creationId val="2012567408"/>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5" name="6 × 3.000 = 18.000">
            <a:extLst>
              <a:ext uri="{FF2B5EF4-FFF2-40B4-BE49-F238E27FC236}">
                <ns2:creationId id="{88F18B35-47A4-46DF-AC96-36E0F5FA6277}"/>
              </a:ext>
            </a:extLst>
          </p:cNvPr>
          <p:cNvSpPr>
            <a:spLocks noGrp="1"/>
          </p:cNvSpPr>
          <p:nvPr/>
        </p:nvSpPr>
        <p:spPr>
          <a:xfrm>
            <a:off x="609600" y="1952625"/>
            <a:ext cx="10972800" cy="838200"/>
          </a:xfrm>
          <a:prstGeom prst="rect">
            <a:avLst/>
          </a:prstGeom>
          <a:noFill/>
          <a:ln w="0">
            <a:noFill/>
          </a:ln>
        </p:spPr>
        <p:txBody>
          <a:bodyPr/>
          <a:lstStyle>
            <a:defPPr>
              <a:defRPr sz="4500" b="1">
                <a:solidFill>
                  <a:srgbClr val="007D7B"/>
                </a:solidFill>
                <a:latin typeface="Helvetica Neue"/>
                <a:ea typeface="Helvetica Neue"/>
                <a:cs typeface="Helvetica Neue"/>
              </a:defRPr>
            </a:defPPr>
          </a:lstStyle>
          <a:p>
            <a:pPr>
              <a:defRPr sz="4500" b="1">
                <a:solidFill>
                  <a:srgbClr val="007D7B"/>
                </a:solidFill>
                <a:latin typeface="Helvetica Neue"/>
                <a:ea typeface="Helvetica Neue"/>
                <a:cs typeface="Helvetica Neue"/>
              </a:defRPr>
            </a:pPr>
            <a:r>
              <a:rPr sz="4500" b="1">
                <a:solidFill>
                  <a:srgbClr val="007D7B"/>
                </a:solidFill>
                <a:latin typeface="Helvetica Neue"/>
                <a:ea typeface="Helvetica Neue"/>
                <a:cs typeface="Helvetica Neue"/>
              </a:rPr>
              <a:t>6 × 3.000 = 18.000</a:t>
            </a:r>
          </a:p>
        </p:txBody>
      </p:sp>
      <p:sp>
        <p:nvSpPr>
          <p:cNvPr id="6" name="Trainingsspiele der sechs Basisläufe des aktu">
            <a:extLst>
              <a:ext uri="{FF2B5EF4-FFF2-40B4-BE49-F238E27FC236}">
                <ns2:creationId id="{61F13189-35EF-45D8-9B6A-42E9F3DDB008}"/>
              </a:ext>
            </a:extLst>
          </p:cNvPr>
          <p:cNvSpPr>
            <a:spLocks noGrp="1"/>
          </p:cNvSpPr>
          <p:nvPr/>
        </p:nvSpPr>
        <p:spPr>
          <a:xfrm>
            <a:off x="609600" y="2847975"/>
            <a:ext cx="10972800" cy="571500"/>
          </a:xfrm>
          <a:prstGeom prst="rect">
            <a:avLst/>
          </a:prstGeom>
          <a:noFill/>
          <a:ln w="0">
            <a:noFill/>
          </a:ln>
        </p:spPr>
        <p:txBody>
          <a:bodyPr/>
          <a:lstStyle>
            <a:defPPr>
              <a:defRPr sz="2100" b="0">
                <a:solidFill>
                  <a:srgbClr val="526B70"/>
                </a:solidFill>
                <a:latin typeface="Helvetica Neue"/>
                <a:ea typeface="Helvetica Neue"/>
                <a:cs typeface="Helvetica Neue"/>
              </a:defRPr>
            </a:defPPr>
          </a:lstStyle>
          <a:p>
            <a:pPr>
              <a:defRPr sz="2100" b="0">
                <a:solidFill>
                  <a:srgbClr val="526B70"/>
                </a:solidFill>
                <a:latin typeface="Helvetica Neue"/>
                <a:ea typeface="Helvetica Neue"/>
                <a:cs typeface="Helvetica Neue"/>
              </a:defRPr>
            </a:pPr>
            <a:r>
              <a:rPr sz="2100" b="0">
                <a:solidFill>
                  <a:srgbClr val="526B70"/>
                </a:solidFill>
                <a:latin typeface="Helvetica Neue"/>
                <a:ea typeface="Helvetica Neue"/>
                <a:cs typeface="Helvetica Neue"/>
              </a:rPr>
              <a:t>Trainingsspiele der sechs Basisläufe des aktuellen Ensembles</a:t>
            </a:r>
          </a:p>
        </p:txBody>
      </p:sp>
      <p:graphicFrame>
        <p:nvGraphicFramePr>
          <p:cNvPr id="7" name="">
            <a:extLst>
              <a:ext uri="{FF2B5EF4-FFF2-40B4-BE49-F238E27FC236}">
                <ns2:creationId id="{B4EC1B60-74EF-4AA6-A8CA-DD9126A3E20F}"/>
              </a:ext>
            </a:extLst>
          </p:cNvPr>
          <p:cNvGraphicFramePr/>
          <p:nvPr/>
        </p:nvGraphicFramePr>
        <p:xfrm>
          <a:off x="609600" y="3648075"/>
          <a:ext cx="10972800" cy="2152650"/>
        </p:xfrm>
        <a:graphic>
          <a:graphicData uri="http://schemas.openxmlformats.org/drawingml/2006/table">
            <a:tbl>
              <a:tblPr/>
              <a:tblGrid>
                <a:gridCol w="2857500"/>
                <a:gridCol w="8115300"/>
              </a:tblGrid>
              <a:tr h="538163">
                <a:tc>
                  <a:txBody>
                    <a:bodyPr/>
                    <a:lstStyle/>
                    <a:p>
                      <a:r>
                        <a:rPr sz="21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38163">
                <a:tc>
                  <a:txBody>
                    <a:bodyPr/>
                    <a:lstStyle/>
                    <a:p>
                      <a:r>
                        <a:rPr sz="21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Zuerst default; danach default und Solution_92</a:t>
                      </a:r>
                    </a:p>
                  </a:txBody>
                  <a:tcPr marL="91440" marR="91440" marT="45720" marB="45720">
                    <a:lnR w="9525">
                      <a:solidFill>
                        <a:srgbClr val="CFDBD7"/>
                      </a:solidFill>
                      <a:prstDash val="solid"/>
                    </a:lnR>
                    <a:lnB w="9525">
                      <a:solidFill>
                        <a:srgbClr val="CFDBD7"/>
                      </a:solidFill>
                      <a:prstDash val="solid"/>
                    </a:lnB>
                    <a:solidFill>
                      <a:srgbClr val="FFFFFF"/>
                    </a:solidFill>
                  </a:tcPr>
                </a:tc>
              </a:tr>
              <a:tr h="538163">
                <a:tc>
                  <a:txBody>
                    <a:bodyPr/>
                    <a:lstStyle/>
                    <a:p>
                      <a:r>
                        <a:rPr sz="21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Getrennte Karten; 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538163">
                <a:tc>
                  <a:txBody>
                    <a:bodyPr/>
                    <a:lstStyle/>
                    <a:p>
                      <a:r>
                        <a:rPr sz="21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Beide Seiten; ε = 0; 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2029611600"/>
      </p:ext>
    </p:extLst>
  </p:cSld>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0" indent="0" algn="l">
              <a:spcBef>
                <a:spcPts val="0"/>
              </a:spcBef>
              <a:spcAft>
                <a:spcPts val="0"/>
              </a:spcAft>
              <a:buNone/>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a:t>
            </a:r>
          </a:p>
          <a:p>
            <a:pPr marL="0" indent="0" algn="l">
              <a:spcBef>
                <a:spcPts val="0"/>
              </a:spcBef>
              <a:spcAft>
                <a:spcPts val="0"/>
              </a:spcAft>
              <a:buNone/>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0" indent="0" algn="l">
              <a:spcBef>
                <a:spcPts val="0"/>
              </a:spcBef>
              <a:spcAft>
                <a:spcPts val="0"/>
              </a:spcAft>
              <a:buNone/>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a:t>
            </a:r>
          </a:p>
          <a:p>
            <a:pPr marL="0" indent="0" algn="l">
              <a:spcBef>
                <a:spcPts val="0"/>
              </a:spcBef>
              <a:spcAft>
                <a:spcPts val="0"/>
              </a:spcAft>
              <a:buNone/>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0" indent="0" algn="l">
              <a:spcBef>
                <a:spcPts val="0"/>
              </a:spcBef>
              <a:spcAft>
                <a:spcPts val="0"/>
              </a:spcAft>
              <a:buNone/>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0" indent="0" algn="l">
              <a:spcBef>
                <a:spcPts val="0"/>
              </a:spcBef>
              <a:spcAft>
                <a:spcPts val="0"/>
              </a:spcAft>
              <a:buNone/>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0" indent="0" algn="l">
              <a:spcBef>
                <a:spcPts val="0"/>
              </a:spcBef>
              <a:spcAft>
                <a:spcPts val="0"/>
              </a:spcAft>
              <a:buNone/>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0" indent="0" algn="l">
              <a:spcBef>
                <a:spcPts val="0"/>
              </a:spcBef>
              <a:spcAft>
                <a:spcPts val="0"/>
              </a:spcAft>
              <a:buNone/>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a:t>
            </a:r>
          </a:p>
          <a:p>
            <a:pPr marL="0" indent="0" algn="l">
              <a:spcBef>
                <a:spcPts val="0"/>
              </a:spcBef>
              <a:spcAft>
                <a:spcPts val="0"/>
              </a:spcAft>
              <a:buNone/>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besetzen Punktefelder.</a:t>
            </a:r>
          </a:p>
          <a:p>
            <a:pPr marL="0" indent="0" algn="l">
              <a:spcBef>
                <a:spcPts val="0"/>
              </a:spcBef>
              <a:spcAft>
                <a:spcPts val="0"/>
              </a:spcAft>
              <a:buNone/>
              <a:defRPr sz="2025" b="0">
                <a:solidFill>
                  <a:srgbClr val="102D35"/>
                </a:solidFill>
                <a:latin typeface="Helvetica Neue"/>
                <a:ea typeface="Helvetica Neue"/>
                <a:cs typeface="Helvetica Neue"/>
              </a:defRPr>
            </a:pPr>
            <a:r>
              <a:t/>
            </a:r>
          </a:p>
          <a:p>
            <a:pPr marL="0" indent="0" algn="l">
              <a:spcBef>
                <a:spcPts val="0"/>
              </a:spcBef>
              <a:spcAft>
                <a:spcPts val="0"/>
              </a:spcAft>
              <a:buNone/>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a:t>
            </a:r>
          </a:p>
          <a:p>
            <a:pPr marL="0" indent="0" algn="l">
              <a:spcBef>
                <a:spcPts val="0"/>
              </a:spcBef>
              <a:spcAft>
                <a:spcPts val="0"/>
              </a:spcAft>
              <a:buNone/>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noAutofit/>
          </a:bodyPr>
          <a:lstStyle>
            <a:defPPr algn="l">
              <a:defRPr sz="4275" b="1">
                <a:solidFill>
                  <a:srgbClr val="FFFFFF"/>
                </a:solidFill>
                <a:latin typeface="Helvetica Neue"/>
                <a:ea typeface="Helvetica Neue"/>
                <a:cs typeface="Helvetica Neue"/>
              </a:defRPr>
            </a:defPPr>
          </a:lstStyle>
          <a:p>
            <a:pPr marL="0" indent="0" algn="l">
              <a:spcBef>
                <a:spcPts val="0"/>
              </a:spcBef>
              <a:spcAft>
                <a:spcPts val="0"/>
              </a:spcAft>
              <a:buNone/>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Gedächtnis + sechs Netze</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250" b="0">
                <a:solidFill>
                  <a:srgbClr val="B7D8D0"/>
                </a:solidFill>
                <a:latin typeface="Helvetica Neue"/>
                <a:ea typeface="Helvetica Neue"/>
                <a:cs typeface="Helvetica Neue"/>
              </a:defRPr>
            </a:defPPr>
          </a:lstStyle>
          <a:p>
            <a:pPr marL="0" indent="0" algn="l">
              <a:spcBef>
                <a:spcPts val="0"/>
              </a:spcBef>
              <a:spcAft>
                <a:spcPts val="0"/>
              </a:spcAft>
              <a:buNone/>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Im Benchmark: 60/60 Siege gegen default, 28/60 gegen Solution_92.</a:t>
            </a:r>
          </a:p>
          <a:p>
            <a:pPr marL="0" indent="0" algn="l">
              <a:spcBef>
                <a:spcPts val="0"/>
              </a:spcBef>
              <a:spcAft>
                <a:spcPts val="0"/>
              </a:spcAft>
              <a:buNone/>
              <a:defRPr sz="2400" b="0">
                <a:solidFill>
                  <a:srgbClr val="B7D8D0"/>
                </a:solidFill>
                <a:latin typeface="Helvetica Neue"/>
                <a:ea typeface="Helvetica Neue"/>
                <a:cs typeface="Helvetica Neue"/>
              </a:defRPr>
            </a:pPr>
            <a:r>
              <a:t/>
            </a:r>
          </a:p>
          <a:p>
            <a:pPr marL="0" indent="0" algn="l">
              <a:spcBef>
                <a:spcPts val="0"/>
              </a:spcBef>
              <a:spcAft>
                <a:spcPts val="0"/>
              </a:spcAft>
              <a:buNone/>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Nächster Schritt: Frühe Erkundung verbessern und neue Testkarten nutzen.</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