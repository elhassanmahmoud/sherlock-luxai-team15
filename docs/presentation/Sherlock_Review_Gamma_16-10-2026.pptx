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ter Bold"/>
      <p:regular r:id="rId201314"/>
    </p:embeddedFont>
    <p:embeddedFont>
      <p:font typeface="Inter"/>
      <p:regular r:id="rId201315"/>
    </p:embeddedFont>
    <p:embeddedFont>
      <p:font typeface="Roboto"/>
      <p:regular r:id="rId201316"/>
    </p:embeddedFont>
    <p:embeddedFont>
      <p:font typeface="Roboto SemiBold"/>
      <p:regular r:id="rId201317"/>
    </p:embeddedFont>
    <p:embeddedFont>
      <p:font typeface="Roboto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Moayed · 0:30</a:t>
            </a:r>
          </a:p>
          <a:p>
            <a:r>
              <a:rPr lang="de-DE"/>
              <a:t/>
            </a:r>
          </a:p>
          <a:p>
            <a:r>
              <a:rPr lang="de-DE"/>
              <a:t>Wir sind Mahmoud und Moayed, Team 15. Unser Agent heißt Sherlock. Er spielt Lux AI Season 3 und verbindet gelerntes Verhalten mit einem Gedächtnis für die Karte. Wir zeigen zuerst die Spielidee und den Ablauf, dann das Training und zum Schluss Ergebnisse und ein Beispiel. Unser Stand ist das Sechser-Ensemble old3_sym3.</a:t>
            </a:r>
          </a:p>
          <a:p>
            <a:r>
              <a:rPr lang="de-DE"/>
              <a:t/>
            </a:r>
          </a:p>
          <a:p>
            <a:r>
              <a:rPr lang="de-DE"/>
              <a:t>Quellen:</a:t>
            </a:r>
          </a:p>
          <a:p>
            <a:r>
              <a:rPr lang="de-DE"/>
              <a:t>README.md</a:t>
            </a:r>
          </a:p>
          <a:p>
            <a:r>
              <a:rPr lang="de-DE"/>
              <a:t>CLAUDE.md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Moayed · 1:00</a:t>
            </a:r>
          </a:p>
          <a:p>
            <a:r>
              <a:rPr lang="de-DE"/>
              <a:t/>
            </a:r>
          </a:p>
          <a:p>
            <a:r>
              <a:rPr lang="de-DE"/>
              <a:t>Lux AI ist ein Strategiespiel auf einer Karte mit 24 mal 24 Feldern. Zwei Teams steuern jeweils bis zu 16 Einheiten. Im Kurs besteht ein Spiel aus drei Matches. Wer mehr Matches gewinnt, gewinnt das Spiel. Die Herausforderung ist, dass der Agent nicht die ganze Karte sieht und die Punktefelder zunächst unbekannt sind. Er muss erkunden, Energie sinnvoll einsetzen und geeignete Felder besetzen. Auf dem Bild ist Sherlock blau und der Gegner rot. Die gelben Markierungen gehören zu Relics und Punktefeldern. Wichtig: Das ist die vollständige Replay-Ansicht für uns Zuschauer. Der Agent bekommt diese vollständige Information nicht.</a:t>
            </a:r>
          </a:p>
          <a:p>
            <a:r>
              <a:rPr lang="de-DE"/>
              <a:t/>
            </a:r>
          </a:p>
          <a:p>
            <a:r>
              <a:rPr lang="de-DE"/>
              <a:t>Quellen:</a:t>
            </a:r>
          </a:p>
          <a:p>
            <a:r>
              <a:rPr lang="de-DE"/>
              <a:t>lux/specs.md</a:t>
            </a:r>
          </a:p>
          <a:p>
            <a:r>
              <a:rPr lang="de-DE"/>
              <a:t>lux/Instructions.md</a:t>
            </a:r>
          </a:p>
          <a:p>
            <a:r>
              <a:rPr lang="de-DE"/>
              <a:t>CLAUDE.md</a:t>
            </a:r>
          </a:p>
          <a:p>
            <a:r>
              <a:rPr lang="de-DE"/>
              <a:t>docs/presentation/replays/sherlock_sieg_vs_default.json · Frame 61</a:t>
            </a:r>
          </a:p>
          <a:p>
            <a:r>
              <a:rPr lang="de-DE"/>
              <a:t>Screenshot: https://s3vis.lux-ai.org/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Moayed · 0:55</a:t>
            </a:r>
          </a:p>
          <a:p>
            <a:r>
              <a:rPr lang="de-DE"/>
              <a:t/>
            </a:r>
          </a:p>
          <a:p>
            <a:r>
              <a:rPr lang="de-DE"/>
              <a:t>Die Grundidee lässt sich in drei Schritten erklären. Zuerst merkt Sherlock sich, was er schon gesehen hat. Dieses Gedächtnis nennen wir Belief. Danach erhält jede Einheit eine kompakte Beschreibung ihrer Situation. Sechs trainierte Netze bewerten die möglichen Aktionen. Schließlich wählen wir aus den erlaubten Aktionen die mit dem höchsten gemittelten Wert aus. Das Gedächtnis lernt nicht durch ein neuronales Netz: Es folgt programmierten Regeln und nutzt Beobachtungen. Die Bewertung der Aktionen wird dagegen im Training gelernt. Während der Auswertung wird nicht weitergelernt. Mahmoud erklärt jetzt, welche Informationen in die Netze eingehen und wie das Training funktioniert.</a:t>
            </a:r>
          </a:p>
          <a:p>
            <a:r>
              <a:rPr lang="de-DE"/>
              <a:t/>
            </a:r>
          </a:p>
          <a:p>
            <a:r>
              <a:rPr lang="de-DE"/>
              <a:t>Quellen:</a:t>
            </a:r>
          </a:p>
          <a:p>
            <a:r>
              <a:rPr lang="de-DE"/>
              <a:t>agents/sherlock/main.py</a:t>
            </a:r>
          </a:p>
          <a:p>
            <a:r>
              <a:rPr lang="de-DE"/>
              <a:t>agents/sherlock/belief.py</a:t>
            </a:r>
          </a:p>
          <a:p>
            <a:r>
              <a:rPr lang="de-DE"/>
              <a:t>agents/sherlock/model.py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Mahmoud · 1:05</a:t>
            </a:r>
          </a:p>
          <a:p>
            <a:r>
              <a:rPr lang="de-DE"/>
              <a:t/>
            </a:r>
          </a:p>
          <a:p>
            <a:r>
              <a:rPr lang="de-DE"/>
              <a:t>Wir verwenden ein MLP mit 79 numerischen Merkmalen pro Einheit, keine vollständige Bildkarte. Die Merkmale beschreiben zum Beispiel Energie und Position, Umgebung, Ziele und Gegner. Das Belief speichert bekannte Relics, erkundete Bereiche und erschlossene Punktefelder. Vereinfachtes Beispiel: Eine einzige eigene Einheit steht auf einem noch unbekannten Kandidatenfeld und der Punktestand steigt um eins. Unter diesen Voraussetzungen lässt sich das Feld als Punktefeld erkennen. Bei mehreren Kandidaten braucht man weitere Beobachtungen. Außerdem verwenden wir die Kartensymmetrie. Davon zu unterscheiden sind kanonische Koordinaten: Beide Spielseiten werden aus vergleichbarer Perspektive beschrieben. Diese Regeln liefern Informationen an die gelernte Aktionsbewertung; sie ersetzen sie nicht.</a:t>
            </a:r>
          </a:p>
          <a:p>
            <a:r>
              <a:rPr lang="de-DE"/>
              <a:t/>
            </a:r>
          </a:p>
          <a:p>
            <a:r>
              <a:rPr lang="de-DE"/>
              <a:t>Quellen:</a:t>
            </a:r>
          </a:p>
          <a:p>
            <a:r>
              <a:rPr lang="de-DE"/>
              <a:t>agents/sherlock/features.py</a:t>
            </a:r>
          </a:p>
          <a:p>
            <a:r>
              <a:rPr lang="de-DE"/>
              <a:t>agents/sherlock/belief.py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Mahmoud · 1:05</a:t>
            </a:r>
          </a:p>
          <a:p>
            <a:r>
              <a:rPr lang="de-DE"/>
              <a:t/>
            </a:r>
          </a:p>
          <a:p>
            <a:r>
              <a:rPr lang="de-DE"/>
              <a:t>Jedes Mitglied des Ensembles ist ein Dueling-Netz. Es bekommt 79 Merkmale. Der gemeinsame Teil besteht aus zwei voll verbundenen Schichten mit jeweils 256 Neuronen und ReLU. Danach gibt es einen Kopf für den Zustandswert und einen Kopf für die Vorteile der sechs Aktionen; beide haben eine Zwischenschicht mit 128 Neuronen. Daraus entstehen sechs Q-Werte. Beim Spielen mitteln wir die Q-Werte der sechs trainierten Netze und wählen dann die beste erlaubte Aktion. Die sechs Aktionen sind Stehenbleiben, vier Bewegungsrichtungen und Sap. Das konkrete Sap-Ziel wird heuristisch gewählt. Double DQN bezeichnet unser Lernverfahren, Dueling die Netzarchitektur und Ensemble die Kombination mehrerer trainierter Netze.</a:t>
            </a:r>
          </a:p>
          <a:p>
            <a:r>
              <a:rPr lang="de-DE"/>
              <a:t/>
            </a:r>
          </a:p>
          <a:p>
            <a:r>
              <a:rPr lang="de-DE"/>
              <a:t>Quellen:</a:t>
            </a:r>
          </a:p>
          <a:p>
            <a:r>
              <a:rPr lang="de-DE"/>
              <a:t>agents/sherlock/model.py</a:t>
            </a:r>
          </a:p>
          <a:p>
            <a:r>
              <a:rPr lang="de-DE"/>
              <a:t>agents/sherlock/main.py</a:t>
            </a:r>
          </a:p>
          <a:p>
            <a:r>
              <a:rPr lang="de-DE"/>
              <a:t>agents/sherlock/weights/agent_p0.pth · gespeicherte cfg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Mahmoud · 1:15</a:t>
            </a:r>
          </a:p>
          <a:p>
            <a:r>
              <a:rPr lang="de-DE"/>
              <a:t/>
            </a:r>
          </a:p>
          <a:p>
            <a:r>
              <a:rPr lang="de-DE"/>
              <a:t>Im Training sammeln wir Erfahrungen pro Einheit: Situation, Aktion, Belohnung und Folgesituation. Zufällige Mini-Batches aus dem Replay Buffer verringern die direkte Abhängigkeit aufeinanderfolgender Erfahrungen. Double DQN trennt die Wahl der nächsten Aktion von ihrer Bewertung: Das aktuelle Online-Netz wählt die beste erlaubte Folgeaktion, das verzögert aktualisierte Target-Netz bewertet genau diese Aktion. Aus Belohnung und diskontiertem Folgewert entsteht das Lernziel. Am Ende eines Übergangs entfällt der Folgewert. Das Online-Netz wird an dieses Ziel angepasst; das Target-Netz wird alle 500 Lernupdates kopiert. Im Training probiert der Agent mit abnehmender Wahrscheinlichkeit Aktionen aus. Zusätzlich zu Punkten und Matchsiegen gibt es Shaping-Signale, etwa für Annäherung, Erkundung und Energie. Deren Gestaltung ist eine Modellierungsentscheidung mit eigenen Grenzen.</a:t>
            </a:r>
          </a:p>
          <a:p>
            <a:r>
              <a:rPr lang="de-DE"/>
              <a:t/>
            </a:r>
          </a:p>
          <a:p>
            <a:r>
              <a:rPr lang="de-DE"/>
              <a:t>Quellen:</a:t>
            </a:r>
          </a:p>
          <a:p>
            <a:r>
              <a:rPr lang="de-DE"/>
              <a:t>agents/sherlock/main.py · _learn und epsilon</a:t>
            </a:r>
          </a:p>
          <a:p>
            <a:r>
              <a:rPr lang="de-DE"/>
              <a:t>agents/sherlock/replay_buffer.py</a:t>
            </a:r>
          </a:p>
          <a:p>
            <a:r>
              <a:rPr lang="de-DE"/>
              <a:t>agents/sherlock/reward.py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Mahmoud · 1:05</a:t>
            </a:r>
          </a:p>
          <a:p>
            <a:r>
              <a:rPr lang="de-DE"/>
              <a:t/>
            </a:r>
          </a:p>
          <a:p>
            <a:r>
              <a:rPr lang="de-DE"/>
              <a:t>Die sechs Basisläufe des aktuellen Ensembles hatten jeweils ein Budget von 3.000 Spielen. Das sind zusammen 18.000 Trainingsspiele über diese Läufe. Die ausgewählten Checkpoints können früher im Lauf liegen. Andere Varianten und Validierungsspiele sind hier nicht mitgezählt. In den ersten 25 Prozent wird gegen default trainiert, anschließend abwechselnd gegen default und Solution_92. Die Spielseite wechselt. Wir prüfen regelmäßig auf getrennten Validierungskarten und wählen dort Checkpoints aus. Wichtige Einstellungen sind Gamma 0,99, Lernrate 0,0003, Batchgröße 256 und ein Buffer mit 300.000 Übergängen. Epsilon fällt in 60.000 Umgebungsschritten von 1 auf 0,05. Für die Ergebnisfolie gilt dagegen Epsilon null: Die Gewichte sind fest, es wird nicht gelernt.</a:t>
            </a:r>
          </a:p>
          <a:p>
            <a:r>
              <a:rPr lang="de-DE"/>
              <a:t/>
            </a:r>
          </a:p>
          <a:p>
            <a:r>
              <a:rPr lang="de-DE"/>
              <a:t>Quellen:</a:t>
            </a:r>
          </a:p>
          <a:p>
            <a:r>
              <a:rPr lang="de-DE"/>
              <a:t>experiments/runs/20261010_full_s{0,1,2}/manifest.json</a:t>
            </a:r>
          </a:p>
          <a:p>
            <a:r>
              <a:rPr lang="de-DE"/>
              <a:t>experiments/runs/20261011_full_sym_s{0,1,2}/manifest.json</a:t>
            </a:r>
          </a:p>
          <a:p>
            <a:r>
              <a:rPr lang="de-DE"/>
              <a:t>scripts/protocol.py</a:t>
            </a:r>
          </a:p>
          <a:p>
            <a:r>
              <a:rPr lang="de-DE"/>
              <a:t>agents/sherlock/weights/agent_p0.pth · cfg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Moayed · 1:05</a:t>
            </a:r>
          </a:p>
          <a:p>
            <a:r>
              <a:rPr lang="de-DE"/>
              <a:t/>
            </a:r>
          </a:p>
          <a:p>
            <a:r>
              <a:rPr lang="de-DE"/>
              <a:t>Hier sehen wir die Ergebnisse des aktuellen Agenten. Gegen default gewinnt Sherlock 60 von 60 Spielen. Gegen den stärkeren regelbasierten Gegner Solution_92 sind es 28 von 60, also ungefähr 47 Prozent. Pro Gegner wurden 30 Karten auf beiden Spielseiten gespielt. Damit sind es 60 Spiele, aber nicht 60 unabhängige Karten. Diese Zahlen wurden mit den unveränderten Gewichten erneut bestätigt. Wir sollten daraus nicht ableiten, dass Sherlock immer gegen default gewinnt: Das Ergebnis gilt für diese Stichprobe. Außerdem wurden die Karten im Projekt bereits mehrfach ausgewertet. Für eine unabhängige Schlussbewertung brauchen wir später neue, zurückgehaltene Karten. Insgesamt funktioniert unser Ansatz, aber gegen den stärkeren Gegner gibt es noch deutliches Verbesserungspotenzial.</a:t>
            </a:r>
          </a:p>
          <a:p>
            <a:r>
              <a:rPr lang="de-DE"/>
              <a:t/>
            </a:r>
          </a:p>
          <a:p>
            <a:r>
              <a:rPr lang="de-DE"/>
              <a:t>Quellen:</a:t>
            </a:r>
          </a:p>
          <a:p>
            <a:r>
              <a:rPr lang="de-DE"/>
              <a:t>experiments/compare/TEST_old3_sym3_points_v2.csv</a:t>
            </a:r>
          </a:p>
          <a:p>
            <a:r>
              <a:rPr lang="de-DE"/>
              <a:t>experiments/compare/TEST_old3_sym3_points_v2.json</a:t>
            </a:r>
          </a:p>
          <a:p>
            <a:r>
              <a:rPr lang="de-DE"/>
              <a:t>docs/STATISTIK_20261014.md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Moayed · 1:20</a:t>
            </a:r>
          </a:p>
          <a:p>
            <a:r>
              <a:rPr lang="de-DE"/>
              <a:t/>
            </a:r>
          </a:p>
          <a:p>
            <a:r>
              <a:rPr lang="de-DE"/>
              <a:t>Das sind zwei echte Bilder aus demselben Spiel gegen default. Sherlock ist blau, der Gegner rot. Links, bei Schritt 23, sind unsere Einheiten noch über die Karte verteilt und beide Teams haben null Punkte. Rechts, bei Schritt 90 im ersten Match, stehen viele blaue Einheiten im Bereich der gelb markierten Punktefelder. Der Zwischenstand ist 374 zu 11. Man sieht: Bewegung allein ist nicht das Ziel. Sobald geeignete Punktefelder bekannt sind, kann Stehenbleiben sinnvoll sein, weil ein besetztes Feld wiederholt Punkte bringt. Das Gedächtnis hilft dabei, einmal gewonnene Informationen weiterzuverwenden. Die Bilder zeigen die vollständige Zuschaueransicht, nicht den Wissensstand des Agenten. Dieses Spiel veranschaulicht einen gelungenen Ablauf; es beweist nicht, dass Sherlock in jedem Spiel so handelt. Die Niederlagen gegen Solution_92 gehören ebenfalls zu unserer Auswertung.</a:t>
            </a:r>
          </a:p>
          <a:p>
            <a:r>
              <a:rPr lang="de-DE"/>
              <a:t/>
            </a:r>
          </a:p>
          <a:p>
            <a:r>
              <a:rPr lang="de-DE"/>
              <a:t>Quellen:</a:t>
            </a:r>
          </a:p>
          <a:p>
            <a:r>
              <a:rPr lang="de-DE"/>
              <a:t>docs/presentation/replays/sherlock_sieg_vs_default.json · Frames 23 und 90</a:t>
            </a:r>
          </a:p>
          <a:p>
            <a:r>
              <a:rPr lang="de-DE"/>
              <a:t>Screenshot: https://s3vis.lux-ai.org/ · Seed 900011, Sherlock player_0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Mahmoud, danach Moayed · 1:20</a:t>
            </a:r>
          </a:p>
          <a:p>
            <a:r>
              <a:rPr lang="de-DE"/>
              <a:t/>
            </a:r>
          </a:p>
          <a:p>
            <a:r>
              <a:rPr lang="de-DE"/>
              <a:t>MAHMOUD · 55 Sekunden</a:t>
            </a:r>
          </a:p>
          <a:p>
            <a:r>
              <a:rPr lang="de-DE"/>
              <a:t>Unser Agent kombiniert gelernte Entscheidungen mit explizitem Wissen über das Spiel. Die bisherigen Versuche sprechen dafür, Gedächtnis und mehrere Netzbewertungen zu kombinieren. Weitertraining und Self-Play haben in den getesteten Varianten keinen klaren zusätzlichen Gewinn gebracht; das ist keine allgemeine Aussage gegen diese Verfahren. Eine Arbeitshypothese ist, dass bessere frühe Erkundung und frühere Inferenz im ersten Match helfen. Der Kandidat m1_early ist untersucht, aber noch nicht in der Abgabe aktiviert. Vor weiterem Training prüfen wir außerdem Reward und Einheitenübergänge. Für die nächste belastbare Bewertung wollen wir neue Testkarten zurückhalten. Der Präsentationsstand und seine Gewichte bleiben dabei fest.</a:t>
            </a:r>
          </a:p>
          <a:p>
            <a:r>
              <a:rPr lang="de-DE"/>
              <a:t/>
            </a:r>
          </a:p>
          <a:p>
            <a:r>
              <a:rPr lang="de-DE"/>
              <a:t>Übergabe: Damit zurück an Moayed für unser Fazit.</a:t>
            </a:r>
          </a:p>
          <a:p>
            <a:r>
              <a:rPr lang="de-DE"/>
              <a:t/>
            </a:r>
          </a:p>
          <a:p>
            <a:r>
              <a:rPr lang="de-DE"/>
              <a:t>MOAYED · 25 Sekunden</a:t>
            </a:r>
          </a:p>
          <a:p>
            <a:r>
              <a:rPr lang="de-DE"/>
              <a:t>Unser Zwischenstand ist ein trainierter und lauffähiger Agent, der sich Informationen merkt und mehrere Netzbewertungen kombiniert. Gegen default ist er auf unserem Benchmark stark, gegen Solution_92 ist noch Luft nach oben. Als Nächstes wollen wir gezielt die frühen Entscheidungen verbessern und sauber auf neuen Karten prüfen. Vielen Dank – wir freuen uns auf eure Fragen.</a:t>
            </a:r>
          </a:p>
          <a:p>
            <a:r>
              <a:rPr lang="de-DE"/>
              <a:t/>
            </a:r>
          </a:p>
          <a:p>
            <a:r>
              <a:rPr lang="de-DE"/>
              <a:t>Quellen:</a:t>
            </a:r>
          </a:p>
          <a:p>
            <a:r>
              <a:rPr lang="de-DE"/>
              <a:t>docs/EXPERIMENT_PROTOKOLL.md</a:t>
            </a:r>
          </a:p>
          <a:p>
            <a:r>
              <a:rPr lang="de-DE"/>
              <a:t>docs/ARBEITSSTAND.md</a:t>
            </a:r>
          </a:p>
          <a:p>
            <a:r>
              <a:rPr lang="de-DE"/>
              <a:t>docs/STATISTIK_20261014.md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71B2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202733"/>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1930862"/>
            <a:ext cx="10972526" cy="1056580"/>
          </a:xfrm>
          <a:prstGeom prst="rect">
            <a:avLst/>
          </a:prstGeom>
          <a:noFill/>
          <a:ln/>
        </p:spPr>
        <p:txBody>
          <a:bodyPr wrap="none" lIns="0" tIns="165096" rIns="0" bIns="165096" rtlCol="0" anchor="t"/>
          <a:lstStyle/>
          <a:p>
            <a:pPr algn="l" indent="0" marL="0">
              <a:lnSpc>
                <a:spcPct val="92000"/>
              </a:lnSpc>
              <a:buNone/>
            </a:pPr>
            <a:r>
              <a:rPr lang="en-US" sz="5200" dirty="0">
                <a:solidFill>
                  <a:srgbClr val="000000"/>
                </a:solidFill>
                <a:latin typeface="Inter" pitchFamily="34" charset="0"/>
                <a:ea typeface="Inter" pitchFamily="34" charset="-122"/>
                <a:cs typeface="Inter" pitchFamily="34" charset="-120"/>
              </a:rPr>
              <a:t>Sherlock</a:t>
            </a:r>
            <a:endParaRPr lang="en-US" sz="5200" dirty="0"/>
          </a:p>
        </p:txBody>
      </p:sp>
      <p:sp>
        <p:nvSpPr>
          <p:cNvPr id="3" name="Text 1"/>
          <p:cNvSpPr/>
          <p:nvPr/>
        </p:nvSpPr>
        <p:spPr>
          <a:xfrm>
            <a:off x="609585" y="2965172"/>
            <a:ext cx="11582110" cy="284460"/>
          </a:xfrm>
          <a:prstGeom prst="rect">
            <a:avLst/>
          </a:prstGeom>
          <a:noFill/>
          <a:ln/>
        </p:spPr>
        <p:txBody>
          <a:bodyPr wrap="none" lIns="0" tIns="0" rIns="0" bIns="0" rtlCol="0" anchor="t"/>
          <a:lstStyle/>
          <a:p>
            <a:pPr algn="l" indent="0" marL="0">
              <a:lnSpc>
                <a:spcPct val="117000"/>
              </a:lnSpc>
              <a:buNone/>
            </a:pPr>
            <a:r>
              <a:rPr lang="en-US" sz="1600" dirty="0">
                <a:solidFill>
                  <a:srgbClr val="000000"/>
                </a:solidFill>
                <a:latin typeface="Roboto" pitchFamily="34" charset="0"/>
                <a:ea typeface="Roboto" pitchFamily="34" charset="-122"/>
                <a:cs typeface="Roboto" pitchFamily="34" charset="-120"/>
              </a:rPr>
              <a:t>Lernen mit Gedächtnis</a:t>
            </a:r>
            <a:endParaRPr lang="en-US" sz="1600" dirty="0"/>
          </a:p>
        </p:txBody>
      </p:sp>
      <p:sp>
        <p:nvSpPr>
          <p:cNvPr id="4" name="Text 2"/>
          <p:cNvSpPr/>
          <p:nvPr/>
        </p:nvSpPr>
        <p:spPr>
          <a:xfrm>
            <a:off x="609585" y="3408065"/>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000000"/>
                </a:solidFill>
                <a:latin typeface="Roboto" pitchFamily="34" charset="0"/>
                <a:ea typeface="Roboto" pitchFamily="34" charset="-122"/>
                <a:cs typeface="Roboto" pitchFamily="34" charset="-120"/>
              </a:rPr>
              <a:t>Ein Double-DQN-Agent für Lux AI Season 3</a:t>
            </a:r>
            <a:endParaRPr lang="en-US" sz="1400" dirty="0"/>
          </a:p>
        </p:txBody>
      </p:sp>
      <p:sp>
        <p:nvSpPr>
          <p:cNvPr id="5" name="Shape 3"/>
          <p:cNvSpPr/>
          <p:nvPr/>
        </p:nvSpPr>
        <p:spPr>
          <a:xfrm>
            <a:off x="609585" y="4006155"/>
            <a:ext cx="2743131" cy="38100"/>
          </a:xfrm>
          <a:prstGeom prst="roundRect">
            <a:avLst>
              <a:gd name="adj" fmla="val 49999"/>
            </a:avLst>
          </a:prstGeom>
          <a:solidFill>
            <a:srgbClr val="66A8EE"/>
          </a:solidFill>
          <a:ln/>
        </p:spPr>
      </p:sp>
      <p:sp>
        <p:nvSpPr>
          <p:cNvPr id="6" name="Text 4"/>
          <p:cNvSpPr/>
          <p:nvPr/>
        </p:nvSpPr>
        <p:spPr>
          <a:xfrm>
            <a:off x="609585" y="4247455"/>
            <a:ext cx="10972526" cy="549870"/>
          </a:xfrm>
          <a:prstGeom prst="rect">
            <a:avLst/>
          </a:prstGeom>
          <a:noFill/>
          <a:ln/>
        </p:spPr>
        <p:txBody>
          <a:bodyPr wrap="square" lIns="0" tIns="0" rIns="0" bIns="0" rtlCol="0" anchor="t"/>
          <a:lstStyle/>
          <a:p>
            <a:pPr algn="l" indent="0" marL="0">
              <a:lnSpc>
                <a:spcPct val="117000"/>
              </a:lnSpc>
              <a:spcAft>
                <a:spcPts val="1200"/>
              </a:spcAft>
              <a:buNone/>
            </a:pPr>
            <a:r>
              <a:rPr lang="en-US" sz="1100" dirty="0">
                <a:solidFill>
                  <a:srgbClr val="000000"/>
                </a:solidFill>
                <a:latin typeface="Roboto" pitchFamily="34" charset="0"/>
                <a:ea typeface="Roboto" pitchFamily="34" charset="-122"/>
                <a:cs typeface="Roboto" pitchFamily="34" charset="-120"/>
              </a:rPr>
              <a:t>Mahmoud El-Hassan · Moayed Shawesh</a:t>
            </a:r>
            <a:endParaRPr lang="en-US" sz="1100" dirty="0"/>
          </a:p>
          <a:p>
            <a:pPr algn="l" indent="0" marL="0">
              <a:lnSpc>
                <a:spcPct val="117000"/>
              </a:lnSpc>
              <a:buNone/>
            </a:pPr>
            <a:r>
              <a:rPr lang="en-US" sz="1100" dirty="0">
                <a:solidFill>
                  <a:srgbClr val="000000"/>
                </a:solidFill>
                <a:latin typeface="Roboto" pitchFamily="34" charset="0"/>
                <a:ea typeface="Roboto" pitchFamily="34" charset="-122"/>
                <a:cs typeface="Roboto" pitchFamily="34" charset="-120"/>
              </a:rPr>
              <a:t>Team 15 · HTW Berlin · Anwendungen der KI · 16.10.2026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337366"/>
            <a:ext cx="5516821" cy="1097161"/>
          </a:xfrm>
          <a:prstGeom prst="rect">
            <a:avLst/>
          </a:prstGeom>
          <a:noFill/>
          <a:ln/>
        </p:spPr>
        <p:txBody>
          <a:bodyPr wrap="square" lIns="0" tIns="101598" rIns="0" bIns="101598" rtlCol="0" anchor="t">
            <a:normAutofit/>
          </a:bodyPr>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Punkte finden, Felder halten, Matches gewinnen</a:t>
            </a:r>
            <a:endParaRPr lang="en-US" sz="3200" dirty="0"/>
          </a:p>
        </p:txBody>
      </p:sp>
      <p:pic>
        <p:nvPicPr>
          <p:cNvPr id="3" name="Image 0" descr="preencoded.png">    </p:cNvPr>
          <p:cNvPicPr>
            <a:picLocks noChangeAspect="1"/>
          </p:cNvPicPr>
          <p:nvPr/>
        </p:nvPicPr>
        <p:blipFill>
          <a:blip r:embed="rId1"/>
          <a:stretch>
            <a:fillRect/>
          </a:stretch>
        </p:blipFill>
        <p:spPr>
          <a:xfrm>
            <a:off x="609585" y="2490986"/>
            <a:ext cx="444489" cy="444500"/>
          </a:xfrm>
          <a:prstGeom prst="rect">
            <a:avLst/>
          </a:prstGeom>
        </p:spPr>
      </p:pic>
      <p:sp>
        <p:nvSpPr>
          <p:cNvPr id="4" name="Text 1"/>
          <p:cNvSpPr/>
          <p:nvPr/>
        </p:nvSpPr>
        <p:spPr>
          <a:xfrm>
            <a:off x="609585" y="3040261"/>
            <a:ext cx="2682213"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24 × 24 Felder</a:t>
            </a:r>
            <a:endParaRPr lang="en-US" sz="1400" dirty="0"/>
          </a:p>
        </p:txBody>
      </p:sp>
      <p:pic>
        <p:nvPicPr>
          <p:cNvPr id="5" name="Image 1" descr="preencoded.png">    </p:cNvPr>
          <p:cNvPicPr>
            <a:picLocks noChangeAspect="1"/>
          </p:cNvPicPr>
          <p:nvPr/>
        </p:nvPicPr>
        <p:blipFill>
          <a:blip r:embed="rId2"/>
          <a:stretch>
            <a:fillRect/>
          </a:stretch>
        </p:blipFill>
        <p:spPr>
          <a:xfrm>
            <a:off x="3444194" y="2490986"/>
            <a:ext cx="444489" cy="444500"/>
          </a:xfrm>
          <a:prstGeom prst="rect">
            <a:avLst/>
          </a:prstGeom>
        </p:spPr>
      </p:pic>
      <p:sp>
        <p:nvSpPr>
          <p:cNvPr id="6" name="Text 2"/>
          <p:cNvSpPr/>
          <p:nvPr/>
        </p:nvSpPr>
        <p:spPr>
          <a:xfrm>
            <a:off x="3444194" y="3040261"/>
            <a:ext cx="2682213"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Bis zu 16 Einheiten pro Team</a:t>
            </a:r>
            <a:endParaRPr lang="en-US" sz="1400" dirty="0"/>
          </a:p>
        </p:txBody>
      </p:sp>
      <p:pic>
        <p:nvPicPr>
          <p:cNvPr id="7" name="Image 2" descr="preencoded.png">    </p:cNvPr>
          <p:cNvPicPr>
            <a:picLocks noChangeAspect="1"/>
          </p:cNvPicPr>
          <p:nvPr/>
        </p:nvPicPr>
        <p:blipFill>
          <a:blip r:embed="rId3"/>
          <a:stretch>
            <a:fillRect/>
          </a:stretch>
        </p:blipFill>
        <p:spPr>
          <a:xfrm>
            <a:off x="609585" y="3441402"/>
            <a:ext cx="444489" cy="444500"/>
          </a:xfrm>
          <a:prstGeom prst="rect">
            <a:avLst/>
          </a:prstGeom>
        </p:spPr>
      </p:pic>
      <p:sp>
        <p:nvSpPr>
          <p:cNvPr id="8" name="Text 3"/>
          <p:cNvSpPr/>
          <p:nvPr/>
        </p:nvSpPr>
        <p:spPr>
          <a:xfrm>
            <a:off x="609585" y="3990677"/>
            <a:ext cx="2682213" cy="248841"/>
          </a:xfrm>
          <a:prstGeom prst="rect">
            <a:avLst/>
          </a:prstGeom>
          <a:noFill/>
          <a:ln/>
        </p:spPr>
        <p:txBody>
          <a:bodyPr wrap="none" lIns="0" tIns="0" rIns="0" bIns="0" rtlCol="0" anchor="t"/>
          <a:lstStyle/>
          <a:p>
            <a:pPr algn="l" indent="0" marL="0">
              <a:lnSpc>
                <a:spcPct val="117000"/>
              </a:lnSpc>
              <a:buNone/>
            </a:pPr>
            <a:r>
              <a:rPr lang="en-US" sz="1400" b="1" dirty="0">
                <a:solidFill>
                  <a:srgbClr val="D6E5EF"/>
                </a:solidFill>
                <a:latin typeface="Roboto Bold" pitchFamily="34" charset="0"/>
                <a:ea typeface="Roboto Bold" pitchFamily="34" charset="-122"/>
                <a:cs typeface="Roboto Bold" pitchFamily="34" charset="-120"/>
              </a:rPr>
              <a:t>Erkunden:</a:t>
            </a:r>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 Informationen fehlen.</a:t>
            </a:r>
            <a:endParaRPr lang="en-US" sz="1400" dirty="0"/>
          </a:p>
        </p:txBody>
      </p:sp>
      <p:pic>
        <p:nvPicPr>
          <p:cNvPr id="9" name="Image 3" descr="preencoded.png">    </p:cNvPr>
          <p:cNvPicPr>
            <a:picLocks noChangeAspect="1"/>
          </p:cNvPicPr>
          <p:nvPr/>
        </p:nvPicPr>
        <p:blipFill>
          <a:blip r:embed="rId4"/>
          <a:stretch>
            <a:fillRect/>
          </a:stretch>
        </p:blipFill>
        <p:spPr>
          <a:xfrm>
            <a:off x="3444194" y="3441402"/>
            <a:ext cx="444489" cy="444500"/>
          </a:xfrm>
          <a:prstGeom prst="rect">
            <a:avLst/>
          </a:prstGeom>
        </p:spPr>
      </p:pic>
      <p:sp>
        <p:nvSpPr>
          <p:cNvPr id="10" name="Text 4"/>
          <p:cNvSpPr/>
          <p:nvPr/>
        </p:nvSpPr>
        <p:spPr>
          <a:xfrm>
            <a:off x="3444194" y="3990677"/>
            <a:ext cx="2682213" cy="248841"/>
          </a:xfrm>
          <a:prstGeom prst="rect">
            <a:avLst/>
          </a:prstGeom>
          <a:noFill/>
          <a:ln/>
        </p:spPr>
        <p:txBody>
          <a:bodyPr wrap="none" lIns="0" tIns="0" rIns="0" bIns="0" rtlCol="0" anchor="t"/>
          <a:lstStyle/>
          <a:p>
            <a:pPr algn="l" indent="0" marL="0">
              <a:lnSpc>
                <a:spcPct val="117000"/>
              </a:lnSpc>
              <a:buNone/>
            </a:pPr>
            <a:r>
              <a:rPr lang="en-US" sz="1400" b="1" dirty="0">
                <a:solidFill>
                  <a:srgbClr val="D6E5EF"/>
                </a:solidFill>
                <a:latin typeface="Roboto Bold" pitchFamily="34" charset="0"/>
                <a:ea typeface="Roboto Bold" pitchFamily="34" charset="-122"/>
                <a:cs typeface="Roboto Bold" pitchFamily="34" charset="-120"/>
              </a:rPr>
              <a:t>Planen:</a:t>
            </a:r>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 Energie ist begrenzt.</a:t>
            </a:r>
            <a:endParaRPr lang="en-US" sz="1400" dirty="0"/>
          </a:p>
        </p:txBody>
      </p:sp>
      <p:pic>
        <p:nvPicPr>
          <p:cNvPr id="11" name="Image 4" descr="preencoded.png">    </p:cNvPr>
          <p:cNvPicPr>
            <a:picLocks noChangeAspect="1"/>
          </p:cNvPicPr>
          <p:nvPr/>
        </p:nvPicPr>
        <p:blipFill>
          <a:blip r:embed="rId5"/>
          <a:stretch>
            <a:fillRect/>
          </a:stretch>
        </p:blipFill>
        <p:spPr>
          <a:xfrm>
            <a:off x="609585" y="4391819"/>
            <a:ext cx="444489" cy="444500"/>
          </a:xfrm>
          <a:prstGeom prst="rect">
            <a:avLst/>
          </a:prstGeom>
        </p:spPr>
      </p:pic>
      <p:sp>
        <p:nvSpPr>
          <p:cNvPr id="12" name="Text 5"/>
          <p:cNvSpPr/>
          <p:nvPr/>
        </p:nvSpPr>
        <p:spPr>
          <a:xfrm>
            <a:off x="609585" y="4941094"/>
            <a:ext cx="2682213" cy="497681"/>
          </a:xfrm>
          <a:prstGeom prst="rect">
            <a:avLst/>
          </a:prstGeom>
          <a:noFill/>
          <a:ln/>
        </p:spPr>
        <p:txBody>
          <a:bodyPr wrap="square" lIns="0" tIns="0" rIns="0" bIns="0" rtlCol="0" anchor="t">
            <a:normAutofit/>
          </a:bodyPr>
          <a:lstStyle/>
          <a:p>
            <a:pPr algn="l" indent="0" marL="0">
              <a:lnSpc>
                <a:spcPct val="117000"/>
              </a:lnSpc>
              <a:buNone/>
            </a:pPr>
            <a:r>
              <a:rPr lang="en-US" sz="1400" b="1" dirty="0">
                <a:solidFill>
                  <a:srgbClr val="D6E5EF"/>
                </a:solidFill>
                <a:latin typeface="Roboto Bold" pitchFamily="34" charset="0"/>
                <a:ea typeface="Roboto Bold" pitchFamily="34" charset="-122"/>
                <a:cs typeface="Roboto Bold" pitchFamily="34" charset="-120"/>
              </a:rPr>
              <a:t>Punkten:</a:t>
            </a:r>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 geeignete Felder besetzen.</a:t>
            </a:r>
            <a:endParaRPr lang="en-US" sz="1400" dirty="0"/>
          </a:p>
        </p:txBody>
      </p:sp>
      <p:pic>
        <p:nvPicPr>
          <p:cNvPr id="13" name="Image 5" descr="preencoded.png">    </p:cNvPr>
          <p:cNvPicPr>
            <a:picLocks noChangeAspect="1"/>
          </p:cNvPicPr>
          <p:nvPr/>
        </p:nvPicPr>
        <p:blipFill>
          <a:blip r:embed="rId6"/>
          <a:stretch>
            <a:fillRect/>
          </a:stretch>
        </p:blipFill>
        <p:spPr>
          <a:xfrm>
            <a:off x="3444194" y="4391819"/>
            <a:ext cx="444489" cy="444500"/>
          </a:xfrm>
          <a:prstGeom prst="rect">
            <a:avLst/>
          </a:prstGeom>
        </p:spPr>
      </p:pic>
      <p:sp>
        <p:nvSpPr>
          <p:cNvPr id="14" name="Text 6"/>
          <p:cNvSpPr/>
          <p:nvPr/>
        </p:nvSpPr>
        <p:spPr>
          <a:xfrm>
            <a:off x="3444194" y="4941094"/>
            <a:ext cx="2682213" cy="248841"/>
          </a:xfrm>
          <a:prstGeom prst="rect">
            <a:avLst/>
          </a:prstGeom>
          <a:noFill/>
          <a:ln/>
        </p:spPr>
        <p:txBody>
          <a:bodyPr wrap="none" lIns="0" tIns="0" rIns="0" bIns="0" rtlCol="0" anchor="t"/>
          <a:lstStyle/>
          <a:p>
            <a:pPr algn="l" indent="0" marL="0">
              <a:lnSpc>
                <a:spcPct val="117000"/>
              </a:lnSpc>
              <a:buNone/>
            </a:pPr>
            <a:r>
              <a:rPr lang="en-US" sz="1400" b="1" dirty="0">
                <a:solidFill>
                  <a:srgbClr val="D6E5EF"/>
                </a:solidFill>
                <a:latin typeface="Roboto Bold" pitchFamily="34" charset="0"/>
                <a:ea typeface="Roboto Bold" pitchFamily="34" charset="-122"/>
                <a:cs typeface="Roboto Bold" pitchFamily="34" charset="-120"/>
              </a:rPr>
              <a:t>Kurs:</a:t>
            </a:r>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 3 Matches je Spiel</a:t>
            </a:r>
            <a:endParaRPr lang="en-US" sz="1400" dirty="0"/>
          </a:p>
        </p:txBody>
      </p:sp>
      <p:sp>
        <p:nvSpPr>
          <p:cNvPr id="15" name="Shape 7"/>
          <p:cNvSpPr/>
          <p:nvPr/>
        </p:nvSpPr>
        <p:spPr>
          <a:xfrm>
            <a:off x="7040684" y="0"/>
            <a:ext cx="5151011" cy="6858000"/>
          </a:xfrm>
          <a:prstGeom prst="rect">
            <a:avLst/>
          </a:prstGeom>
          <a:solidFill>
            <a:srgbClr val="3F4652"/>
          </a:solidFill>
          <a:ln/>
        </p:spPr>
      </p:sp>
      <p:pic>
        <p:nvPicPr>
          <p:cNvPr id="16" name="Image 6" descr="preencoded.png">    </p:cNvPr>
          <p:cNvPicPr>
            <a:picLocks noChangeAspect="1"/>
          </p:cNvPicPr>
          <p:nvPr/>
        </p:nvPicPr>
        <p:blipFill>
          <a:blip r:embed="rId7"/>
          <a:stretch>
            <a:fillRect/>
          </a:stretch>
        </p:blipFill>
        <p:spPr>
          <a:xfrm>
            <a:off x="7040684" y="0"/>
            <a:ext cx="4190895" cy="4953000"/>
          </a:xfrm>
          <a:prstGeom prst="rect">
            <a:avLst/>
          </a:prstGeom>
        </p:spPr>
      </p:pic>
      <p:sp>
        <p:nvSpPr>
          <p:cNvPr id="17" name="Text 8"/>
          <p:cNvSpPr/>
          <p:nvPr/>
        </p:nvSpPr>
        <p:spPr>
          <a:xfrm>
            <a:off x="11512163" y="6466086"/>
            <a:ext cx="679532"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2395336"/>
            <a:ext cx="10972526" cy="650180"/>
          </a:xfrm>
          <a:prstGeom prst="rect">
            <a:avLst/>
          </a:prstGeom>
          <a:noFill/>
          <a:ln/>
        </p:spPr>
        <p:txBody>
          <a:bodyPr wrap="none" lIns="0" tIns="101598" rIns="0" bIns="101598" rtlCol="0" anchor="t"/>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Sherlock verbindet Gedächtnis und Lernen</a:t>
            </a:r>
            <a:endParaRPr lang="en-US" sz="3200" dirty="0"/>
          </a:p>
        </p:txBody>
      </p:sp>
      <p:sp>
        <p:nvSpPr>
          <p:cNvPr id="3" name="Text 1"/>
          <p:cNvSpPr/>
          <p:nvPr/>
        </p:nvSpPr>
        <p:spPr>
          <a:xfrm>
            <a:off x="609585" y="3101975"/>
            <a:ext cx="812780" cy="177800"/>
          </a:xfrm>
          <a:prstGeom prst="rect">
            <a:avLst/>
          </a:prstGeom>
          <a:noFill/>
          <a:ln/>
        </p:spPr>
        <p:txBody>
          <a:bodyPr wrap="none" lIns="0" tIns="0" rIns="0" bIns="0" rtlCol="0" anchor="t"/>
          <a:lstStyle/>
          <a:p>
            <a:pPr algn="l" indent="0" marL="0">
              <a:lnSpc>
                <a:spcPct val="83000"/>
              </a:lnSpc>
              <a:buNone/>
            </a:pPr>
            <a:r>
              <a:rPr lang="en-US" sz="1400" dirty="0">
                <a:solidFill>
                  <a:srgbClr val="66A8EE"/>
                </a:solidFill>
                <a:latin typeface="Roboto SemiBold" pitchFamily="34" charset="0"/>
                <a:ea typeface="Roboto SemiBold" pitchFamily="34" charset="-122"/>
                <a:cs typeface="Roboto SemiBold" pitchFamily="34" charset="-120"/>
              </a:rPr>
              <a:t>01</a:t>
            </a:r>
            <a:endParaRPr lang="en-US" sz="1400" dirty="0"/>
          </a:p>
        </p:txBody>
      </p:sp>
      <p:sp>
        <p:nvSpPr>
          <p:cNvPr id="4" name="Shape 2"/>
          <p:cNvSpPr/>
          <p:nvPr/>
        </p:nvSpPr>
        <p:spPr>
          <a:xfrm>
            <a:off x="609585" y="3350915"/>
            <a:ext cx="3454314" cy="19050"/>
          </a:xfrm>
          <a:prstGeom prst="rect">
            <a:avLst/>
          </a:prstGeom>
          <a:solidFill>
            <a:srgbClr val="66A8EE"/>
          </a:solidFill>
          <a:ln/>
        </p:spPr>
      </p:sp>
      <p:sp>
        <p:nvSpPr>
          <p:cNvPr id="5" name="Text 3"/>
          <p:cNvSpPr/>
          <p:nvPr/>
        </p:nvSpPr>
        <p:spPr>
          <a:xfrm>
            <a:off x="609585" y="3425825"/>
            <a:ext cx="3454314" cy="406400"/>
          </a:xfrm>
          <a:prstGeom prst="rect">
            <a:avLst/>
          </a:prstGeom>
          <a:noFill/>
          <a:ln/>
        </p:spPr>
        <p:txBody>
          <a:bodyPr wrap="none" lIns="0" tIns="63498" rIns="0" bIns="63498" rtlCol="0" anchor="t"/>
          <a:lstStyle/>
          <a:p>
            <a:pPr algn="l" indent="0" marL="0">
              <a:lnSpc>
                <a:spcPct val="92000"/>
              </a:lnSpc>
              <a:buNone/>
            </a:pPr>
            <a:r>
              <a:rPr lang="en-US" sz="2000" dirty="0">
                <a:solidFill>
                  <a:srgbClr val="76B9FF"/>
                </a:solidFill>
                <a:latin typeface="Inter" pitchFamily="34" charset="0"/>
                <a:ea typeface="Inter" pitchFamily="34" charset="-122"/>
                <a:cs typeface="Inter" pitchFamily="34" charset="-120"/>
              </a:rPr>
              <a:t>Merken</a:t>
            </a:r>
            <a:endParaRPr lang="en-US" sz="2000" dirty="0"/>
          </a:p>
        </p:txBody>
      </p:sp>
      <p:sp>
        <p:nvSpPr>
          <p:cNvPr id="6" name="Text 4"/>
          <p:cNvSpPr/>
          <p:nvPr/>
        </p:nvSpPr>
        <p:spPr>
          <a:xfrm>
            <a:off x="609585" y="3883025"/>
            <a:ext cx="3454314"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Beobachtungen sammeln und Punktefelder erschließen.</a:t>
            </a:r>
            <a:endParaRPr lang="en-US" sz="1400" dirty="0"/>
          </a:p>
        </p:txBody>
      </p:sp>
      <p:sp>
        <p:nvSpPr>
          <p:cNvPr id="7" name="Text 5"/>
          <p:cNvSpPr/>
          <p:nvPr/>
        </p:nvSpPr>
        <p:spPr>
          <a:xfrm>
            <a:off x="4368691" y="3101975"/>
            <a:ext cx="812780" cy="177800"/>
          </a:xfrm>
          <a:prstGeom prst="rect">
            <a:avLst/>
          </a:prstGeom>
          <a:noFill/>
          <a:ln/>
        </p:spPr>
        <p:txBody>
          <a:bodyPr wrap="none" lIns="0" tIns="0" rIns="0" bIns="0" rtlCol="0" anchor="t"/>
          <a:lstStyle/>
          <a:p>
            <a:pPr algn="l" indent="0" marL="0">
              <a:lnSpc>
                <a:spcPct val="83000"/>
              </a:lnSpc>
              <a:buNone/>
            </a:pPr>
            <a:r>
              <a:rPr lang="en-US" sz="1400" dirty="0">
                <a:solidFill>
                  <a:srgbClr val="66A8EE"/>
                </a:solidFill>
                <a:latin typeface="Roboto SemiBold" pitchFamily="34" charset="0"/>
                <a:ea typeface="Roboto SemiBold" pitchFamily="34" charset="-122"/>
                <a:cs typeface="Roboto SemiBold" pitchFamily="34" charset="-120"/>
              </a:rPr>
              <a:t>02</a:t>
            </a:r>
            <a:endParaRPr lang="en-US" sz="1400" dirty="0"/>
          </a:p>
        </p:txBody>
      </p:sp>
      <p:sp>
        <p:nvSpPr>
          <p:cNvPr id="8" name="Shape 6"/>
          <p:cNvSpPr/>
          <p:nvPr/>
        </p:nvSpPr>
        <p:spPr>
          <a:xfrm>
            <a:off x="4368691" y="3350915"/>
            <a:ext cx="3454314" cy="19050"/>
          </a:xfrm>
          <a:prstGeom prst="rect">
            <a:avLst/>
          </a:prstGeom>
          <a:solidFill>
            <a:srgbClr val="66A8EE"/>
          </a:solidFill>
          <a:ln/>
        </p:spPr>
      </p:sp>
      <p:sp>
        <p:nvSpPr>
          <p:cNvPr id="9" name="Text 7"/>
          <p:cNvSpPr/>
          <p:nvPr/>
        </p:nvSpPr>
        <p:spPr>
          <a:xfrm>
            <a:off x="4368691" y="3425825"/>
            <a:ext cx="3454314" cy="406400"/>
          </a:xfrm>
          <a:prstGeom prst="rect">
            <a:avLst/>
          </a:prstGeom>
          <a:noFill/>
          <a:ln/>
        </p:spPr>
        <p:txBody>
          <a:bodyPr wrap="none" lIns="0" tIns="63498" rIns="0" bIns="63498" rtlCol="0" anchor="t"/>
          <a:lstStyle/>
          <a:p>
            <a:pPr algn="l" indent="0" marL="0">
              <a:lnSpc>
                <a:spcPct val="92000"/>
              </a:lnSpc>
              <a:buNone/>
            </a:pPr>
            <a:r>
              <a:rPr lang="en-US" sz="2000" dirty="0">
                <a:solidFill>
                  <a:srgbClr val="76B9FF"/>
                </a:solidFill>
                <a:latin typeface="Inter" pitchFamily="34" charset="0"/>
                <a:ea typeface="Inter" pitchFamily="34" charset="-122"/>
                <a:cs typeface="Inter" pitchFamily="34" charset="-120"/>
              </a:rPr>
              <a:t>Bewerten</a:t>
            </a:r>
            <a:endParaRPr lang="en-US" sz="2000" dirty="0"/>
          </a:p>
        </p:txBody>
      </p:sp>
      <p:sp>
        <p:nvSpPr>
          <p:cNvPr id="10" name="Text 8"/>
          <p:cNvSpPr/>
          <p:nvPr/>
        </p:nvSpPr>
        <p:spPr>
          <a:xfrm>
            <a:off x="4368691" y="3883025"/>
            <a:ext cx="3454314"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Sechs trainierte Netze schätzen den Nutzen der Aktionen.</a:t>
            </a:r>
            <a:endParaRPr lang="en-US" sz="1400" dirty="0"/>
          </a:p>
        </p:txBody>
      </p:sp>
      <p:sp>
        <p:nvSpPr>
          <p:cNvPr id="11" name="Text 9"/>
          <p:cNvSpPr/>
          <p:nvPr/>
        </p:nvSpPr>
        <p:spPr>
          <a:xfrm>
            <a:off x="8127797" y="3101975"/>
            <a:ext cx="812780" cy="177800"/>
          </a:xfrm>
          <a:prstGeom prst="rect">
            <a:avLst/>
          </a:prstGeom>
          <a:noFill/>
          <a:ln/>
        </p:spPr>
        <p:txBody>
          <a:bodyPr wrap="none" lIns="0" tIns="0" rIns="0" bIns="0" rtlCol="0" anchor="t"/>
          <a:lstStyle/>
          <a:p>
            <a:pPr algn="l" indent="0" marL="0">
              <a:lnSpc>
                <a:spcPct val="83000"/>
              </a:lnSpc>
              <a:buNone/>
            </a:pPr>
            <a:r>
              <a:rPr lang="en-US" sz="1400" dirty="0">
                <a:solidFill>
                  <a:srgbClr val="66A8EE"/>
                </a:solidFill>
                <a:latin typeface="Roboto SemiBold" pitchFamily="34" charset="0"/>
                <a:ea typeface="Roboto SemiBold" pitchFamily="34" charset="-122"/>
                <a:cs typeface="Roboto SemiBold" pitchFamily="34" charset="-120"/>
              </a:rPr>
              <a:t>03</a:t>
            </a:r>
            <a:endParaRPr lang="en-US" sz="1400" dirty="0"/>
          </a:p>
        </p:txBody>
      </p:sp>
      <p:sp>
        <p:nvSpPr>
          <p:cNvPr id="12" name="Shape 10"/>
          <p:cNvSpPr/>
          <p:nvPr/>
        </p:nvSpPr>
        <p:spPr>
          <a:xfrm>
            <a:off x="8127797" y="3350915"/>
            <a:ext cx="3454314" cy="19050"/>
          </a:xfrm>
          <a:prstGeom prst="rect">
            <a:avLst/>
          </a:prstGeom>
          <a:solidFill>
            <a:srgbClr val="66A8EE"/>
          </a:solidFill>
          <a:ln/>
        </p:spPr>
      </p:sp>
      <p:sp>
        <p:nvSpPr>
          <p:cNvPr id="13" name="Text 11"/>
          <p:cNvSpPr/>
          <p:nvPr/>
        </p:nvSpPr>
        <p:spPr>
          <a:xfrm>
            <a:off x="8127797" y="3425825"/>
            <a:ext cx="3454314" cy="406400"/>
          </a:xfrm>
          <a:prstGeom prst="rect">
            <a:avLst/>
          </a:prstGeom>
          <a:noFill/>
          <a:ln/>
        </p:spPr>
        <p:txBody>
          <a:bodyPr wrap="none" lIns="0" tIns="63498" rIns="0" bIns="63498" rtlCol="0" anchor="t"/>
          <a:lstStyle/>
          <a:p>
            <a:pPr algn="l" indent="0" marL="0">
              <a:lnSpc>
                <a:spcPct val="92000"/>
              </a:lnSpc>
              <a:buNone/>
            </a:pPr>
            <a:r>
              <a:rPr lang="en-US" sz="2000" dirty="0">
                <a:solidFill>
                  <a:srgbClr val="76B9FF"/>
                </a:solidFill>
                <a:latin typeface="Inter" pitchFamily="34" charset="0"/>
                <a:ea typeface="Inter" pitchFamily="34" charset="-122"/>
                <a:cs typeface="Inter" pitchFamily="34" charset="-120"/>
              </a:rPr>
              <a:t>Handeln</a:t>
            </a:r>
            <a:endParaRPr lang="en-US" sz="2000" dirty="0"/>
          </a:p>
        </p:txBody>
      </p:sp>
      <p:sp>
        <p:nvSpPr>
          <p:cNvPr id="14" name="Text 12"/>
          <p:cNvSpPr/>
          <p:nvPr/>
        </p:nvSpPr>
        <p:spPr>
          <a:xfrm>
            <a:off x="8127797" y="3883025"/>
            <a:ext cx="3454314"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Q-Werte mitteln; die beste erlaubte Aktion auswählen.</a:t>
            </a:r>
            <a:endParaRPr lang="en-US" sz="1400" dirty="0"/>
          </a:p>
        </p:txBody>
      </p:sp>
      <p:sp>
        <p:nvSpPr>
          <p:cNvPr id="15" name="Text 13"/>
          <p:cNvSpPr/>
          <p:nvPr/>
        </p:nvSpPr>
        <p:spPr>
          <a:xfrm>
            <a:off x="11512163" y="6466086"/>
            <a:ext cx="679532"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527741"/>
            <a:ext cx="10972526" cy="650180"/>
          </a:xfrm>
          <a:prstGeom prst="rect">
            <a:avLst/>
          </a:prstGeom>
          <a:noFill/>
          <a:ln/>
        </p:spPr>
        <p:txBody>
          <a:bodyPr wrap="none" lIns="0" tIns="101598" rIns="0" bIns="101598" rtlCol="0" anchor="t"/>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79 Merkmale machen die Situation greifbar</a:t>
            </a:r>
            <a:endParaRPr lang="en-US" sz="3200" dirty="0"/>
          </a:p>
        </p:txBody>
      </p:sp>
      <p:sp>
        <p:nvSpPr>
          <p:cNvPr id="3" name="Text 1"/>
          <p:cNvSpPr/>
          <p:nvPr/>
        </p:nvSpPr>
        <p:spPr>
          <a:xfrm>
            <a:off x="609585" y="1234380"/>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Belief: aus Beobachtungen Wissen über die Karte ableiten.</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1641971"/>
          <a:ext cx="10972526" cy="914400"/>
        </p:xfrm>
        <a:graphic>
          <a:graphicData uri="http://schemas.openxmlformats.org/drawingml/2006/table">
            <a:tbl>
              <a:tblPr/>
              <a:tblGrid>
                <a:gridCol w="3291698"/>
                <a:gridCol w="7680828"/>
              </a:tblGrid>
              <a:tr h="397262">
                <a:tc>
                  <a:txBody>
                    <a:bodyPr/>
                    <a:lstStyle/>
                    <a:p>
                      <a:pPr algn="l" indent="0" marL="0">
                        <a:buNone/>
                      </a:pPr>
                      <a:r>
                        <a:rPr lang="en-US" sz="1400" dirty="0">
                          <a:solidFill>
                            <a:srgbClr val="76B9FF"/>
                          </a:solidFill>
                          <a:latin typeface="Roboto" pitchFamily="34" charset="0"/>
                          <a:ea typeface="Roboto" pitchFamily="34" charset="-122"/>
                          <a:cs typeface="Roboto" pitchFamily="34" charset="-120"/>
                        </a:rPr>
                        <a:t>Merkmalsgruppe</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202733"/>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76B9FF"/>
                          </a:solidFill>
                          <a:latin typeface="Roboto" pitchFamily="34" charset="0"/>
                          <a:ea typeface="Roboto" pitchFamily="34" charset="-122"/>
                          <a:cs typeface="Roboto" pitchFamily="34" charset="-120"/>
                        </a:rPr>
                        <a:t>Beispiele</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202733"/>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397262">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Eigene Einheit</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Position, Energie, mögliche Bewegung</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397262">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Umgebung und Gedächtnis</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Gelände, Relics, bekannte Punktefelder</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397262">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Ziele und Gegner</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Zielrichtung, Belegung, Sap-Möglichkeiten</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390912">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Spielkontext</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202733"/>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Matchfortschritt und Teamzustand</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202733"/>
                      </a:solidFill>
                      <a:prstDash val="solid"/>
                      <a:round/>
                      <a:headEnd type="none" w="med" len="med"/>
                      <a:tailEnd type="none" w="med" len="med"/>
                    </a:lnB>
                  </a:tcPr>
                </a:tc>
              </a:tr>
            </a:tbl>
          </a:graphicData>
        </a:graphic>
      </p:graphicFrame>
      <p:sp>
        <p:nvSpPr>
          <p:cNvPr id="5" name="Text 2"/>
          <p:cNvSpPr/>
          <p:nvPr/>
        </p:nvSpPr>
        <p:spPr>
          <a:xfrm>
            <a:off x="11512163" y="6466086"/>
            <a:ext cx="679532"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527741"/>
            <a:ext cx="5257668" cy="1097161"/>
          </a:xfrm>
          <a:prstGeom prst="rect">
            <a:avLst/>
          </a:prstGeom>
          <a:noFill/>
          <a:ln/>
        </p:spPr>
        <p:txBody>
          <a:bodyPr wrap="square" lIns="0" tIns="101598" rIns="0" bIns="101598" rtlCol="0" anchor="t">
            <a:normAutofit/>
          </a:bodyPr>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Sechs Netze bewerten dieselben sechs Aktionen</a:t>
            </a:r>
            <a:endParaRPr lang="en-US" sz="3200" dirty="0"/>
          </a:p>
        </p:txBody>
      </p:sp>
      <p:sp>
        <p:nvSpPr>
          <p:cNvPr id="3" name="Text 1"/>
          <p:cNvSpPr/>
          <p:nvPr/>
        </p:nvSpPr>
        <p:spPr>
          <a:xfrm>
            <a:off x="609585" y="1515967"/>
            <a:ext cx="5257668" cy="952500"/>
          </a:xfrm>
          <a:prstGeom prst="rect">
            <a:avLst/>
          </a:prstGeom>
          <a:noFill/>
          <a:ln/>
        </p:spPr>
        <p:txBody>
          <a:bodyPr wrap="none" lIns="0" tIns="158746" rIns="0" bIns="158746" rtlCol="0" anchor="t"/>
          <a:lstStyle/>
          <a:p>
            <a:pPr algn="l" indent="0" marL="0">
              <a:lnSpc>
                <a:spcPct val="83000"/>
              </a:lnSpc>
              <a:buNone/>
            </a:pPr>
            <a:r>
              <a:rPr lang="en-US" sz="5000" dirty="0">
                <a:solidFill>
                  <a:srgbClr val="76B9FF"/>
                </a:solidFill>
                <a:latin typeface="Inter" pitchFamily="34" charset="0"/>
                <a:ea typeface="Inter" pitchFamily="34" charset="-122"/>
                <a:cs typeface="Inter" pitchFamily="34" charset="-120"/>
              </a:rPr>
              <a:t>79 → 256 → 256</a:t>
            </a:r>
            <a:endParaRPr lang="en-US" sz="5000" dirty="0"/>
          </a:p>
        </p:txBody>
      </p:sp>
      <p:sp>
        <p:nvSpPr>
          <p:cNvPr id="4" name="Text 2"/>
          <p:cNvSpPr/>
          <p:nvPr/>
        </p:nvSpPr>
        <p:spPr>
          <a:xfrm>
            <a:off x="609585" y="2421136"/>
            <a:ext cx="5257668" cy="851297"/>
          </a:xfrm>
          <a:prstGeom prst="rect">
            <a:avLst/>
          </a:prstGeom>
          <a:noFill/>
          <a:ln/>
        </p:spPr>
        <p:txBody>
          <a:bodyPr wrap="square" lIns="0" tIns="0" rIns="0" bIns="0" rtlCol="0" anchor="t"/>
          <a:lstStyle/>
          <a:p>
            <a:pPr algn="l" indent="0" marL="0">
              <a:lnSpc>
                <a:spcPct val="117000"/>
              </a:lnSpc>
              <a:spcAft>
                <a:spcPts val="800"/>
              </a:spcAft>
              <a:buNone/>
            </a:pPr>
            <a:r>
              <a:rPr lang="en-US" sz="1400" dirty="0">
                <a:solidFill>
                  <a:srgbClr val="D6E5EF"/>
                </a:solidFill>
                <a:latin typeface="Roboto" pitchFamily="34" charset="0"/>
                <a:ea typeface="Roboto" pitchFamily="34" charset="-122"/>
                <a:cs typeface="Roboto" pitchFamily="34" charset="-120"/>
              </a:rPr>
              <a:t>Pro Einheit: gemeinsame MLP-Schichten mit ReLU.</a:t>
            </a:r>
            <a:endParaRPr lang="en-US" sz="1400" dirty="0"/>
          </a:p>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Ensemble: 3 × full + 3 × full_sym → Q-Mittelwert → Aktionsmaske → beste erlaubte Aktion</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24442" y="1099443"/>
          <a:ext cx="5257669" cy="914400"/>
        </p:xfrm>
        <a:graphic>
          <a:graphicData uri="http://schemas.openxmlformats.org/drawingml/2006/table">
            <a:tbl>
              <a:tblPr/>
              <a:tblGrid>
                <a:gridCol w="1752556"/>
                <a:gridCol w="1752556"/>
                <a:gridCol w="1752556"/>
              </a:tblGrid>
              <a:tr h="397262">
                <a:tc>
                  <a:txBody>
                    <a:bodyPr/>
                    <a:lstStyle/>
                    <a:p>
                      <a:pPr algn="l" indent="0" marL="0">
                        <a:buNone/>
                      </a:pPr>
                      <a:r>
                        <a:rPr lang="en-US" sz="1400" dirty="0">
                          <a:solidFill>
                            <a:srgbClr val="76B9FF"/>
                          </a:solidFill>
                          <a:latin typeface="Roboto" pitchFamily="34" charset="0"/>
                          <a:ea typeface="Roboto" pitchFamily="34" charset="-122"/>
                          <a:cs typeface="Roboto" pitchFamily="34" charset="-120"/>
                        </a:rPr>
                        <a:t>Dueling-Kopf</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202733"/>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76B9FF"/>
                          </a:solidFill>
                          <a:latin typeface="Roboto" pitchFamily="34" charset="0"/>
                          <a:ea typeface="Roboto" pitchFamily="34" charset="-122"/>
                          <a:cs typeface="Roboto" pitchFamily="34" charset="-120"/>
                        </a:rPr>
                        <a:t>Schichten</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202733"/>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76B9FF"/>
                          </a:solidFill>
                          <a:latin typeface="Roboto" pitchFamily="34" charset="0"/>
                          <a:ea typeface="Roboto" pitchFamily="34" charset="-122"/>
                          <a:cs typeface="Roboto" pitchFamily="34" charset="-120"/>
                        </a:rPr>
                        <a:t>Ausgabe</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202733"/>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646096">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Zustandswert V</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256 → 128 → 1</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Ein Wert für die Situation</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639747">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Aktionsvorteil A</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202733"/>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256 → 128 → 6</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202733"/>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Ein Wert pro Aktion</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202733"/>
                      </a:solidFill>
                      <a:prstDash val="solid"/>
                      <a:round/>
                      <a:headEnd type="none" w="med" len="med"/>
                      <a:tailEnd type="none" w="med" len="med"/>
                    </a:lnB>
                  </a:tcPr>
                </a:tc>
              </a:tr>
            </a:tbl>
          </a:graphicData>
        </a:graphic>
      </p:graphicFrame>
      <p:sp>
        <p:nvSpPr>
          <p:cNvPr id="6" name="Text 3"/>
          <p:cNvSpPr/>
          <p:nvPr/>
        </p:nvSpPr>
        <p:spPr>
          <a:xfrm>
            <a:off x="11512163" y="6466086"/>
            <a:ext cx="679532"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527741"/>
            <a:ext cx="10972526" cy="650180"/>
          </a:xfrm>
          <a:prstGeom prst="rect">
            <a:avLst/>
          </a:prstGeom>
          <a:noFill/>
          <a:ln/>
        </p:spPr>
        <p:txBody>
          <a:bodyPr wrap="none" lIns="0" tIns="101598" rIns="0" bIns="101598" rtlCol="0" anchor="t"/>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Double DQN: auswählen und bewerten trennen</a:t>
            </a:r>
            <a:endParaRPr lang="en-US" sz="3200" dirty="0"/>
          </a:p>
        </p:txBody>
      </p:sp>
      <p:sp>
        <p:nvSpPr>
          <p:cNvPr id="3" name="Text 1"/>
          <p:cNvSpPr/>
          <p:nvPr/>
        </p:nvSpPr>
        <p:spPr>
          <a:xfrm>
            <a:off x="609585" y="1234380"/>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Vereinfachter Trainingsschritt</a:t>
            </a:r>
            <a:endParaRPr lang="en-US" sz="1400" dirty="0"/>
          </a:p>
        </p:txBody>
      </p:sp>
      <p:sp>
        <p:nvSpPr>
          <p:cNvPr id="4" name="Text 2"/>
          <p:cNvSpPr/>
          <p:nvPr/>
        </p:nvSpPr>
        <p:spPr>
          <a:xfrm>
            <a:off x="609585" y="1641971"/>
            <a:ext cx="812780" cy="177800"/>
          </a:xfrm>
          <a:prstGeom prst="rect">
            <a:avLst/>
          </a:prstGeom>
          <a:noFill/>
          <a:ln/>
        </p:spPr>
        <p:txBody>
          <a:bodyPr wrap="none" lIns="0" tIns="0" rIns="0" bIns="0" rtlCol="0" anchor="t"/>
          <a:lstStyle/>
          <a:p>
            <a:pPr algn="l" indent="0" marL="0">
              <a:lnSpc>
                <a:spcPct val="83000"/>
              </a:lnSpc>
              <a:buNone/>
            </a:pPr>
            <a:r>
              <a:rPr lang="en-US" sz="1400" dirty="0">
                <a:solidFill>
                  <a:srgbClr val="66A8EE"/>
                </a:solidFill>
                <a:latin typeface="Roboto SemiBold" pitchFamily="34" charset="0"/>
                <a:ea typeface="Roboto SemiBold" pitchFamily="34" charset="-122"/>
                <a:cs typeface="Roboto SemiBold" pitchFamily="34" charset="-120"/>
              </a:rPr>
              <a:t>01</a:t>
            </a:r>
            <a:endParaRPr lang="en-US" sz="1400" dirty="0"/>
          </a:p>
        </p:txBody>
      </p:sp>
      <p:sp>
        <p:nvSpPr>
          <p:cNvPr id="5" name="Shape 3"/>
          <p:cNvSpPr/>
          <p:nvPr/>
        </p:nvSpPr>
        <p:spPr>
          <a:xfrm>
            <a:off x="609585" y="1890911"/>
            <a:ext cx="10972526" cy="19050"/>
          </a:xfrm>
          <a:prstGeom prst="rect">
            <a:avLst/>
          </a:prstGeom>
          <a:solidFill>
            <a:srgbClr val="66A8EE"/>
          </a:solidFill>
          <a:ln/>
        </p:spPr>
      </p:sp>
      <p:sp>
        <p:nvSpPr>
          <p:cNvPr id="6" name="Text 4"/>
          <p:cNvSpPr/>
          <p:nvPr/>
        </p:nvSpPr>
        <p:spPr>
          <a:xfrm>
            <a:off x="609585" y="2016621"/>
            <a:ext cx="10972526"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Ziehe Übergänge (s, a, r, s′, Ende) aus dem Buffer.</a:t>
            </a:r>
            <a:endParaRPr lang="en-US" sz="1400" dirty="0"/>
          </a:p>
        </p:txBody>
      </p:sp>
      <p:sp>
        <p:nvSpPr>
          <p:cNvPr id="7" name="Text 5"/>
          <p:cNvSpPr/>
          <p:nvPr/>
        </p:nvSpPr>
        <p:spPr>
          <a:xfrm>
            <a:off x="609585" y="2417762"/>
            <a:ext cx="812780" cy="177800"/>
          </a:xfrm>
          <a:prstGeom prst="rect">
            <a:avLst/>
          </a:prstGeom>
          <a:noFill/>
          <a:ln/>
        </p:spPr>
        <p:txBody>
          <a:bodyPr wrap="none" lIns="0" tIns="0" rIns="0" bIns="0" rtlCol="0" anchor="t"/>
          <a:lstStyle/>
          <a:p>
            <a:pPr algn="l" indent="0" marL="0">
              <a:lnSpc>
                <a:spcPct val="83000"/>
              </a:lnSpc>
              <a:buNone/>
            </a:pPr>
            <a:r>
              <a:rPr lang="en-US" sz="1400" dirty="0">
                <a:solidFill>
                  <a:srgbClr val="66A8EE"/>
                </a:solidFill>
                <a:latin typeface="Roboto SemiBold" pitchFamily="34" charset="0"/>
                <a:ea typeface="Roboto SemiBold" pitchFamily="34" charset="-122"/>
                <a:cs typeface="Roboto SemiBold" pitchFamily="34" charset="-120"/>
              </a:rPr>
              <a:t>02</a:t>
            </a:r>
            <a:endParaRPr lang="en-US" sz="1400" dirty="0"/>
          </a:p>
        </p:txBody>
      </p:sp>
      <p:sp>
        <p:nvSpPr>
          <p:cNvPr id="8" name="Shape 6"/>
          <p:cNvSpPr/>
          <p:nvPr/>
        </p:nvSpPr>
        <p:spPr>
          <a:xfrm>
            <a:off x="609585" y="2666702"/>
            <a:ext cx="10972526" cy="19050"/>
          </a:xfrm>
          <a:prstGeom prst="rect">
            <a:avLst/>
          </a:prstGeom>
          <a:solidFill>
            <a:srgbClr val="66A8EE"/>
          </a:solidFill>
          <a:ln/>
        </p:spPr>
      </p:sp>
      <p:sp>
        <p:nvSpPr>
          <p:cNvPr id="9" name="Text 7"/>
          <p:cNvSpPr/>
          <p:nvPr/>
        </p:nvSpPr>
        <p:spPr>
          <a:xfrm>
            <a:off x="609585" y="2792413"/>
            <a:ext cx="10972526"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a* = beste erlaubte Folgeaktion laut Online-Netz</a:t>
            </a:r>
            <a:endParaRPr lang="en-US" sz="1400" dirty="0"/>
          </a:p>
        </p:txBody>
      </p:sp>
      <p:sp>
        <p:nvSpPr>
          <p:cNvPr id="10" name="Text 8"/>
          <p:cNvSpPr/>
          <p:nvPr/>
        </p:nvSpPr>
        <p:spPr>
          <a:xfrm>
            <a:off x="609585" y="3193554"/>
            <a:ext cx="812780" cy="177800"/>
          </a:xfrm>
          <a:prstGeom prst="rect">
            <a:avLst/>
          </a:prstGeom>
          <a:noFill/>
          <a:ln/>
        </p:spPr>
        <p:txBody>
          <a:bodyPr wrap="none" lIns="0" tIns="0" rIns="0" bIns="0" rtlCol="0" anchor="t"/>
          <a:lstStyle/>
          <a:p>
            <a:pPr algn="l" indent="0" marL="0">
              <a:lnSpc>
                <a:spcPct val="83000"/>
              </a:lnSpc>
              <a:buNone/>
            </a:pPr>
            <a:r>
              <a:rPr lang="en-US" sz="1400" dirty="0">
                <a:solidFill>
                  <a:srgbClr val="66A8EE"/>
                </a:solidFill>
                <a:latin typeface="Roboto SemiBold" pitchFamily="34" charset="0"/>
                <a:ea typeface="Roboto SemiBold" pitchFamily="34" charset="-122"/>
                <a:cs typeface="Roboto SemiBold" pitchFamily="34" charset="-120"/>
              </a:rPr>
              <a:t>03</a:t>
            </a:r>
            <a:endParaRPr lang="en-US" sz="1400" dirty="0"/>
          </a:p>
        </p:txBody>
      </p:sp>
      <p:sp>
        <p:nvSpPr>
          <p:cNvPr id="11" name="Shape 9"/>
          <p:cNvSpPr/>
          <p:nvPr/>
        </p:nvSpPr>
        <p:spPr>
          <a:xfrm>
            <a:off x="609585" y="3442494"/>
            <a:ext cx="10972526" cy="19050"/>
          </a:xfrm>
          <a:prstGeom prst="rect">
            <a:avLst/>
          </a:prstGeom>
          <a:solidFill>
            <a:srgbClr val="66A8EE"/>
          </a:solidFill>
          <a:ln/>
        </p:spPr>
      </p:sp>
      <p:sp>
        <p:nvSpPr>
          <p:cNvPr id="12" name="Text 10"/>
          <p:cNvSpPr/>
          <p:nvPr/>
        </p:nvSpPr>
        <p:spPr>
          <a:xfrm>
            <a:off x="609585" y="3568204"/>
            <a:ext cx="10972526"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Ziel = r + γ · Q_Target(s′, a*)  [ohne Folgewert bei Ende]</a:t>
            </a:r>
            <a:endParaRPr lang="en-US" sz="1400" dirty="0"/>
          </a:p>
        </p:txBody>
      </p:sp>
      <p:sp>
        <p:nvSpPr>
          <p:cNvPr id="13" name="Text 11"/>
          <p:cNvSpPr/>
          <p:nvPr/>
        </p:nvSpPr>
        <p:spPr>
          <a:xfrm>
            <a:off x="609585" y="3969345"/>
            <a:ext cx="812780" cy="177800"/>
          </a:xfrm>
          <a:prstGeom prst="rect">
            <a:avLst/>
          </a:prstGeom>
          <a:noFill/>
          <a:ln/>
        </p:spPr>
        <p:txBody>
          <a:bodyPr wrap="none" lIns="0" tIns="0" rIns="0" bIns="0" rtlCol="0" anchor="t"/>
          <a:lstStyle/>
          <a:p>
            <a:pPr algn="l" indent="0" marL="0">
              <a:lnSpc>
                <a:spcPct val="83000"/>
              </a:lnSpc>
              <a:buNone/>
            </a:pPr>
            <a:r>
              <a:rPr lang="en-US" sz="1400" dirty="0">
                <a:solidFill>
                  <a:srgbClr val="66A8EE"/>
                </a:solidFill>
                <a:latin typeface="Roboto SemiBold" pitchFamily="34" charset="0"/>
                <a:ea typeface="Roboto SemiBold" pitchFamily="34" charset="-122"/>
                <a:cs typeface="Roboto SemiBold" pitchFamily="34" charset="-120"/>
              </a:rPr>
              <a:t>04</a:t>
            </a:r>
            <a:endParaRPr lang="en-US" sz="1400" dirty="0"/>
          </a:p>
        </p:txBody>
      </p:sp>
      <p:sp>
        <p:nvSpPr>
          <p:cNvPr id="14" name="Shape 12"/>
          <p:cNvSpPr/>
          <p:nvPr/>
        </p:nvSpPr>
        <p:spPr>
          <a:xfrm>
            <a:off x="609585" y="4218285"/>
            <a:ext cx="10972526" cy="19050"/>
          </a:xfrm>
          <a:prstGeom prst="rect">
            <a:avLst/>
          </a:prstGeom>
          <a:solidFill>
            <a:srgbClr val="66A8EE"/>
          </a:solidFill>
          <a:ln/>
        </p:spPr>
      </p:sp>
      <p:sp>
        <p:nvSpPr>
          <p:cNvPr id="15" name="Text 13"/>
          <p:cNvSpPr/>
          <p:nvPr/>
        </p:nvSpPr>
        <p:spPr>
          <a:xfrm>
            <a:off x="609585" y="4343995"/>
            <a:ext cx="10972526"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Passe Q_Online(s, a) an das Ziel an.</a:t>
            </a:r>
            <a:endParaRPr lang="en-US" sz="1400" dirty="0"/>
          </a:p>
        </p:txBody>
      </p:sp>
      <p:sp>
        <p:nvSpPr>
          <p:cNvPr id="16" name="Text 14"/>
          <p:cNvSpPr/>
          <p:nvPr/>
        </p:nvSpPr>
        <p:spPr>
          <a:xfrm>
            <a:off x="609585" y="4745137"/>
            <a:ext cx="812780" cy="177800"/>
          </a:xfrm>
          <a:prstGeom prst="rect">
            <a:avLst/>
          </a:prstGeom>
          <a:noFill/>
          <a:ln/>
        </p:spPr>
        <p:txBody>
          <a:bodyPr wrap="none" lIns="0" tIns="0" rIns="0" bIns="0" rtlCol="0" anchor="t"/>
          <a:lstStyle/>
          <a:p>
            <a:pPr algn="l" indent="0" marL="0">
              <a:lnSpc>
                <a:spcPct val="83000"/>
              </a:lnSpc>
              <a:buNone/>
            </a:pPr>
            <a:r>
              <a:rPr lang="en-US" sz="1400" dirty="0">
                <a:solidFill>
                  <a:srgbClr val="66A8EE"/>
                </a:solidFill>
                <a:latin typeface="Roboto SemiBold" pitchFamily="34" charset="0"/>
                <a:ea typeface="Roboto SemiBold" pitchFamily="34" charset="-122"/>
                <a:cs typeface="Roboto SemiBold" pitchFamily="34" charset="-120"/>
              </a:rPr>
              <a:t>05</a:t>
            </a:r>
            <a:endParaRPr lang="en-US" sz="1400" dirty="0"/>
          </a:p>
        </p:txBody>
      </p:sp>
      <p:sp>
        <p:nvSpPr>
          <p:cNvPr id="17" name="Shape 15"/>
          <p:cNvSpPr/>
          <p:nvPr/>
        </p:nvSpPr>
        <p:spPr>
          <a:xfrm>
            <a:off x="609585" y="4994077"/>
            <a:ext cx="10972526" cy="19050"/>
          </a:xfrm>
          <a:prstGeom prst="rect">
            <a:avLst/>
          </a:prstGeom>
          <a:solidFill>
            <a:srgbClr val="66A8EE"/>
          </a:solidFill>
          <a:ln/>
        </p:spPr>
      </p:sp>
      <p:sp>
        <p:nvSpPr>
          <p:cNvPr id="18" name="Text 16"/>
          <p:cNvSpPr/>
          <p:nvPr/>
        </p:nvSpPr>
        <p:spPr>
          <a:xfrm>
            <a:off x="609585" y="5119787"/>
            <a:ext cx="10972526"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Kopiere das Online-Netz periodisch ins Target-Netz.</a:t>
            </a:r>
            <a:endParaRPr lang="en-US" sz="1400" dirty="0"/>
          </a:p>
        </p:txBody>
      </p:sp>
      <p:sp>
        <p:nvSpPr>
          <p:cNvPr id="19" name="Shape 17"/>
          <p:cNvSpPr/>
          <p:nvPr/>
        </p:nvSpPr>
        <p:spPr>
          <a:xfrm>
            <a:off x="609585" y="5527377"/>
            <a:ext cx="10972526" cy="693341"/>
          </a:xfrm>
          <a:prstGeom prst="roundRect">
            <a:avLst>
              <a:gd name="adj" fmla="val 3846"/>
            </a:avLst>
          </a:prstGeom>
          <a:solidFill>
            <a:srgbClr val="0D3E73"/>
          </a:solidFill>
          <a:ln/>
        </p:spPr>
      </p:sp>
      <p:sp>
        <p:nvSpPr>
          <p:cNvPr id="20" name="Text 18"/>
          <p:cNvSpPr/>
          <p:nvPr/>
        </p:nvSpPr>
        <p:spPr>
          <a:xfrm>
            <a:off x="787380" y="5749627"/>
            <a:ext cx="11226519" cy="248841"/>
          </a:xfrm>
          <a:prstGeom prst="rect">
            <a:avLst/>
          </a:prstGeom>
          <a:noFill/>
          <a:ln/>
        </p:spPr>
        <p:txBody>
          <a:bodyPr wrap="none" lIns="0" tIns="0" rIns="0" bIns="0" rtlCol="0" anchor="t"/>
          <a:lstStyle/>
          <a:p>
            <a:pPr algn="l" indent="0" marL="0">
              <a:lnSpc>
                <a:spcPct val="117000"/>
              </a:lnSpc>
              <a:buNone/>
            </a:pPr>
            <a:r>
              <a:rPr lang="en-US" sz="1400" dirty="0">
                <a:solidFill>
                  <a:srgbClr val="FFFFFF"/>
                </a:solidFill>
                <a:latin typeface="Roboto" pitchFamily="34" charset="0"/>
                <a:ea typeface="Roboto" pitchFamily="34" charset="-122"/>
                <a:cs typeface="Roboto" pitchFamily="34" charset="-120"/>
              </a:rPr>
              <a:t>Belohnung: Punkte + Matchsieg + zusätzliche Shaping-Signale</a:t>
            </a:r>
            <a:endParaRPr lang="en-US" sz="1400" dirty="0"/>
          </a:p>
        </p:txBody>
      </p:sp>
      <p:sp>
        <p:nvSpPr>
          <p:cNvPr id="21" name="Text 19"/>
          <p:cNvSpPr/>
          <p:nvPr/>
        </p:nvSpPr>
        <p:spPr>
          <a:xfrm>
            <a:off x="11512163" y="6466086"/>
            <a:ext cx="679532"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527741"/>
            <a:ext cx="10972526" cy="650180"/>
          </a:xfrm>
          <a:prstGeom prst="rect">
            <a:avLst/>
          </a:prstGeom>
          <a:noFill/>
          <a:ln/>
        </p:spPr>
        <p:txBody>
          <a:bodyPr wrap="none" lIns="0" tIns="101598" rIns="0" bIns="101598" rtlCol="0" anchor="t"/>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Sechs Trainingsläufe, danach feste Gewichte</a:t>
            </a:r>
            <a:endParaRPr lang="en-US" sz="3200" dirty="0"/>
          </a:p>
        </p:txBody>
      </p:sp>
      <p:sp>
        <p:nvSpPr>
          <p:cNvPr id="3" name="Text 1"/>
          <p:cNvSpPr/>
          <p:nvPr/>
        </p:nvSpPr>
        <p:spPr>
          <a:xfrm>
            <a:off x="609585" y="1260251"/>
            <a:ext cx="10972526" cy="1028700"/>
          </a:xfrm>
          <a:prstGeom prst="rect">
            <a:avLst/>
          </a:prstGeom>
          <a:noFill/>
          <a:ln/>
        </p:spPr>
        <p:txBody>
          <a:bodyPr wrap="none" lIns="0" tIns="171446" rIns="0" bIns="171446" rtlCol="0" anchor="t"/>
          <a:lstStyle/>
          <a:p>
            <a:pPr algn="l" indent="0" marL="0">
              <a:lnSpc>
                <a:spcPct val="83000"/>
              </a:lnSpc>
              <a:buNone/>
            </a:pPr>
            <a:r>
              <a:rPr lang="en-US" sz="5400" dirty="0">
                <a:solidFill>
                  <a:srgbClr val="76B9FF"/>
                </a:solidFill>
                <a:latin typeface="Inter" pitchFamily="34" charset="0"/>
                <a:ea typeface="Inter" pitchFamily="34" charset="-122"/>
                <a:cs typeface="Inter" pitchFamily="34" charset="-120"/>
              </a:rPr>
              <a:t>6 × 3.000 = 18.000</a:t>
            </a:r>
            <a:endParaRPr lang="en-US" sz="5400" dirty="0"/>
          </a:p>
        </p:txBody>
      </p:sp>
      <p:sp>
        <p:nvSpPr>
          <p:cNvPr id="4" name="Text 2"/>
          <p:cNvSpPr/>
          <p:nvPr/>
        </p:nvSpPr>
        <p:spPr>
          <a:xfrm>
            <a:off x="609585" y="2224980"/>
            <a:ext cx="10972526"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Trainingsspiele der sechs Basisläufe des aktuellen Ensembles.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2778621"/>
          <a:ext cx="10972526" cy="914400"/>
        </p:xfrm>
        <a:graphic>
          <a:graphicData uri="http://schemas.openxmlformats.org/drawingml/2006/table">
            <a:tbl>
              <a:tblPr/>
              <a:tblGrid>
                <a:gridCol w="3072232"/>
                <a:gridCol w="7900294"/>
              </a:tblGrid>
              <a:tr h="397262">
                <a:tc>
                  <a:txBody>
                    <a:bodyPr/>
                    <a:lstStyle/>
                    <a:p>
                      <a:pPr algn="l" indent="0" marL="0">
                        <a:buNone/>
                      </a:pPr>
                      <a:r>
                        <a:rPr lang="en-US" sz="1400" dirty="0">
                          <a:solidFill>
                            <a:srgbClr val="76B9FF"/>
                          </a:solidFill>
                          <a:latin typeface="Roboto" pitchFamily="34" charset="0"/>
                          <a:ea typeface="Roboto" pitchFamily="34" charset="-122"/>
                          <a:cs typeface="Roboto" pitchFamily="34" charset="-120"/>
                        </a:rPr>
                        <a:t>Phase</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202733"/>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76B9FF"/>
                          </a:solidFill>
                          <a:latin typeface="Roboto" pitchFamily="34" charset="0"/>
                          <a:ea typeface="Roboto" pitchFamily="34" charset="-122"/>
                          <a:cs typeface="Roboto" pitchFamily="34" charset="-120"/>
                        </a:rPr>
                        <a:t>Vorgehen</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202733"/>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397262">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Training</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Zuerst default; danach default und Solution_92</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397262">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Validierung</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Getrennte Karten; Checkpoints vergleichen</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390912">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Auswertung</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202733"/>
                      </a:solidFill>
                      <a:prstDash val="solid"/>
                      <a:round/>
                      <a:headEnd type="none" w="med" len="med"/>
                      <a:tailEnd type="none" w="med" len="med"/>
                    </a:lnB>
                  </a:tcPr>
                </a:tc>
                <a:tc>
                  <a:txBody>
                    <a:bodyPr/>
                    <a:lstStyle/>
                    <a:p>
                      <a:pPr algn="l" indent="0" marL="0">
                        <a:buNone/>
                      </a:pPr>
                      <a:r>
                        <a:rPr lang="en-US" sz="1400" dirty="0">
                          <a:solidFill>
                            <a:srgbClr val="D6E5EF"/>
                          </a:solidFill>
                          <a:latin typeface="Roboto" pitchFamily="34" charset="0"/>
                          <a:ea typeface="Roboto" pitchFamily="34" charset="-122"/>
                          <a:cs typeface="Roboto" pitchFamily="34" charset="-120"/>
                        </a:rPr>
                        <a:t>Beide Seiten; ε = 0; kein weiteres Lernen</a:t>
                      </a:r>
                      <a:endParaRPr lang="en-US" sz="1400" dirty="0">
                        <a:latin typeface="Roboto" charset="0"/>
                        <a:ea typeface="Roboto" charset="0"/>
                        <a:cs typeface="Roboto" charset="0"/>
                      </a:endParaRPr>
                    </a:p>
                  </a:txBody>
                  <a:tcPr marL="133347" marR="133347" marT="71118" marB="71118" anchor="ctr">
                    <a:lnL w="12700" cap="flat" cmpd="sng" algn="ctr">
                      <a:solidFill>
                        <a:srgbClr val="202733"/>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202733"/>
                      </a:solidFill>
                      <a:prstDash val="solid"/>
                      <a:round/>
                      <a:headEnd type="none" w="med" len="med"/>
                      <a:tailEnd type="none" w="med" len="med"/>
                    </a:lnB>
                  </a:tcPr>
                </a:tc>
              </a:tr>
            </a:tbl>
          </a:graphicData>
        </a:graphic>
      </p:graphicFrame>
      <p:sp>
        <p:nvSpPr>
          <p:cNvPr id="6" name="Text 3"/>
          <p:cNvSpPr/>
          <p:nvPr/>
        </p:nvSpPr>
        <p:spPr>
          <a:xfrm>
            <a:off x="11512163" y="6466086"/>
            <a:ext cx="679532"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527741"/>
            <a:ext cx="4724282" cy="650180"/>
          </a:xfrm>
          <a:prstGeom prst="rect">
            <a:avLst/>
          </a:prstGeom>
          <a:noFill/>
          <a:ln/>
        </p:spPr>
        <p:txBody>
          <a:bodyPr wrap="none" lIns="0" tIns="101598" rIns="0" bIns="101598" rtlCol="0" anchor="t"/>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Benchmark-Ergebnisse</a:t>
            </a:r>
            <a:endParaRPr lang="en-US" sz="3200" dirty="0"/>
          </a:p>
        </p:txBody>
      </p:sp>
      <p:sp>
        <p:nvSpPr>
          <p:cNvPr id="3" name="Text 1"/>
          <p:cNvSpPr/>
          <p:nvPr/>
        </p:nvSpPr>
        <p:spPr>
          <a:xfrm>
            <a:off x="609585" y="2725043"/>
            <a:ext cx="4724282" cy="542131"/>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D6E5EF"/>
                </a:solidFill>
                <a:latin typeface="Roboto" pitchFamily="34" charset="0"/>
                <a:ea typeface="Roboto" pitchFamily="34" charset="-122"/>
                <a:cs typeface="Roboto" pitchFamily="34" charset="-120"/>
              </a:rPr>
              <a:t>default: 60 von 60 Siege = 100,0 %</a:t>
            </a:r>
            <a:endParaRPr lang="en-US" sz="1400" dirty="0"/>
          </a:p>
          <a:p>
            <a:pPr algn="l" marL="284480" indent="-284480">
              <a:lnSpc>
                <a:spcPct val="117000"/>
              </a:lnSpc>
              <a:buSzPct val="100000"/>
              <a:buChar char="•"/>
            </a:pPr>
            <a:r>
              <a:rPr lang="en-US" sz="1400" dirty="0">
                <a:solidFill>
                  <a:srgbClr val="D6E5EF"/>
                </a:solidFill>
                <a:latin typeface="Roboto" pitchFamily="34" charset="0"/>
                <a:ea typeface="Roboto" pitchFamily="34" charset="-122"/>
                <a:cs typeface="Roboto" pitchFamily="34" charset="-120"/>
              </a:rPr>
              <a:t>Solution_92: 28 von 60 Siege = 46,7 %</a:t>
            </a:r>
            <a:endParaRPr lang="en-US" sz="1400" dirty="0"/>
          </a:p>
        </p:txBody>
      </p:sp>
      <p:sp>
        <p:nvSpPr>
          <p:cNvPr id="4" name="Text 2"/>
          <p:cNvSpPr/>
          <p:nvPr/>
        </p:nvSpPr>
        <p:spPr>
          <a:xfrm>
            <a:off x="609585" y="3425924"/>
            <a:ext cx="4724282" cy="1154112"/>
          </a:xfrm>
          <a:prstGeom prst="rect">
            <a:avLst/>
          </a:prstGeom>
          <a:noFill/>
          <a:ln/>
        </p:spPr>
        <p:txBody>
          <a:bodyPr wrap="square" lIns="0" tIns="0" rIns="0" bIns="0" rtlCol="0" anchor="t">
            <a:normAutofit/>
          </a:bodyPr>
          <a:lstStyle/>
          <a:p>
            <a:pPr algn="l" indent="0" marL="0">
              <a:lnSpc>
                <a:spcPct val="117000"/>
              </a:lnSpc>
              <a:spcAft>
                <a:spcPts val="1200"/>
              </a:spcAft>
              <a:buNone/>
            </a:pPr>
            <a:r>
              <a:rPr lang="en-US" sz="1400" dirty="0">
                <a:solidFill>
                  <a:srgbClr val="D6E5EF"/>
                </a:solidFill>
                <a:latin typeface="Roboto" pitchFamily="34" charset="0"/>
                <a:ea typeface="Roboto" pitchFamily="34" charset="-122"/>
                <a:cs typeface="Roboto" pitchFamily="34" charset="-120"/>
              </a:rPr>
              <a:t>Je Gegner: 30 Karten × beide Spielseiten; kein Lernen während der Auswertung.</a:t>
            </a:r>
            <a:endParaRPr lang="en-US" sz="1400" dirty="0"/>
          </a:p>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Bereits mehrfach genutzter Benchmark. Die 100 % gelten für diese Stichprobe.</a:t>
            </a:r>
            <a:endParaRPr lang="en-US" sz="1400" dirty="0"/>
          </a:p>
        </p:txBody>
      </p:sp>
      <p:pic>
        <p:nvPicPr>
          <p:cNvPr id="5" name="Image 0" descr="preencoded.png">    </p:cNvPr>
          <p:cNvPicPr>
            <a:picLocks noChangeAspect="1"/>
          </p:cNvPicPr>
          <p:nvPr/>
        </p:nvPicPr>
        <p:blipFill>
          <a:blip r:embed="rId1"/>
          <a:stretch>
            <a:fillRect/>
          </a:stretch>
        </p:blipFill>
        <p:spPr>
          <a:xfrm>
            <a:off x="6857828" y="1066800"/>
            <a:ext cx="4724282" cy="4724400"/>
          </a:xfrm>
          <a:prstGeom prst="rect">
            <a:avLst/>
          </a:prstGeom>
        </p:spPr>
      </p:pic>
      <p:sp>
        <p:nvSpPr>
          <p:cNvPr id="6" name="Text 3"/>
          <p:cNvSpPr/>
          <p:nvPr/>
        </p:nvSpPr>
        <p:spPr>
          <a:xfrm>
            <a:off x="11512163" y="6466086"/>
            <a:ext cx="679532"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527741"/>
            <a:ext cx="10972526" cy="650180"/>
          </a:xfrm>
          <a:prstGeom prst="rect">
            <a:avLst/>
          </a:prstGeom>
          <a:noFill/>
          <a:ln/>
        </p:spPr>
        <p:txBody>
          <a:bodyPr wrap="none" lIns="0" tIns="101598" rIns="0" bIns="101598" rtlCol="0" anchor="t"/>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Ein Spiel: erst verteilen, dann Punktefelder besetzen</a:t>
            </a:r>
            <a:endParaRPr lang="en-US" sz="3200" dirty="0"/>
          </a:p>
        </p:txBody>
      </p:sp>
      <p:sp>
        <p:nvSpPr>
          <p:cNvPr id="3" name="Text 1"/>
          <p:cNvSpPr/>
          <p:nvPr/>
        </p:nvSpPr>
        <p:spPr>
          <a:xfrm>
            <a:off x="609585" y="1234380"/>
            <a:ext cx="11582110" cy="195560"/>
          </a:xfrm>
          <a:prstGeom prst="rect">
            <a:avLst/>
          </a:prstGeom>
          <a:noFill/>
          <a:ln/>
        </p:spPr>
        <p:txBody>
          <a:bodyPr wrap="none" lIns="0" tIns="0" rIns="0" bIns="0" rtlCol="0" anchor="t"/>
          <a:lstStyle/>
          <a:p>
            <a:pPr algn="l" indent="0" marL="0">
              <a:lnSpc>
                <a:spcPct val="117000"/>
              </a:lnSpc>
              <a:buNone/>
            </a:pPr>
            <a:r>
              <a:rPr lang="en-US" sz="1100" dirty="0">
                <a:solidFill>
                  <a:srgbClr val="D6E5EF"/>
                </a:solidFill>
                <a:latin typeface="Roboto" pitchFamily="34" charset="0"/>
                <a:ea typeface="Roboto" pitchFamily="34" charset="-122"/>
                <a:cs typeface="Roboto" pitchFamily="34" charset="-120"/>
              </a:rPr>
              <a:t>Seed 900011 · Match 1 · Vollständige Replay-Ansicht</a:t>
            </a:r>
            <a:endParaRPr lang="en-US" sz="1100" dirty="0"/>
          </a:p>
        </p:txBody>
      </p:sp>
      <p:sp>
        <p:nvSpPr>
          <p:cNvPr id="4" name="Shape 2"/>
          <p:cNvSpPr/>
          <p:nvPr/>
        </p:nvSpPr>
        <p:spPr>
          <a:xfrm>
            <a:off x="609585" y="1588691"/>
            <a:ext cx="5333867" cy="4185841"/>
          </a:xfrm>
          <a:prstGeom prst="roundRect">
            <a:avLst>
              <a:gd name="adj" fmla="val 637"/>
            </a:avLst>
          </a:prstGeom>
          <a:solidFill>
            <a:srgbClr val="3F4652"/>
          </a:solidFill>
          <a:ln/>
        </p:spPr>
      </p:sp>
      <p:sp>
        <p:nvSpPr>
          <p:cNvPr id="5" name="Text 3"/>
          <p:cNvSpPr/>
          <p:nvPr/>
        </p:nvSpPr>
        <p:spPr>
          <a:xfrm>
            <a:off x="838179" y="1817291"/>
            <a:ext cx="5105272"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Schritt 23 · 0 : 0</a:t>
            </a:r>
            <a:endParaRPr lang="en-US" sz="1400" dirty="0"/>
          </a:p>
        </p:txBody>
      </p:sp>
      <p:pic>
        <p:nvPicPr>
          <p:cNvPr id="6" name="Image 0" descr="preencoded.png">    </p:cNvPr>
          <p:cNvPicPr>
            <a:picLocks noChangeAspect="1"/>
          </p:cNvPicPr>
          <p:nvPr/>
        </p:nvPicPr>
        <p:blipFill>
          <a:blip r:embed="rId1"/>
          <a:stretch>
            <a:fillRect/>
          </a:stretch>
        </p:blipFill>
        <p:spPr>
          <a:xfrm>
            <a:off x="838179" y="2243931"/>
            <a:ext cx="3301917" cy="3302000"/>
          </a:xfrm>
          <a:prstGeom prst="rect">
            <a:avLst/>
          </a:prstGeom>
        </p:spPr>
      </p:pic>
      <p:sp>
        <p:nvSpPr>
          <p:cNvPr id="7" name="Shape 4"/>
          <p:cNvSpPr/>
          <p:nvPr/>
        </p:nvSpPr>
        <p:spPr>
          <a:xfrm>
            <a:off x="6248244" y="1588691"/>
            <a:ext cx="5333867" cy="4185841"/>
          </a:xfrm>
          <a:prstGeom prst="roundRect">
            <a:avLst>
              <a:gd name="adj" fmla="val 637"/>
            </a:avLst>
          </a:prstGeom>
          <a:solidFill>
            <a:srgbClr val="3F4652"/>
          </a:solidFill>
          <a:ln/>
        </p:spPr>
      </p:sp>
      <p:sp>
        <p:nvSpPr>
          <p:cNvPr id="8" name="Text 5"/>
          <p:cNvSpPr/>
          <p:nvPr/>
        </p:nvSpPr>
        <p:spPr>
          <a:xfrm>
            <a:off x="6476838" y="1817291"/>
            <a:ext cx="5105272" cy="248841"/>
          </a:xfrm>
          <a:prstGeom prst="rect">
            <a:avLst/>
          </a:prstGeom>
          <a:noFill/>
          <a:ln/>
        </p:spPr>
        <p:txBody>
          <a:bodyPr wrap="none" lIns="0" tIns="0" rIns="0" bIns="0" rtlCol="0" anchor="t"/>
          <a:lstStyle/>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Schritt 90 · 374 : 11</a:t>
            </a:r>
            <a:endParaRPr lang="en-US" sz="1400" dirty="0"/>
          </a:p>
        </p:txBody>
      </p:sp>
      <p:pic>
        <p:nvPicPr>
          <p:cNvPr id="9" name="Image 1" descr="preencoded.png">    </p:cNvPr>
          <p:cNvPicPr>
            <a:picLocks noChangeAspect="1"/>
          </p:cNvPicPr>
          <p:nvPr/>
        </p:nvPicPr>
        <p:blipFill>
          <a:blip r:embed="rId2"/>
          <a:stretch>
            <a:fillRect/>
          </a:stretch>
        </p:blipFill>
        <p:spPr>
          <a:xfrm>
            <a:off x="6476838" y="2243931"/>
            <a:ext cx="3301917" cy="3302000"/>
          </a:xfrm>
          <a:prstGeom prst="rect">
            <a:avLst/>
          </a:prstGeom>
        </p:spPr>
      </p:pic>
      <p:sp>
        <p:nvSpPr>
          <p:cNvPr id="10" name="Text 6"/>
          <p:cNvSpPr/>
          <p:nvPr/>
        </p:nvSpPr>
        <p:spPr>
          <a:xfrm>
            <a:off x="609585" y="5933281"/>
            <a:ext cx="5333867" cy="542131"/>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D6E5EF"/>
                </a:solidFill>
                <a:latin typeface="Roboto" pitchFamily="34" charset="0"/>
                <a:ea typeface="Roboto" pitchFamily="34" charset="-122"/>
                <a:cs typeface="Roboto" pitchFamily="34" charset="-120"/>
              </a:rPr>
              <a:t>Sherlock: blau</a:t>
            </a:r>
            <a:endParaRPr lang="en-US" sz="1400" dirty="0"/>
          </a:p>
          <a:p>
            <a:pPr algn="l" marL="284480" indent="-284480">
              <a:lnSpc>
                <a:spcPct val="117000"/>
              </a:lnSpc>
              <a:buSzPct val="100000"/>
              <a:buChar char="•"/>
            </a:pPr>
            <a:r>
              <a:rPr lang="en-US" sz="1400" dirty="0">
                <a:solidFill>
                  <a:srgbClr val="D6E5EF"/>
                </a:solidFill>
                <a:latin typeface="Roboto" pitchFamily="34" charset="0"/>
                <a:ea typeface="Roboto" pitchFamily="34" charset="-122"/>
                <a:cs typeface="Roboto" pitchFamily="34" charset="-120"/>
              </a:rPr>
              <a:t>Gegner: rot</a:t>
            </a:r>
            <a:endParaRPr lang="en-US" sz="1400" dirty="0"/>
          </a:p>
        </p:txBody>
      </p:sp>
      <p:sp>
        <p:nvSpPr>
          <p:cNvPr id="11" name="Text 7"/>
          <p:cNvSpPr/>
          <p:nvPr/>
        </p:nvSpPr>
        <p:spPr>
          <a:xfrm>
            <a:off x="6248244" y="5933281"/>
            <a:ext cx="5333867" cy="542131"/>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D6E5EF"/>
                </a:solidFill>
                <a:latin typeface="Roboto" pitchFamily="34" charset="0"/>
                <a:ea typeface="Roboto" pitchFamily="34" charset="-122"/>
                <a:cs typeface="Roboto" pitchFamily="34" charset="-120"/>
              </a:rPr>
              <a:t>Blaue Einheiten besetzen Punktefelder.</a:t>
            </a:r>
            <a:endParaRPr lang="en-US" sz="1400" dirty="0"/>
          </a:p>
          <a:p>
            <a:pPr algn="l" marL="284480" indent="-284480">
              <a:lnSpc>
                <a:spcPct val="117000"/>
              </a:lnSpc>
              <a:buSzPct val="100000"/>
              <a:buChar char="•"/>
            </a:pPr>
            <a:r>
              <a:rPr lang="en-US" sz="1400" dirty="0">
                <a:solidFill>
                  <a:srgbClr val="D6E5EF"/>
                </a:solidFill>
                <a:latin typeface="Roboto" pitchFamily="34" charset="0"/>
                <a:ea typeface="Roboto" pitchFamily="34" charset="-122"/>
                <a:cs typeface="Roboto" pitchFamily="34" charset="-120"/>
              </a:rPr>
              <a:t>Stehenbleiben kann eine gute Aktion sein.</a:t>
            </a:r>
            <a:endParaRPr lang="en-US" sz="1400" dirty="0"/>
          </a:p>
        </p:txBody>
      </p:sp>
      <p:sp>
        <p:nvSpPr>
          <p:cNvPr id="12" name="Text 8"/>
          <p:cNvSpPr/>
          <p:nvPr/>
        </p:nvSpPr>
        <p:spPr>
          <a:xfrm>
            <a:off x="11512163" y="6466086"/>
            <a:ext cx="679532"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2002033"/>
            <a:ext cx="10972526" cy="650180"/>
          </a:xfrm>
          <a:prstGeom prst="rect">
            <a:avLst/>
          </a:prstGeom>
          <a:noFill/>
          <a:ln/>
        </p:spPr>
        <p:txBody>
          <a:bodyPr wrap="none" lIns="0" tIns="101598" rIns="0" bIns="101598" rtlCol="0" anchor="t"/>
          <a:lstStyle/>
          <a:p>
            <a:pPr algn="l" indent="0" marL="0">
              <a:lnSpc>
                <a:spcPct val="92000"/>
              </a:lnSpc>
              <a:buNone/>
            </a:pPr>
            <a:r>
              <a:rPr lang="en-US" sz="3200" dirty="0">
                <a:solidFill>
                  <a:srgbClr val="76B9FF"/>
                </a:solidFill>
                <a:latin typeface="Inter" pitchFamily="34" charset="0"/>
                <a:ea typeface="Inter" pitchFamily="34" charset="-122"/>
                <a:cs typeface="Inter" pitchFamily="34" charset="-120"/>
              </a:rPr>
              <a:t>Erkenntnisse und nächste Schritte</a:t>
            </a:r>
            <a:endParaRPr lang="en-US" sz="3200" dirty="0"/>
          </a:p>
        </p:txBody>
      </p:sp>
      <p:sp>
        <p:nvSpPr>
          <p:cNvPr id="3" name="Shape 1"/>
          <p:cNvSpPr/>
          <p:nvPr/>
        </p:nvSpPr>
        <p:spPr>
          <a:xfrm>
            <a:off x="609585" y="2708672"/>
            <a:ext cx="5333867" cy="1557338"/>
          </a:xfrm>
          <a:prstGeom prst="roundRect">
            <a:avLst>
              <a:gd name="adj" fmla="val 1712"/>
            </a:avLst>
          </a:prstGeom>
          <a:solidFill>
            <a:srgbClr val="3F4652"/>
          </a:solidFill>
          <a:ln/>
        </p:spPr>
      </p:sp>
      <p:sp>
        <p:nvSpPr>
          <p:cNvPr id="4" name="Text 2"/>
          <p:cNvSpPr/>
          <p:nvPr/>
        </p:nvSpPr>
        <p:spPr>
          <a:xfrm>
            <a:off x="838179" y="2937272"/>
            <a:ext cx="4876678" cy="1100138"/>
          </a:xfrm>
          <a:prstGeom prst="rect">
            <a:avLst/>
          </a:prstGeom>
          <a:noFill/>
          <a:ln/>
        </p:spPr>
        <p:txBody>
          <a:bodyPr wrap="square" lIns="0" tIns="0" rIns="0" bIns="0" rtlCol="0" anchor="t">
            <a:normAutofit/>
          </a:bodyPr>
          <a:lstStyle/>
          <a:p>
            <a:pPr algn="l" indent="0" marL="0">
              <a:lnSpc>
                <a:spcPct val="117000"/>
              </a:lnSpc>
              <a:spcAft>
                <a:spcPts val="800"/>
              </a:spcAft>
              <a:buNone/>
            </a:pPr>
            <a:r>
              <a:rPr lang="en-US" sz="1400" dirty="0">
                <a:solidFill>
                  <a:srgbClr val="D6E5EF"/>
                </a:solidFill>
                <a:latin typeface="Roboto" pitchFamily="34" charset="0"/>
                <a:ea typeface="Roboto" pitchFamily="34" charset="-122"/>
                <a:cs typeface="Roboto" pitchFamily="34" charset="-120"/>
              </a:rPr>
              <a:t>Beobachtung: Weitertraining und Self-Play brachten in den getesteten Varianten keinen klaren Zusatzgewinn.</a:t>
            </a:r>
            <a:endParaRPr lang="en-US" sz="1400" dirty="0"/>
          </a:p>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Hypothese: Frühere Erkundung und Inferenz könnten Match 1 verbessern.</a:t>
            </a:r>
            <a:endParaRPr lang="en-US" sz="1400" dirty="0"/>
          </a:p>
        </p:txBody>
      </p:sp>
      <p:sp>
        <p:nvSpPr>
          <p:cNvPr id="5" name="Shape 3"/>
          <p:cNvSpPr/>
          <p:nvPr/>
        </p:nvSpPr>
        <p:spPr>
          <a:xfrm>
            <a:off x="6248244" y="2708672"/>
            <a:ext cx="5333867" cy="1557338"/>
          </a:xfrm>
          <a:prstGeom prst="roundRect">
            <a:avLst>
              <a:gd name="adj" fmla="val 1712"/>
            </a:avLst>
          </a:prstGeom>
          <a:solidFill>
            <a:srgbClr val="3F4652"/>
          </a:solidFill>
          <a:ln/>
        </p:spPr>
      </p:sp>
      <p:sp>
        <p:nvSpPr>
          <p:cNvPr id="6" name="Text 4"/>
          <p:cNvSpPr/>
          <p:nvPr/>
        </p:nvSpPr>
        <p:spPr>
          <a:xfrm>
            <a:off x="6476838" y="2937272"/>
            <a:ext cx="4876678" cy="1100138"/>
          </a:xfrm>
          <a:prstGeom prst="rect">
            <a:avLst/>
          </a:prstGeom>
          <a:noFill/>
          <a:ln/>
        </p:spPr>
        <p:txBody>
          <a:bodyPr wrap="square" lIns="0" tIns="0" rIns="0" bIns="0" rtlCol="0" anchor="t">
            <a:normAutofit/>
          </a:bodyPr>
          <a:lstStyle/>
          <a:p>
            <a:pPr algn="l" indent="0" marL="0">
              <a:lnSpc>
                <a:spcPct val="117000"/>
              </a:lnSpc>
              <a:spcAft>
                <a:spcPts val="800"/>
              </a:spcAft>
              <a:buNone/>
            </a:pPr>
            <a:r>
              <a:rPr lang="en-US" sz="1400" dirty="0">
                <a:solidFill>
                  <a:srgbClr val="D6E5EF"/>
                </a:solidFill>
                <a:latin typeface="Roboto" pitchFamily="34" charset="0"/>
                <a:ea typeface="Roboto" pitchFamily="34" charset="-122"/>
                <a:cs typeface="Roboto" pitchFamily="34" charset="-120"/>
              </a:rPr>
              <a:t>Nächste Schritte: Training absichern; m1_early prüfen; neue Testkarten zurückhalten.</a:t>
            </a:r>
            <a:endParaRPr lang="en-US" sz="1400" dirty="0"/>
          </a:p>
          <a:p>
            <a:pPr algn="l" indent="0" marL="0">
              <a:lnSpc>
                <a:spcPct val="117000"/>
              </a:lnSpc>
              <a:buNone/>
            </a:pPr>
            <a:r>
              <a:rPr lang="en-US" sz="1400" dirty="0">
                <a:solidFill>
                  <a:srgbClr val="D6E5EF"/>
                </a:solidFill>
                <a:latin typeface="Roboto" pitchFamily="34" charset="0"/>
                <a:ea typeface="Roboto" pitchFamily="34" charset="-122"/>
                <a:cs typeface="Roboto" pitchFamily="34" charset="-120"/>
              </a:rPr>
              <a:t>Fazit: Sherlock verbindet Gedächtnis und gelernte Aktionsbewertung.</a:t>
            </a:r>
            <a:endParaRPr lang="en-US" sz="1400" dirty="0"/>
          </a:p>
        </p:txBody>
      </p:sp>
      <p:sp>
        <p:nvSpPr>
          <p:cNvPr id="7" name="Text 5"/>
          <p:cNvSpPr/>
          <p:nvPr/>
        </p:nvSpPr>
        <p:spPr>
          <a:xfrm>
            <a:off x="609585" y="4443810"/>
            <a:ext cx="10972526" cy="406400"/>
          </a:xfrm>
          <a:prstGeom prst="rect">
            <a:avLst/>
          </a:prstGeom>
          <a:noFill/>
          <a:ln/>
        </p:spPr>
        <p:txBody>
          <a:bodyPr wrap="none" lIns="0" tIns="63498" rIns="0" bIns="63498" rtlCol="0" anchor="t"/>
          <a:lstStyle/>
          <a:p>
            <a:pPr algn="l" indent="0" marL="0">
              <a:lnSpc>
                <a:spcPct val="92000"/>
              </a:lnSpc>
              <a:buNone/>
            </a:pPr>
            <a:r>
              <a:rPr lang="en-US" sz="2000" dirty="0">
                <a:solidFill>
                  <a:srgbClr val="76B9FF"/>
                </a:solidFill>
                <a:latin typeface="Inter" pitchFamily="34" charset="0"/>
                <a:ea typeface="Inter" pitchFamily="34" charset="-122"/>
                <a:cs typeface="Inter" pitchFamily="34" charset="-120"/>
              </a:rPr>
              <a:t>Fragen?</a:t>
            </a:r>
            <a:endParaRPr lang="en-US" sz="2000" dirty="0"/>
          </a:p>
        </p:txBody>
      </p:sp>
      <p:sp>
        <p:nvSpPr>
          <p:cNvPr id="8" name="Text 6"/>
          <p:cNvSpPr/>
          <p:nvPr/>
        </p:nvSpPr>
        <p:spPr>
          <a:xfrm>
            <a:off x="11442215" y="6466086"/>
            <a:ext cx="749480" cy="174129"/>
          </a:xfrm>
          <a:prstGeom prst="rect">
            <a:avLst/>
          </a:prstGeom>
          <a:noFill/>
          <a:ln/>
        </p:spPr>
        <p:txBody>
          <a:bodyPr wrap="none" lIns="0" tIns="0" rIns="0" bIns="0" rtlCol="0" anchor="ctr"/>
          <a:lstStyle/>
          <a:p>
            <a:pPr algn="l" indent="0" marL="0">
              <a:lnSpc>
                <a:spcPct val="117000"/>
              </a:lnSpc>
              <a:buNone/>
            </a:pPr>
            <a:r>
              <a:rPr lang="en-US" sz="1000" dirty="0">
                <a:solidFill>
                  <a:srgbClr val="D6E5EF"/>
                </a:solidFill>
                <a:latin typeface="Roboto" pitchFamily="34" charset="0"/>
                <a:ea typeface="Roboto" pitchFamily="34" charset="-122"/>
                <a:cs typeface="Roboto"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2026-10-14T14:27:01Z</dcterms:created>
  <dcterms:modified xsi:type="dcterms:W3CDTF">2026-10-14T14:27:01Z</dcterms:modified>
</cp:coreProperties>
</file>